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длины, %</c:v>
                </c:pt>
              </c:strCache>
            </c:strRef>
          </c:tx>
          <c:spPr>
            <a:solidFill>
              <a:srgbClr val="B3261E"/>
            </a:solidFill>
          </c:spPr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15</c:v>
                </c:pt>
                <c:pt idx="2">
                  <c:v>30</c:v>
                </c:pt>
                <c:pt idx="3">
                  <c:v>45</c:v>
                </c:pt>
                <c:pt idx="4">
                  <c:v>60</c:v>
                </c:pt>
                <c:pt idx="5">
                  <c:v>75</c:v>
                </c:pt>
                <c:pt idx="6">
                  <c:v>90</c:v>
                </c:pt>
                <c:pt idx="7">
                  <c:v>105</c:v>
                </c:pt>
                <c:pt idx="8">
                  <c:v>120</c:v>
                </c:pt>
                <c:pt idx="9">
                  <c:v>135</c:v>
                </c:pt>
                <c:pt idx="10">
                  <c:v>150</c:v>
                </c:pt>
                <c:pt idx="11">
                  <c:v>165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9</c:v>
                </c:pt>
                <c:pt idx="2">
                  <c:v>11</c:v>
                </c:pt>
                <c:pt idx="3">
                  <c:v>17</c:v>
                </c:pt>
                <c:pt idx="4">
                  <c:v>14</c:v>
                </c:pt>
                <c:pt idx="5">
                  <c:v>20</c:v>
                </c:pt>
                <c:pt idx="6">
                  <c:v>13</c:v>
                </c:pt>
                <c:pt idx="7">
                  <c:v>8</c:v>
                </c:pt>
                <c:pt idx="8">
                  <c:v>3</c:v>
                </c:pt>
                <c:pt idx="9">
                  <c:v>1</c:v>
                </c:pt>
                <c:pt idx="10">
                  <c:v>2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4A556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8D3"/>
            </a:solidFill>
          </a:ln>
        </c:spPr>
        <c:txPr>
          <a:bodyPr/>
          <a:lstStyle/>
          <a:p>
            <a:pPr>
              <a:defRPr sz="1100">
                <a:solidFill>
                  <a:srgbClr val="4A556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4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C9AA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Продолжение работы по линеаментам без обучения. Главное, что добавилось: подтверждение двумя независимыми съёмками, исправление ошибки в ядре трассировки и первая проверка набора человеком.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Доверие строится не на внешней карте, а на воспроизводимости между независимыми съёмками одной поверхности.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Деление по плиткам — результат двух неудачных попыток, а не первая догадка: покрытие 22.8 %, 11.4 % и 100 %.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шагов, и каждый порог в них измерен. Следующий слайд показывает, откуда взято каждое число.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методический принцип: числа выводятся из измерений либо из арифметики порога, а не подбираются под желаемый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Смысл накопительного счётчика: если перебирать конфигурации и каждый раз мерить против одного порога, рано или поздно что-нибудь пройдёт случайно.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Сказать заказчику прямо: часть прежних отрицательных результатов ветки получена прибором с двумя закрытыми направлениями и может быть пересмотрена.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Разделение «смещение прибора» и «цензура освещением» — то, ради чего ставился замер. Первое устранимо кодом, второе физическое.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Ни одна из этих четырёх проверок раньше в ветке не делалась. Техногенные прямые для Сибири — главная ловушка.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Обязательный шаг: ни подделка, ни сдвиговый нуль, ни устойчивость не видят ни слипания соседей, ни шва съёмки.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Система проверок остановила изменения, которые внешне давали красивый рост набора втрое.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Разделение на «проверенный результат» и «рабочую карту» принципиально: второе показывать можно, но называть проверенным нельзя.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Скученность у воды сперва выглядела как дефект. Замер показал обратное: у воды сидят самые длинные и прямые линии, а русла под ними вчетверо прямее фоновых.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Замечание про полосчатость пришло от рецензента и принято полностью. Проверка намечена: шаг между соседками одного простирания, гладкость поля простираний, сверка с контактами.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Завершить на том, что метод строится под работу без разметки — это его смысл и в этой задаче, и в переносе на другие площадки.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6A9A4"/>
                </a:solidFill>
                <a:latin typeface="Calibri"/>
              </a:rPr>
              <a:t>ФГБУ «ВНИГНИ» · ОТДЕЛЕНИЕ ГЕОИНФОРМАТИКИ (ГИС ИНТЕГРО)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241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600" b="0">
                <a:solidFill>
                  <a:srgbClr val="FFFFFF"/>
                </a:solidFill>
                <a:latin typeface="Cambria"/>
              </a:rPr>
              <a:t>Линеаменты
по зимнему космоснимку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9509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BFC9D4"/>
                </a:solidFill>
                <a:latin typeface="Calibri"/>
              </a:rPr>
              <a:t>Выделение без эталона и без обучения с учителем. Подтверждение двумя независимыми съёмками, все пороги объявлены до прогонов.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92040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179 линий · 326 км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4892040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26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четыре условия пройдены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89204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26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 = 0.0002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C9AA8"/>
                </a:solidFill>
                <a:latin typeface="Calibri"/>
              </a:rPr>
              <a:t>Лист R-48-XI,XII, Анабарский щит · прогоны 22–23.09.2026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>
                <a:solidFill>
                  <a:srgbClr val="1B2430"/>
                </a:solidFill>
                <a:latin typeface="Cambria"/>
              </a:rPr>
              <a:t>Чем подтверждать линию, если эталона нет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04672" y="2039112"/>
            <a:ext cx="3008376" cy="2002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B3261E"/>
                </a:solidFill>
                <a:latin typeface="Calibri"/>
              </a:rPr>
              <a:t>ОГРАНИЧЕНИЕ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Размеченных линеаментов нет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Эталон появится нескоро, и даже тогда он будет средством сверки, а не обучения.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8308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99432" y="2039112"/>
            <a:ext cx="3008376" cy="2002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B3261E"/>
                </a:solidFill>
                <a:latin typeface="Calibri"/>
              </a:rPr>
              <a:t>ОТВЕРГНУТЫЙ ПУТЬ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Подтверждение радаром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Зависит от направления: 0 % вдоль подсветки, 25 % наискосок, 47 % поперёк. Отсекает целые системы.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78308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94192" y="2039112"/>
            <a:ext cx="3008376" cy="2002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>
                <a:solidFill>
                  <a:srgbClr val="E6A9A4"/>
                </a:solidFill>
                <a:latin typeface="Calibri"/>
              </a:rPr>
              <a:t>ПРИНЯТОЕ РЕШЕНИЕ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Две независимые съёмки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BFC9D4"/>
                </a:solidFill>
                <a:latin typeface="Calibri"/>
              </a:rPr>
              <a:t>Композит делится пополам внутри каждой плитки. Линия принимается, если найдена на обеих половинах.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Физика у половин одна, а съёмки разные — годы, снег, дымка. Такое подтверждение работает одинаково для всех направлений и не требует ни разметки, ни другого материала.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>
                <a:solidFill>
                  <a:srgbClr val="1B2430"/>
                </a:solidFill>
                <a:latin typeface="Cambria"/>
              </a:rPr>
              <a:t>Данные: зимний композит при низком солнце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5760720" cy="27066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68880"/>
                <a:gridCol w="32918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 marL="128016" marR="128016" marT="54864" marB="54864" anchor="ctr">
                    <a:solidFill>
                      <a:srgbClr val="1B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 marL="128016" marR="128016" marT="54864" marB="54864" anchor="ctr">
                    <a:solidFill>
                      <a:srgbClr val="1B243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Съёмка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Sentinel-2, канал B04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Сцен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12 — по 3 на каждую из 4 плиток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Высота солнца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7.7–9.6°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Азимут солнца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178–188°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Шаг сетки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20 м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Лист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77 × 86 км, покрытие 100 %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75120" y="1783080"/>
            <a:ext cx="496519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31152" y="2039112"/>
            <a:ext cx="4453127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1">
                <a:solidFill>
                  <a:srgbClr val="1B2430"/>
                </a:solidFill>
                <a:latin typeface="Calibri"/>
              </a:rPr>
              <a:t>Почему зима и низкое солнце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При высоте 8–10° уступ в первые метры даёт тень в десятки метров — как раз масштаб отклика детектора. Летнее солнце 30–42° такой тени не даёт.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657600"/>
            <a:ext cx="496519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931152" y="3913632"/>
            <a:ext cx="4453127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1">
                <a:solidFill>
                  <a:srgbClr val="1B2430"/>
                </a:solidFill>
                <a:latin typeface="Calibri"/>
              </a:rPr>
              <a:t>Как делятся половины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Сцены раздаются через одну внутри каждой плитки. Деление по сезону давало 22.8 % общих ячеек, по датам — 11.4 %, по плиткам — 100 %.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9107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A7179"/>
                </a:solidFill>
                <a:latin typeface="Calibri"/>
              </a:rPr>
              <a:t>Собственная яркость поверхности снимается гауссовым детрендом на 2 км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>
                <a:solidFill>
                  <a:srgbClr val="1B2430"/>
                </a:solidFill>
                <a:latin typeface="Cambria"/>
              </a:rPr>
              <a:t>Тракт: пять шагов от снимка до набора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07568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636776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B3261E"/>
                </a:solidFill>
                <a:latin typeface="Calibri"/>
              </a:rPr>
              <a:t>1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2430"/>
                </a:solidFill>
                <a:latin typeface="Calibri"/>
              </a:rPr>
              <a:t>Трассировка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Отклик гребня, подавление немаксимумов, гистерезис по окрестности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98064" y="1828800"/>
            <a:ext cx="207568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017520" y="2048256"/>
            <a:ext cx="1636776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B3261E"/>
                </a:solidFill>
                <a:latin typeface="Calibri"/>
              </a:rPr>
              <a:t>2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2430"/>
                </a:solidFill>
                <a:latin typeface="Calibri"/>
              </a:rPr>
              <a:t>Продолжение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Линия ведётся своим же направлением, пока держится отклик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7488" y="1828800"/>
            <a:ext cx="207568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266944" y="2048256"/>
            <a:ext cx="1636776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B3261E"/>
                </a:solidFill>
                <a:latin typeface="Calibri"/>
              </a:rPr>
              <a:t>3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2430"/>
                </a:solidFill>
                <a:latin typeface="Calibri"/>
              </a:rPr>
              <a:t>Сшивка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Обрывки соединяются, если идут друг за другом и мостик опирается на отклик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6912" y="1828800"/>
            <a:ext cx="207568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16367" y="2048256"/>
            <a:ext cx="1636776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B3261E"/>
                </a:solidFill>
                <a:latin typeface="Calibri"/>
              </a:rPr>
              <a:t>4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2430"/>
                </a:solidFill>
                <a:latin typeface="Calibri"/>
              </a:rPr>
              <a:t>Отсев швов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Линии вдоль стыка снимков убираются; пересекающие остаются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46336" y="1828800"/>
            <a:ext cx="2075688" cy="265176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765792" y="2048256"/>
            <a:ext cx="1636776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E6A9A4"/>
                </a:solidFill>
                <a:latin typeface="Calibri"/>
              </a:rPr>
              <a:t>5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Подтверждение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BFC9D4"/>
                </a:solidFill>
                <a:latin typeface="Calibri"/>
              </a:rPr>
              <a:t>Не меньше 30 % длины совпадает с линиями каждой половины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Зона согласия приборов переведена из фильтра в признак: она указывает, где приборы сходятся о направлении, но отбор ведёт подтверждение.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3261E"/>
                </a:solidFill>
                <a:latin typeface="Calibri"/>
              </a:rPr>
              <a:t>НИ ОДНО ЧИСЛО НЕ ВЫБРАНО НА ГЛАЗ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0">
                <a:solidFill>
                  <a:srgbClr val="1B2430"/>
                </a:solidFill>
                <a:latin typeface="Cambria"/>
              </a:rPr>
              <a:t>Каждое правило — из своего замера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91672" cy="34747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/>
                <a:gridCol w="2377440"/>
                <a:gridCol w="5971032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Правило</a:t>
                      </a:r>
                    </a:p>
                  </a:txBody>
                  <a:tcPr marL="128016" marR="128016" marT="54864" marB="54864" anchor="ctr">
                    <a:solidFill>
                      <a:srgbClr val="1B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 marL="128016" marR="128016" marT="54864" marB="54864" anchor="ctr">
                    <a:solidFill>
                      <a:srgbClr val="1B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Откуда взято</a:t>
                      </a:r>
                    </a:p>
                  </a:txBody>
                  <a:tcPr marL="128016" marR="128016" marT="54864" marB="54864" anchor="ctr">
                    <a:solidFill>
                      <a:srgbClr val="1B243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Продолжение концов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отрезок 200 м, предел 900 м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профиль отклика за концом 2646 линий: 1.24 на 100 м, 0.71 на 400 м, 0.41 на 900 м при фоне 0.37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Разрыв сшивки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1192 м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90-й процентиль разрыва соосных обрывков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Сдвиг вбок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600 м, в одну сторону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75-й процентиль бокового сдвига (585 м)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Перекрытие обрывков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не больше 60 м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52 % пар шли бок о бок, а не подряд; допуск равен принятому в ветке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Опора мостика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отклик выше 0.910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95-й процентиль нуля из тех же мостиков, перенесённых по тору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Замыкание зоны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887 м вдоль простирания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430"/>
                          </a:solidFill>
                          <a:latin typeface="Calibri"/>
                        </a:rPr>
                        <a:t>75-й процентиль того же замера разрывов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Правило, у которого нет замера, в тракт не попадает. Если источника нет — сначала ставится замер, и только потом правило.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>
                <a:solidFill>
                  <a:srgbClr val="1B2430"/>
                </a:solidFill>
                <a:latin typeface="Cambria"/>
              </a:rPr>
              <a:t>Четыре условия, объявленные до прогона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2432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86384" y="2020824"/>
            <a:ext cx="2148840" cy="1627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Мусор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Доля подтверждения у фазовой подделки к доле у снимка — не выше 20 %. Отсев разложен на три этапа.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2424" y="1783080"/>
            <a:ext cx="262432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30168" y="2020824"/>
            <a:ext cx="2148840" cy="1627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Сдвиговый нуль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Половины настоящие, линии едут по тору: рушатся только места. 4000 сдвигов, порог 0.05 / 48.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783080"/>
            <a:ext cx="262432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73952" y="2020824"/>
            <a:ext cx="2148840" cy="1627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Устойчивость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Взаимное покрытие набора при возмущении входа: не ниже 0.5 и не ниже двух нулей.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9992" y="1783080"/>
            <a:ext cx="262432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17736" y="2020824"/>
            <a:ext cx="2148840" cy="1627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Длина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Медиана длины подтверждённой линии — не меньше 1.5 км.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11091672" cy="132588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7" y="4544568"/>
            <a:ext cx="10506456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BFC9D4"/>
                </a:solidFill>
                <a:latin typeface="Calibri"/>
              </a:rPr>
              <a:t>Накопительный счётчик проверок — 48: он включает все конфигурации, когда-либо прогнанные против этого набора, а не только текущую. Число сдвигов выводится из порога: пол достижимого p должен быть вдвое ниже него.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6A9A4"/>
                </a:solidFill>
                <a:latin typeface="Calibri"/>
              </a:rPr>
              <a:t>ГЛАВНАЯ НАХОДКА ЦИКЛА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0">
                <a:solidFill>
                  <a:srgbClr val="FFFFFF"/>
                </a:solidFill>
                <a:latin typeface="Cambria"/>
              </a:rPr>
              <a:t>Ветка была слепа к двум направлениям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9436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BFC9D4"/>
                </a:solidFill>
                <a:latin typeface="Calibri"/>
              </a:rPr>
              <a:t>Замер передаточной функции показал: уступы с азимутами около 0–8° и 82–98° не находились ни при каком контрасте. Те же уступы, врезанные в изотропный фон без солнца и теней, терялись на тех же азимутах — значит дело не в освещении, а в растре.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BFC9D4"/>
                </a:solidFill>
                <a:latin typeface="Calibri"/>
              </a:rPr>
              <a:t>В подавлении немаксимумов собственный вектор гессиана собирался с переставленными компонентами: направление подавления оказывалось отражено относительно диагонали. У линий вдоль осей растра оно поворачивалось на 90°, и немаксимумы подавлялись вдоль гребня вместо поперёк.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BFC9D4"/>
                </a:solidFill>
                <a:latin typeface="Calibri"/>
              </a:rPr>
              <a:t>На чистой синтетике ошибка невидима: вдоль гребня отклик постоянен. Нужен шум, чтобы половина ячеек гребня выбрасывалась.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783080"/>
          <a:ext cx="4782312" cy="23225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39112"/>
                <a:gridCol w="1371600"/>
                <a:gridCol w="137160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Азимут врезки</a:t>
                      </a:r>
                    </a:p>
                  </a:txBody>
                  <a:tcPr marL="128016" marR="128016" marT="54864" marB="54864" anchor="ctr">
                    <a:solidFill>
                      <a:srgbClr val="B326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Было</a:t>
                      </a:r>
                    </a:p>
                  </a:txBody>
                  <a:tcPr marL="128016" marR="128016" marT="54864" marB="54864" anchor="ctr">
                    <a:solidFill>
                      <a:srgbClr val="B326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Стало</a:t>
                      </a:r>
                    </a:p>
                  </a:txBody>
                  <a:tcPr marL="128016" marR="128016" marT="54864" marB="54864" anchor="ctr">
                    <a:solidFill>
                      <a:srgbClr val="B3261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7°</a:t>
                      </a:r>
                    </a:p>
                  </a:txBody>
                  <a:tcPr marL="128016" marR="128016" marT="54864" marB="54864" anchor="ctr">
                    <a:solidFill>
                      <a:srgbClr val="2631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39 %</a:t>
                      </a:r>
                    </a:p>
                  </a:txBody>
                  <a:tcPr marL="128016" marR="128016" marT="54864" marB="54864" anchor="ctr">
                    <a:solidFill>
                      <a:srgbClr val="2631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96 %</a:t>
                      </a:r>
                    </a:p>
                  </a:txBody>
                  <a:tcPr marL="128016" marR="128016" marT="54864" marB="54864" anchor="ctr">
                    <a:solidFill>
                      <a:srgbClr val="26313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82°</a:t>
                      </a:r>
                    </a:p>
                  </a:txBody>
                  <a:tcPr marL="128016" marR="128016" marT="54864" marB="54864" anchor="ctr">
                    <a:solidFill>
                      <a:srgbClr val="2E3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48 %</a:t>
                      </a:r>
                    </a:p>
                  </a:txBody>
                  <a:tcPr marL="128016" marR="128016" marT="54864" marB="54864" anchor="ctr">
                    <a:solidFill>
                      <a:srgbClr val="2E3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128016" marR="128016" marT="54864" marB="54864" anchor="ctr">
                    <a:solidFill>
                      <a:srgbClr val="2E3B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97°</a:t>
                      </a:r>
                    </a:p>
                  </a:txBody>
                  <a:tcPr marL="128016" marR="128016" marT="54864" marB="54864" anchor="ctr">
                    <a:solidFill>
                      <a:srgbClr val="2631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43 %</a:t>
                      </a:r>
                    </a:p>
                  </a:txBody>
                  <a:tcPr marL="128016" marR="128016" marT="54864" marB="54864" anchor="ctr">
                    <a:solidFill>
                      <a:srgbClr val="2631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128016" marR="128016" marT="54864" marB="54864" anchor="ctr">
                    <a:solidFill>
                      <a:srgbClr val="26313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172°</a:t>
                      </a:r>
                    </a:p>
                  </a:txBody>
                  <a:tcPr marL="128016" marR="128016" marT="54864" marB="54864" anchor="ctr">
                    <a:solidFill>
                      <a:srgbClr val="2E3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47 %</a:t>
                      </a:r>
                    </a:p>
                  </a:txBody>
                  <a:tcPr marL="128016" marR="128016" marT="54864" marB="54864" anchor="ctr">
                    <a:solidFill>
                      <a:srgbClr val="2E3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128016" marR="128016" marT="54864" marB="54864" anchor="ctr">
                    <a:solidFill>
                      <a:srgbClr val="2E3B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52° (контроль)</a:t>
                      </a:r>
                    </a:p>
                  </a:txBody>
                  <a:tcPr marL="128016" marR="128016" marT="54864" marB="54864" anchor="ctr">
                    <a:solidFill>
                      <a:srgbClr val="2631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94 %</a:t>
                      </a:r>
                    </a:p>
                  </a:txBody>
                  <a:tcPr marL="128016" marR="128016" marT="54864" marB="54864" anchor="ctr">
                    <a:solidFill>
                      <a:srgbClr val="2631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Calibri"/>
                        </a:rPr>
                        <a:t>96 %</a:t>
                      </a:r>
                    </a:p>
                  </a:txBody>
                  <a:tcPr marL="128016" marR="128016" marT="54864" marB="54864" anchor="ctr">
                    <a:solidFill>
                      <a:srgbClr val="26313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4663440"/>
            <a:ext cx="47823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C9AA8"/>
                </a:solidFill>
                <a:latin typeface="Calibri"/>
              </a:rPr>
              <a:t>Покрытие следа врезки маской гребня на шумном фоне. Полный набор тестов после правки проходит: 435 passed, 9 skipped.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9107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C9AA8"/>
                </a:solidFill>
                <a:latin typeface="Calibri"/>
              </a:rPr>
              <a:t>Следствие: прежние розы простираний ветки цензурированы; карт зон согласия правка не касается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>
                <a:solidFill>
                  <a:srgbClr val="1B2430"/>
                </a:solidFill>
                <a:latin typeface="Cambria"/>
              </a:rPr>
              <a:t>Что детектор видит после правки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04672" y="2039112"/>
            <a:ext cx="3008376" cy="2231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Одинаковый контраст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Смещение самого детектора. При 16 σ — 100 % обнаружения на всех двенадцати азимутах, при 12 σ — 88–100 %.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1B2430"/>
                </a:solidFill>
                <a:latin typeface="Cambria"/>
              </a:rPr>
              <a:t>Осевых провалов нет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830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99432" y="2039112"/>
            <a:ext cx="3008376" cy="2231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1">
                <a:solidFill>
                  <a:srgbClr val="1B2430"/>
                </a:solidFill>
                <a:latin typeface="Calibri"/>
              </a:rPr>
              <a:t>Одинаковая высота уступа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Цензура освещением. На 8° — 0 % при 4 σ и 25 % при 16 σ; на 172° — 25–75 %; на остальных азимутах 100 % от 8–12 σ.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B3261E"/>
                </a:solidFill>
                <a:latin typeface="Cambria"/>
              </a:rPr>
              <a:t>Слепая полоса ±15° у меридиана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7830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94192" y="2039112"/>
            <a:ext cx="3008376" cy="2231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Нуль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BFC9D4"/>
                </a:solidFill>
                <a:latin typeface="Calibri"/>
              </a:rPr>
              <a:t>При амплитуде 0 поймано 1 обнаружение из 96. Без этой планки слово «поймано» ничего не значит.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 из 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Замер сделан врезкой синтетического уступа известного контраста в реальный композит — тем же инструментом, что «шаг 0» основной задачи. Розу простираний можно читать почти как есть, поправляя только примеридиональный сектор.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>
                <a:solidFill>
                  <a:srgbClr val="1B2430"/>
                </a:solidFill>
                <a:latin typeface="Cambria"/>
              </a:rPr>
              <a:t>Батарея проверок на ложные прямые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91672" cy="22311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57600"/>
                <a:gridCol w="7434072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Источник ложных прямых</a:t>
                      </a:r>
                    </a:p>
                  </a:txBody>
                  <a:tcPr marL="128016" marR="128016" marT="54864" marB="54864" anchor="ctr">
                    <a:solidFill>
                      <a:srgbClr val="1B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 marL="128016" marR="128016" marT="54864" marB="54864" anchor="ctr">
                    <a:solidFill>
                      <a:srgbClr val="1B24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Швы плиток снимка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линий у шва 0.80–0.92× от доли площади, p = 0.48–0.63 — избытка нет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Границы плиток ЦМР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0.87–0.91×, p = 0.54–0.55 — отпечатка нет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Техногенные прямые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ультрапрямых (кривизна меньше 0.5 % при длине от 3 км) — ноль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Ветровые полосы, заструги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концентрация азимутов R = 0.52–0.55, главный сектор несёт 16–20 % длины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343400"/>
            <a:ext cx="5394960" cy="1508760"/>
          </a:xfrm>
          <a:prstGeom prst="roundRect">
            <a:avLst>
              <a:gd name="adj" fmla="val 6000"/>
            </a:avLst>
          </a:prstGeom>
          <a:solidFill>
            <a:srgbClr val="F2F3F1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" y="4581144"/>
            <a:ext cx="4919472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2430"/>
                </a:solidFill>
                <a:latin typeface="Calibri"/>
              </a:rPr>
              <a:t>Проверка откалибрована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Заведомо прямой врезке наша же трассировка приписывает кривизну 0.16–0.29 %. Порог 0.5 % достижим втрое, поэтому «ноль ультрапрямых» значит «таких линий нет».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4343400"/>
            <a:ext cx="5394960" cy="1508760"/>
          </a:xfrm>
          <a:prstGeom prst="roundRect">
            <a:avLst>
              <a:gd name="adj" fmla="val 6000"/>
            </a:avLst>
          </a:prstGeom>
          <a:solidFill>
            <a:srgbClr val="F2F3F1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83096" y="4581144"/>
            <a:ext cx="4919472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2430"/>
                </a:solidFill>
                <a:latin typeface="Calibri"/>
              </a:rPr>
              <a:t>Почему ЦМР вообще проверялась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Рельеф не входной слой, но ЦМР протекает внутрь дважды: через выравнивание радара Sentinel-1 RTC и через ортотрансформирование оптики.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>
                <a:solidFill>
                  <a:srgbClr val="1B2430"/>
                </a:solidFill>
                <a:latin typeface="Cambria"/>
              </a:rPr>
              <a:t>Проверка глазом: 75 парных окон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029200" cy="178308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2057400"/>
            <a:ext cx="4480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Cambria"/>
              </a:rPr>
              <a:t>«Красные линии действительно в большинстве являются линеаментами»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8C9AA8"/>
                </a:solidFill>
                <a:latin typeface="Calibri"/>
              </a:rPr>
              <a:t>Вердикт заказчика после первого просмотра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Окно 5 × 5 км показывается дважды: слева чистый снимок, справа он же с разметкой. Плюс контрольные окна — участки, где детектор не нашёл ничего.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783080"/>
            <a:ext cx="5696712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144768" y="1984248"/>
            <a:ext cx="5294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B2430"/>
                </a:solidFill>
                <a:latin typeface="Calibri"/>
              </a:rPr>
              <a:t>Сшивала две параллельные линии в одну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Замер: у 52 % пар проекции перекрывались. Исправлено запретом на перекрытие.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154680"/>
            <a:ext cx="5696712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44768" y="3355848"/>
            <a:ext cx="5294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B2430"/>
                </a:solidFill>
                <a:latin typeface="Calibri"/>
              </a:rPr>
              <a:t>Край съёмки размечен как линеамент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33 куска из 1570 шли вдоль шва. Исправлено отсевом линий вдоль швов.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526280"/>
            <a:ext cx="5696712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44768" y="4727448"/>
            <a:ext cx="5294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B2430"/>
                </a:solidFill>
                <a:latin typeface="Calibri"/>
              </a:rPr>
              <a:t>Линеамент из коротких кусков пропущен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Сшивка работала только внутри зон. Выпущена на весь лист.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9107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A7179"/>
                </a:solidFill>
                <a:latin typeface="Calibri"/>
              </a:rPr>
              <a:t>Все три ошибки найдены глазом и не были пойманы ни одной машинной проверкой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6A9A4"/>
                </a:solidFill>
                <a:latin typeface="Calibri"/>
              </a:rPr>
              <a:t>ПОРОГ СРАБОТАЛ ПРОТИВ НАС — И ЭТО ХОРОШО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0">
                <a:solidFill>
                  <a:srgbClr val="FFFFFF"/>
                </a:solidFill>
                <a:latin typeface="Cambria"/>
              </a:rPr>
              <a:t>Две правки закрыты отрицательно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BFC9D4"/>
                </a:solidFill>
                <a:latin typeface="Calibri"/>
              </a:rPr>
              <a:t>Объект, который становится линией только после сшивки коротких кусков, подтвердиться не может: эталоном служат линии половин, а половины сшивки не проходят. Обе попытки убрать эту асимметрию провалили порог мусора, объявленный до прогонов.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743200"/>
          <a:ext cx="11091672" cy="12435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120640"/>
                <a:gridCol w="3776472"/>
                <a:gridCol w="219456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Попытка</a:t>
                      </a:r>
                    </a:p>
                  </a:txBody>
                  <a:tcPr marL="128016" marR="128016" marT="54864" marB="54864" anchor="ctr">
                    <a:solidFill>
                      <a:srgbClr val="B326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Мусор подтверждения</a:t>
                      </a:r>
                    </a:p>
                  </a:txBody>
                  <a:tcPr marL="128016" marR="128016" marT="54864" marB="54864" anchor="ctr">
                    <a:solidFill>
                      <a:srgbClr val="B326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Вердикт</a:t>
                      </a:r>
                    </a:p>
                  </a:txBody>
                  <a:tcPr marL="128016" marR="128016" marT="54864" marB="54864" anchor="ctr">
                    <a:solidFill>
                      <a:srgbClr val="B3261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Calibri"/>
                        </a:rPr>
                        <a:t>Половины трассируются с порога 200 м</a:t>
                      </a:r>
                    </a:p>
                  </a:txBody>
                  <a:tcPr marL="128016" marR="128016" marT="54864" marB="54864" anchor="ctr">
                    <a:solidFill>
                      <a:srgbClr val="2631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Calibri"/>
                        </a:rPr>
                        <a:t>52.5 % при пороге 20 %</a:t>
                      </a:r>
                    </a:p>
                  </a:txBody>
                  <a:tcPr marL="128016" marR="128016" marT="54864" marB="54864" anchor="ctr">
                    <a:solidFill>
                      <a:srgbClr val="2631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Calibri"/>
                        </a:rPr>
                        <a:t>закрыта</a:t>
                      </a:r>
                    </a:p>
                  </a:txBody>
                  <a:tcPr marL="128016" marR="128016" marT="54864" marB="54864" anchor="ctr">
                    <a:solidFill>
                      <a:srgbClr val="26313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Calibri"/>
                        </a:rPr>
                        <a:t>Половины проходят тот же тракт целиком</a:t>
                      </a:r>
                    </a:p>
                  </a:txBody>
                  <a:tcPr marL="128016" marR="128016" marT="54864" marB="54864" anchor="ctr">
                    <a:solidFill>
                      <a:srgbClr val="2E3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Calibri"/>
                        </a:rPr>
                        <a:t>20.7 % при пороге 20 %</a:t>
                      </a:r>
                    </a:p>
                  </a:txBody>
                  <a:tcPr marL="128016" marR="128016" marT="54864" marB="54864" anchor="ctr">
                    <a:solidFill>
                      <a:srgbClr val="2E3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FFFFFF"/>
                          </a:solidFill>
                          <a:latin typeface="Calibri"/>
                        </a:rPr>
                        <a:t>закрыта</a:t>
                      </a:r>
                    </a:p>
                  </a:txBody>
                  <a:tcPr marL="128016" marR="128016" marT="54864" marB="54864" anchor="ctr">
                    <a:solidFill>
                      <a:srgbClr val="2E3B4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48056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26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4718304"/>
            <a:ext cx="49194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Общая причина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BFC9D4"/>
                </a:solidFill>
                <a:latin typeface="Calibri"/>
              </a:rPr>
              <a:t>Чем богаче эталонная маска, тем дешевле подтверждение — и подделка выигрывает от этого быстрее снимка.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448056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26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83096" y="4718304"/>
            <a:ext cx="49194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Порог не сдвигался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BFC9D4"/>
                </a:solidFill>
                <a:latin typeface="Calibri"/>
              </a:rPr>
              <a:t>Во второй попытке до него не хватило 0.7 процентного пункта. «Почти прошло» — это не прошло.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>
                <a:solidFill>
                  <a:srgbClr val="1B2430"/>
                </a:solidFill>
                <a:latin typeface="Cambria"/>
              </a:rPr>
              <a:t>Результат: два набора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91672" cy="2505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73752"/>
                <a:gridCol w="3108960"/>
                <a:gridCol w="310896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Условие</a:t>
                      </a:r>
                    </a:p>
                  </a:txBody>
                  <a:tcPr marL="128016" marR="128016" marT="54864" marB="54864" anchor="ctr">
                    <a:solidFill>
                      <a:srgbClr val="1B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В зонах согласия</a:t>
                      </a:r>
                    </a:p>
                  </a:txBody>
                  <a:tcPr marL="128016" marR="128016" marT="54864" marB="54864" anchor="ctr">
                    <a:solidFill>
                      <a:srgbClr val="1B2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По всему листу</a:t>
                      </a:r>
                    </a:p>
                  </a:txBody>
                  <a:tcPr marL="128016" marR="128016" marT="54864" marB="54864" anchor="ctr">
                    <a:solidFill>
                      <a:srgbClr val="1B243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Линий и суммарная длина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179 · 326 км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1729 · 2605 км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Мусор подтверждения (не выше 20 %)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6.2 %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3.8 %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Сдвиговый нуль (p не выше 0.00104)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 = 0.0002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 = 0.0002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Устойчивость (не ниже 0.5)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0.622 при нуле 0.005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28016" marR="128016" marT="54864" marB="54864" anchor="ctr">
                    <a:solidFill>
                      <a:srgbClr val="EAECE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Медиана длины (не ниже 1.5 км)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1.61 км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1.26 км — не пройдено</a:t>
                      </a:r>
                    </a:p>
                  </a:txBody>
                  <a:tcPr marL="128016" marR="128016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5720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EFF3EE"/>
          </a:solidFill>
          <a:ln w="9525">
            <a:solidFill>
              <a:srgbClr val="CB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" y="4809744"/>
            <a:ext cx="49194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2430"/>
                </a:solidFill>
                <a:latin typeface="Calibri"/>
              </a:rPr>
              <a:t>Набор в зонах — проверенный результат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Проходит все четыре условия. Подтверждение на месте 61 % против 2.3 % у сдвигового нуля.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457200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2F3F1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83096" y="4809744"/>
            <a:ext cx="491947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2430"/>
                </a:solidFill>
                <a:latin typeface="Calibri"/>
              </a:rPr>
              <a:t>Полный набор — рабочая карта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Проходит проверки на случайность и артефакты, но не проходит условие по длине.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>
                <a:solidFill>
                  <a:srgbClr val="1B2430"/>
                </a:solidFill>
                <a:latin typeface="Cambria"/>
              </a:rPr>
              <a:t>Простирания и связь с гидросетью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737360"/>
          <a:ext cx="64008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2920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Доля длины набора по секторам 15°. Главный сектор 75–90° несёт 20 % длины — это широтное семейство, которого прибор до исправления не видел.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59" y="1737360"/>
            <a:ext cx="49651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43215" y="1956815"/>
            <a:ext cx="4526279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2430"/>
                </a:solidFill>
                <a:latin typeface="Calibri"/>
              </a:rPr>
              <a:t>Вода — индикатор, а не помеха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41 % ячеек линий ближе 100 м к водотокам при 6.1 % площади.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9" y="3291840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· линии у воды длиннее: 1.92 против 1.29 км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· и прямее: 2.1 % против 3.4 % разброса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· идут вдоль русла (2–6°)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· русла под ними вчетверо прямее фона: 1.5 % против 6.1 %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9" y="50292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B2430"/>
                </a:solidFill>
                <a:latin typeface="Calibri"/>
              </a:rPr>
              <a:t>Детектор садится на спрямлённые участки дренажа — то есть на то, что геолог и размечает как линеамент.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>
                <a:solidFill>
                  <a:srgbClr val="1B2430"/>
                </a:solidFill>
                <a:latin typeface="Cambria"/>
              </a:rPr>
              <a:t>Что доказано и что нет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94960" cy="3383280"/>
          </a:xfrm>
          <a:prstGeom prst="roundRect">
            <a:avLst>
              <a:gd name="adj" fmla="val 6000"/>
            </a:avLst>
          </a:prstGeom>
          <a:solidFill>
            <a:srgbClr val="EFF3EE"/>
          </a:solidFill>
          <a:ln w="9525">
            <a:solidFill>
              <a:srgbClr val="CB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2011679"/>
            <a:ext cx="484632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1B2430"/>
                </a:solidFill>
                <a:latin typeface="Calibri"/>
              </a:rPr>
              <a:t>Доказано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· подтверждение двумя съёмками — не совпадение: 61 % против 2.3 %, p = 0.0002 при пороге на 48 проверок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· набор не шум текстуры: подделка даёт 3.8–6.2 % от настоящей доли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· не объясняется швами, плитками ЦМР, техногенными прямыми и ветровым рисунком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· воспроизводится при возмущении входа: 0.622 при нуле 0.005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· детектор азимутально нейтрален, цензура освещением измерена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737360"/>
            <a:ext cx="5394960" cy="3383280"/>
          </a:xfrm>
          <a:prstGeom prst="roundRect">
            <a:avLst>
              <a:gd name="adj" fmla="val 6000"/>
            </a:avLst>
          </a:prstGeom>
          <a:solidFill>
            <a:srgbClr val="FBF3F2"/>
          </a:solidFill>
          <a:ln w="9525">
            <a:solidFill>
              <a:srgbClr val="E7C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19672" y="2011679"/>
            <a:ext cx="484632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1B2430"/>
                </a:solidFill>
                <a:latin typeface="Calibri"/>
              </a:rPr>
              <a:t>Не доказано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· что это разломы: сверка с картой — отдельный шаг после, а не критерий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· не является ли часть набора гнейсовидностью: полосчатость гранулитов даёт такие же прямые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· объекты из коротких кусков подтвердиться не могут по построению эталона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· полный набор не проходит условие по длине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· перенос на другие площадки не проверялся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4A5568"/>
                </a:solidFill>
                <a:latin typeface="Calibri"/>
              </a:rPr>
              <a:t>Первый пункт справа — главный для рудного прогноза: карта гнейсовидности и карта нарушений это разные объекты, и различить их нужно до того, как набор пойдёт в прогноз.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Cambria"/>
              </a:rPr>
              <a:t>Что дальше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24328" cy="2651760"/>
          </a:xfrm>
          <a:prstGeom prst="roundRect">
            <a:avLst>
              <a:gd name="adj" fmla="val 6000"/>
            </a:avLst>
          </a:prstGeom>
          <a:solidFill>
            <a:srgbClr val="26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86384" y="2020824"/>
            <a:ext cx="2148840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E6A9A4"/>
                </a:solidFill>
                <a:latin typeface="Calibri"/>
              </a:rPr>
              <a:t>1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Полосчатость или нарушения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BFC9D4"/>
                </a:solidFill>
                <a:latin typeface="Calibri"/>
              </a:rPr>
              <a:t>Шаг между соседками одного простирания, гладкость поля простираний, сверка с контактами геологической карты.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2424" y="1783080"/>
            <a:ext cx="2624328" cy="2651760"/>
          </a:xfrm>
          <a:prstGeom prst="roundRect">
            <a:avLst>
              <a:gd name="adj" fmla="val 6000"/>
            </a:avLst>
          </a:prstGeom>
          <a:solidFill>
            <a:srgbClr val="26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30168" y="2020824"/>
            <a:ext cx="2148840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E6A9A4"/>
                </a:solidFill>
                <a:latin typeface="Calibri"/>
              </a:rPr>
              <a:t>2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Подтверждение без бинаризации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BFC9D4"/>
                </a:solidFill>
                <a:latin typeface="Calibri"/>
              </a:rPr>
              <a:t>Сверять непрерывный отклик половин вдоль линии: список линий пересчёт не переживает, поле — переживает.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783080"/>
            <a:ext cx="2624328" cy="2651760"/>
          </a:xfrm>
          <a:prstGeom prst="roundRect">
            <a:avLst>
              <a:gd name="adj" fmla="val 6000"/>
            </a:avLst>
          </a:prstGeom>
          <a:solidFill>
            <a:srgbClr val="26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73952" y="2020824"/>
            <a:ext cx="2148840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E6A9A4"/>
                </a:solidFill>
                <a:latin typeface="Calibri"/>
              </a:rPr>
              <a:t>3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Условие для полной карты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BFC9D4"/>
                </a:solidFill>
                <a:latin typeface="Calibri"/>
              </a:rPr>
              <a:t>Объявить для полнолистного набора осмысленное условие вместо медианы длины — до прогона.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9992" y="1783080"/>
            <a:ext cx="2624328" cy="2651760"/>
          </a:xfrm>
          <a:prstGeom prst="roundRect">
            <a:avLst>
              <a:gd name="adj" fmla="val 6000"/>
            </a:avLst>
          </a:prstGeom>
          <a:solidFill>
            <a:srgbClr val="26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17736" y="2020824"/>
            <a:ext cx="2148840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E6A9A4"/>
                </a:solidFill>
                <a:latin typeface="Calibri"/>
              </a:rPr>
              <a:t>4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Перенос на другие площадки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BFC9D4"/>
                </a:solidFill>
                <a:latin typeface="Calibri"/>
              </a:rPr>
              <a:t>Тот же тракт и те же пороги на площадке с другой геологией.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BFC9D4"/>
                </a:solidFill>
                <a:latin typeface="Calibri"/>
              </a:rPr>
              <a:t>Эталон, когда он появится, войдёт в работу как сверка и как оценка полноты — но не как обучающая выборка. Метод должен оставаться работоспособным там, где разметки нет.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9107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C9AA8"/>
                </a:solidFill>
                <a:latin typeface="Calibri"/>
              </a:rPr>
              <a:t>Отчёт: docs/Отчёт-линеаменты-зимний-композит · окна для просмотра: outputs/линеаменты_проверка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