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9" r:id="rId4"/>
    <p:sldId id="260" r:id="rId5"/>
    <p:sldId id="261" r:id="rId6"/>
    <p:sldId id="262" r:id="rId7"/>
    <p:sldId id="263" r:id="rId8"/>
    <p:sldId id="264" r:id="rId9"/>
    <p:sldId id="265" r:id="rId10"/>
    <p:sldId id="266" r:id="rId11"/>
    <p:sldId id="267" r:id="rId12"/>
    <p:sldId id="268"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63871" autoAdjust="0"/>
  </p:normalViewPr>
  <p:slideViewPr>
    <p:cSldViewPr snapToGrid="0" snapToObjects="1">
      <p:cViewPr varScale="1">
        <p:scale>
          <a:sx n="53" d="100"/>
          <a:sy n="53" d="100"/>
        </p:scale>
        <p:origin x="1810"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1"/>
  <c:style val="2"/>
  <c:chart>
    <c:autoTitleDeleted val="1"/>
    <c:plotArea>
      <c:layout/>
      <c:barChart>
        <c:barDir val="col"/>
        <c:grouping val="clustered"/>
        <c:varyColors val="0"/>
        <c:ser>
          <c:idx val="0"/>
          <c:order val="0"/>
          <c:tx>
            <c:strRef>
              <c:f>Sheet1!$B$1</c:f>
              <c:strCache>
                <c:ptCount val="1"/>
                <c:pt idx="0">
                  <c:v>подтверждение</c:v>
                </c:pt>
              </c:strCache>
            </c:strRef>
          </c:tx>
          <c:spPr>
            <a:solidFill>
              <a:srgbClr val="C15B33"/>
            </a:solidFill>
            <a:effectLst/>
          </c:spPr>
          <c:invertIfNegative val="0"/>
          <c:dLbls>
            <c:numFmt formatCode="0.000" sourceLinked="0"/>
            <c:spPr>
              <a:noFill/>
              <a:ln>
                <a:noFill/>
              </a:ln>
              <a:effectLst/>
            </c:spPr>
            <c:txPr>
              <a:bodyPr/>
              <a:lstStyle/>
              <a:p>
                <a:pPr>
                  <a:defRPr sz="1000" b="0" i="0" u="none" strike="noStrike">
                    <a:solidFill>
                      <a:srgbClr val="1B2A32"/>
                    </a:solidFill>
                    <a:latin typeface="Arial"/>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редко
43 линии</c:v>
                </c:pt>
                <c:pt idx="1">
                  <c:v>средне
204</c:v>
                </c:pt>
                <c:pt idx="2">
                  <c:v>густо
334</c:v>
                </c:pt>
                <c:pt idx="3">
                  <c:v>очень густо
497</c:v>
                </c:pt>
                <c:pt idx="4">
                  <c:v>предельно
620</c:v>
                </c:pt>
              </c:strCache>
            </c:strRef>
          </c:cat>
          <c:val>
            <c:numRef>
              <c:f>Sheet1!$B$2:$B$6</c:f>
              <c:numCache>
                <c:formatCode>General</c:formatCode>
                <c:ptCount val="5"/>
                <c:pt idx="0">
                  <c:v>0.223</c:v>
                </c:pt>
                <c:pt idx="1">
                  <c:v>0.317</c:v>
                </c:pt>
                <c:pt idx="2">
                  <c:v>0.39100000000000001</c:v>
                </c:pt>
                <c:pt idx="3">
                  <c:v>0.40699999999999997</c:v>
                </c:pt>
                <c:pt idx="4">
                  <c:v>0.42199999999999999</c:v>
                </c:pt>
              </c:numCache>
            </c:numRef>
          </c:val>
          <c:extLst>
            <c:ext xmlns:c16="http://schemas.microsoft.com/office/drawing/2014/chart" uri="{C3380CC4-5D6E-409C-BE32-E72D297353CC}">
              <c16:uniqueId val="{00000000-9BD8-4181-B655-3C7057DF1AE4}"/>
            </c:ext>
          </c:extLst>
        </c:ser>
        <c:ser>
          <c:idx val="1"/>
          <c:order val="1"/>
          <c:tx>
            <c:strRef>
              <c:f>Sheet1!$C$1</c:f>
              <c:strCache>
                <c:ptCount val="1"/>
                <c:pt idx="0">
                  <c:v>случайный уровень</c:v>
                </c:pt>
              </c:strCache>
            </c:strRef>
          </c:tx>
          <c:spPr>
            <a:solidFill>
              <a:srgbClr val="B9C7CE"/>
            </a:solidFill>
            <a:effectLst/>
          </c:spPr>
          <c:invertIfNegative val="0"/>
          <c:dLbls>
            <c:numFmt formatCode="0.000" sourceLinked="0"/>
            <c:spPr>
              <a:noFill/>
              <a:ln>
                <a:noFill/>
              </a:ln>
              <a:effectLst/>
            </c:spPr>
            <c:txPr>
              <a:bodyPr/>
              <a:lstStyle/>
              <a:p>
                <a:pPr>
                  <a:defRPr sz="1000" b="0" i="0" u="none" strike="noStrike">
                    <a:solidFill>
                      <a:srgbClr val="1B2A32"/>
                    </a:solidFill>
                    <a:latin typeface="Arial"/>
                  </a:defRPr>
                </a:pPr>
                <a:endParaRPr lang="ru-RU"/>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редко
43 линии</c:v>
                </c:pt>
                <c:pt idx="1">
                  <c:v>средне
204</c:v>
                </c:pt>
                <c:pt idx="2">
                  <c:v>густо
334</c:v>
                </c:pt>
                <c:pt idx="3">
                  <c:v>очень густо
497</c:v>
                </c:pt>
                <c:pt idx="4">
                  <c:v>предельно
620</c:v>
                </c:pt>
              </c:strCache>
            </c:strRef>
          </c:cat>
          <c:val>
            <c:numRef>
              <c:f>Sheet1!$C$2:$C$6</c:f>
              <c:numCache>
                <c:formatCode>General</c:formatCode>
                <c:ptCount val="5"/>
                <c:pt idx="0">
                  <c:v>4.7E-2</c:v>
                </c:pt>
                <c:pt idx="1">
                  <c:v>0.112</c:v>
                </c:pt>
                <c:pt idx="2">
                  <c:v>0.16900000000000001</c:v>
                </c:pt>
                <c:pt idx="3">
                  <c:v>0.214</c:v>
                </c:pt>
                <c:pt idx="4">
                  <c:v>0.25</c:v>
                </c:pt>
              </c:numCache>
            </c:numRef>
          </c:val>
          <c:extLst>
            <c:ext xmlns:c16="http://schemas.microsoft.com/office/drawing/2014/chart" uri="{C3380CC4-5D6E-409C-BE32-E72D297353CC}">
              <c16:uniqueId val="{00000001-9BD8-4181-B655-3C7057DF1AE4}"/>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6E7F88"/>
                </a:solidFill>
                <a:latin typeface="Arial"/>
              </a:defRPr>
            </a:pPr>
            <a:endParaRPr lang="en-US"/>
          </a:p>
        </c:txPr>
        <c:crossAx val="2094734552"/>
        <c:crosses val="autoZero"/>
        <c:auto val="1"/>
        <c:lblAlgn val="ctr"/>
        <c:lblOffset val="100"/>
        <c:noMultiLvlLbl val="1"/>
      </c:catAx>
      <c:valAx>
        <c:axId val="2094734552"/>
        <c:scaling>
          <c:orientation val="minMax"/>
          <c:max val="0.5"/>
        </c:scaling>
        <c:delete val="0"/>
        <c:axPos val="l"/>
        <c:majorGridlines>
          <c:spPr>
            <a:ln w="9525" cap="flat">
              <a:solidFill>
                <a:srgbClr val="EAE6E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6E7F88"/>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100">
              <a:solidFill>
                <a:srgbClr val="1B2A32"/>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640211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Добрый день. Доклад о том, как мы строим карту линеаментов прямо из космоснимка — без обучения и без ручной разметки. Работа сделана на листе R-48-XI,XII, Анабарский щит, по открытым съёмкам Sentinel-1 и Sentinel-2. Сначала постановка задачи, потом результат, потом устройство метода, и в конце — что нам нужно от вас, чтобы двигаться дальше.</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Сначала о том, что именно мы решали. </a:t>
            </a:r>
            <a:r>
              <a:rPr lang="ru-RU" dirty="0"/>
              <a:t>У нас был</a:t>
            </a:r>
            <a:r>
              <a:rPr lang="en-US" dirty="0"/>
              <a:t> композит из десяти каналов Sentinel-1 и Sentinel-2 по листу — яркость оптики, NDVI, радар в двух поляризациях и шесть мер интерферометрической когерентности; шаг сто метров, площадка восемьдесят шесть на семьдесят семь километров. </a:t>
            </a:r>
            <a:r>
              <a:rPr lang="ru-RU" dirty="0"/>
              <a:t>Главная проблема - </a:t>
            </a:r>
            <a:r>
              <a:rPr lang="en-US" dirty="0" err="1"/>
              <a:t>ручной</a:t>
            </a:r>
            <a:r>
              <a:rPr lang="en-US" dirty="0"/>
              <a:t> разметки линеаментов в поставке нет. Эталона, с которым можно сравнить результат, не существует. </a:t>
            </a:r>
            <a:r>
              <a:rPr lang="ru-RU" dirty="0"/>
              <a:t>Необходимо было</a:t>
            </a:r>
            <a:r>
              <a:rPr lang="en-US" dirty="0"/>
              <a:t> выделить протяжённые линейные элементы поверхности прямо </a:t>
            </a:r>
            <a:r>
              <a:rPr lang="en-US" dirty="0" err="1"/>
              <a:t>из</a:t>
            </a:r>
            <a:r>
              <a:rPr lang="en-US" dirty="0"/>
              <a:t> </a:t>
            </a:r>
            <a:r>
              <a:rPr lang="en-US" dirty="0" err="1"/>
              <a:t>снимка</a:t>
            </a:r>
            <a:r>
              <a:rPr lang="en-US" dirty="0"/>
              <a:t>; дать каждой линии оценку достоверности; и сделать метод воспроизводимым и переносимым на другие площадки. Отсюда главный методический вопрос: чем мерить успех, если эталона нет. Мы взяли критерий, которым качество линеаментов проверяют вообще, — воспроизводимость на физически независимых данных. Линия засчитывается, только если её независимо видят оптика и радар. А значимость меряется относительно нуль-модели: тороидального сдвига одной карты относительно другой. </a:t>
            </a:r>
            <a:r>
              <a:rPr lang="en-US" dirty="0" err="1"/>
              <a:t>Сопоставление</a:t>
            </a:r>
            <a:r>
              <a:rPr lang="en-US" dirty="0"/>
              <a:t> с картой разломов — отдельный шаг после построения карты, и не критерий её качества. Для справки: слой разломов на этом листе — это четыре полигона-коридора шириной от четырёх с половиной до девяти километров, сорок четыре процента площади листа. Такой слой в принципе не может служить эталоном для линий.</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Общая схема метода: пять шагов, все детерминированные. Считаем признаки окрестности, сжимаем их, применяем оператор границы, трассируем линии и отбираем те, что подтверждены вторым прибором. Дальше разберу каждый шаг. Почему детерминированность здесь принципиальна. В обучаемой версии одиночная трассировка воспроизводилась между двумя подвыборками обучения лишь на восемнадцать сотых — то есть результат заметно зависел от того, на каких данных училась модель. Здесь этой степени свободы нет вовсе: повторный запуск даёт побайтно тот же результат, и обсуждать можно сам результат, а не удачность обучения.</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dirty="0"/>
              <a:t>Вместо того чтобы просто посмотреть на значение одной ячейки, смотрим, как организована текстура вокруг неё. Делаем это одновременно на трёх масштабах: совсем близко (500 м), на среднем расстоянии (1 км) и подальше (2 км). Для каждого масштаба ловим четыре вещи: направленна ли текстура и вытянута она в одну сторону или никак, насколько явно текстура видна и её контрастность, куда именно она вытянута, а также где гребень (выпуклость), а где ложбина (впадина). Вместо 10 исходных чисел получаем 160. Это неспроста — </a:t>
            </a:r>
            <a:r>
              <a:rPr lang="ru-RU" dirty="0" err="1"/>
              <a:t>линеамент</a:t>
            </a:r>
            <a:r>
              <a:rPr lang="ru-RU" dirty="0"/>
              <a:t> это не просто цвет, это рисунок текстуры. Если смотреть только на одну ячейку, этот рисунок потеряется.</a:t>
            </a:r>
          </a:p>
          <a:p>
            <a:pPr rtl="0"/>
            <a:r>
              <a:rPr lang="ru-RU" dirty="0"/>
              <a:t>После этого сжимаем информацию: 160 чисел сжимаем до 8, но делаем это двумя совершенно разными способами. И вот что важно — получающиеся карты совпадают только на 50–60%. То есть каждый способ видит что-то своё, какие-то закономерности, которые другой пропускает. И обе версии дальше используются, потому что вместе они видят полнее, чем одна.</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dirty="0"/>
              <a:t>Третий шаг — центральный. Для каждой ячейки и каждого из двенадцати направлений берутся два вытянутых окна: два километра вдоль предполагаемой линии, двести метров поперёк, сдвинутые на триста метров в разные стороны. Смотрим, насколько отличаются характеристики текстуры в левом и правом окне. Смысл физический: насколько скачком меняется тип поверхности, если пересечь линию поперёк. Чем больше отличие — тем ярче линия. Пробуем все двенадцать направлений, берём максимум — это и есть сила линии, а направление максимума — её азимут.</a:t>
            </a:r>
          </a:p>
          <a:p>
            <a:pPr rtl="0"/>
            <a:r>
              <a:rPr lang="ru-RU" dirty="0"/>
              <a:t>Форма окон выбрана не случайно. Они вытянуты вдоль линии, потому что разлом или дайка — это не точка, а протяжённая структура. И они узкие поперёк, потому что нас интересует именно скачок, резкая граница между блоками, а не плавный градиент, как если бы поверхность просто медленно меняла свойства. Выбор самого оператора тоже не произволен. Предыдущая версия трассировала гребни поля — места, где данные выглядят как хребет. Её линии совпадали с видимыми возвышениями в рельефе в полтора-два раза лучше, чем с картой разломов. Это логично: гребень поля указывает на рельефную текстуру, но не на геологическую границу. Разлом или дайка — это граница между геологическими блоками с разной сигнатурой, и новый оператор ищет именно эту границу, не отвлекаясь на рельеф.</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Четвёртый шаг — превращение непрерывного поля в дискретные отрезки. Каждая операция здесь охотится на свой класс ложных линий. Начинаем со сглаживания, которое убирает пиксельный шум — мелкие колебания, которые не значат ничего. Потом подавляем </a:t>
            </a:r>
            <a:r>
              <a:rPr lang="ru-RU" dirty="0" err="1"/>
              <a:t>немаксимумы</a:t>
            </a:r>
            <a:r>
              <a:rPr lang="ru-RU" dirty="0"/>
              <a:t> поперёк линии: широкая полоса отклика сужается до одноклеточного гребня. Дальше гистерезисный порог работает хитрее: если рядом сильная линия, её слабое продолжение сохраняется, потому что это вероятно её ослабление за облаком или тенью, а вот слабая одиночная линия выбрасывается. Потом </a:t>
            </a:r>
            <a:r>
              <a:rPr lang="ru-RU" dirty="0" err="1"/>
              <a:t>скелетизация</a:t>
            </a:r>
            <a:r>
              <a:rPr lang="ru-RU" dirty="0"/>
              <a:t> делает линию ещё тоньше, и мы состригаем отростки короче километра — это шум, а не структуры. Дальше сшиваем коллинеарные разрывы до двух километров, если направления совпадают в пределах двадцати градусов — это собирает линию, которая была разорвана облаком или тенью, восстанавливая целое из обломков. Потом разрезаем в узлах, где линии пересекаются, и отсеиваем остатки по длине и прямолинейности. На выходе получаются отрезки с информацией о силе, азимуте и геометрии. И главное: ни один из этих порогов не настраивался по разметанным данным, потому что разметки нет. Каждый параметр выбран из физического смысла того, что мы ловим.</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Пятый шаг — то, чем в этой задаче заменяется эталон. Оптика и радар — разные приборы с разной физикой отклика, и артефакты у них совершенно разные: оптика путается в облаках и тенях, радар создаёт помехи из-за </a:t>
            </a:r>
            <a:r>
              <a:rPr lang="ru-RU" dirty="0" err="1"/>
              <a:t>зёрнистости</a:t>
            </a:r>
            <a:r>
              <a:rPr lang="ru-RU" dirty="0"/>
              <a:t> сигнала и геометрии съёмки. Но вот что важно: если линию видят оба прибора, она принадлежит реальной поверхности; если видит один — это скорее артефакт именно этого прибора. Поэтому весь конвейер прогоняется трижды: только по оптике, только по радару и по обоим вместе. Линия попадает в финальную карту только если оба прибора по отдельности видят вдоль неё свою собственную линию того же направления минимум на половине длины. Два ужесточения здесь принципиальны. Требование совпадения вдоль длины отсекает случайные касания: реальный </a:t>
            </a:r>
            <a:r>
              <a:rPr lang="ru-RU" dirty="0" err="1"/>
              <a:t>линеамент</a:t>
            </a:r>
            <a:r>
              <a:rPr lang="ru-RU" dirty="0"/>
              <a:t> второй прибор видит на всём протяжении, а случайное совпадение — только куском. Требование совпадения направления отсекает пересечения, которых в густой карте много и которые иначе засчитывались бы как подтверждение. И случайный уровень совпадений мы не берём из головы, а меряем конкретно: берём одну карту, сдвигаем её относительно другой и смотрим, сколько ложных совпадений возникает от чистой случайности.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На главных компонентах трассируется шестьсот тринадцать линий, из них сто пятьдесят три проходят подтверждение вторым прибором — при случайном уровне меньше одного. На </a:t>
            </a:r>
            <a:r>
              <a:rPr lang="ru-RU" dirty="0" err="1"/>
              <a:t>автоэнкодере</a:t>
            </a:r>
            <a:r>
              <a:rPr lang="ru-RU" dirty="0"/>
              <a:t> получается пятьсот семьдесят шесть линий, подтверждаются сто сорок восемь. Поскольку два способа сжатия пересекаются лишь наполовину, в итоговую карту идёт их объединение: двести пятьдесят пять линий общей длины тысяча десять километров, при ожидаемых двух случайных совпадениях на всю площадь. Есть и более грубая проверка, ещё до поштучного отбора: взаимное покрытие карт оптики и радара составляет ноль целых четыреста двадцать две тысячные при случайном уровне ноль целых двести пятьдесят. И вот где видна согласованность: розы азимутов двух приборов скоррелированы на ноль целых девятьсот семьдесят семь — почти идеально. Главные направления совпадают до одного градуса, оба указывают на тридцать семь градусов. Приборы согласны и в деталях карты, и в её общей структуре, в глобальном тренде поля. Это означает, что они смотрят на одно и то же явление, а не на артефакты своей физики.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Частый вопрос: сколько линий выдавать. Это выбирает не алгоритм, а пользователь. Пороги можно ослаблять ровно до тех пор, пока подтверждение вторым прибором держится выше случайного уровня — это и есть стоп-правило, которое останавливает раскрутку порогов. На графике видно пять ступеней: от сорока трёх линий до шестисот двадцати. Оранжевые столбцы показывают долю подтверждения, серые — случайный уровень для той же плотности. Важно, что обрыва нет ни на одной ступени: это означает, что мелкие линии подтверждаются так же хорошо, как крупные, просто с меньшим запасом надёжности — от четырёх целых семи десятых на редкой карте до одной целой семи на густой. Итоговую карту мы построили на самой густой ступени, и отбор по подтверждению вторым прибором сам срезал одну тысячу восемьсот километров изначальной трассировки до одной тысячи. Но если нужна разреженная карта, это просто настройка одного параметра — переделка метода не требуется.</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sz="1200" b="0" i="0" kern="1200" dirty="0">
                <a:solidFill>
                  <a:schemeClr val="tx1"/>
                </a:solidFill>
                <a:effectLst/>
                <a:latin typeface="+mn-lt"/>
                <a:ea typeface="+mn-ea"/>
                <a:cs typeface="+mn-cs"/>
              </a:rPr>
              <a:t>Отдельная ветка работы — можно ли обучить модель так, чтобы она переносилась с площадки на площадку. Спектральная подпись </a:t>
            </a:r>
            <a:r>
              <a:rPr lang="ru-RU" sz="1200" b="0" i="0" kern="1200" dirty="0" err="1">
                <a:solidFill>
                  <a:schemeClr val="tx1"/>
                </a:solidFill>
                <a:effectLst/>
                <a:latin typeface="+mn-lt"/>
                <a:ea typeface="+mn-ea"/>
                <a:cs typeface="+mn-cs"/>
              </a:rPr>
              <a:t>линеамента</a:t>
            </a:r>
            <a:r>
              <a:rPr lang="ru-RU" sz="1200" b="0" i="0" kern="1200" dirty="0">
                <a:solidFill>
                  <a:schemeClr val="tx1"/>
                </a:solidFill>
                <a:effectLst/>
                <a:latin typeface="+mn-lt"/>
                <a:ea typeface="+mn-ea"/>
                <a:cs typeface="+mn-cs"/>
              </a:rPr>
              <a:t> у каждой площадки своя: если обучить модель на сырых каналах одной съёмки, на другой она не сработает — ни одна конфигурация не преодолеет порог значимости. Но линия как геометрический объект описывается характеристиками, которые от площадки не зависят: длина, прямолинейность, насколько она контрастирует относительно окружающего фона, однородна ли её сила вдоль себя, согласуется ли с полем соседних линий — это всё безразмерно и относительно. На карте Анабара видно раскраску: каждая линия окрашена в уверенность, которую предсказала модель, обученная на Неваде и никогда не видевшая Анабар. ROC-кривая показывает ноль целых семьдесят пять — примерно как если бы мы просто смотрели только на длину, тогда ноль целых семьдесят один, в отличие от случайного угадывания, которое ноль целых пять. Это значимо даже с поправкой на множественное тестирование. Правила читаются просто словами: чаще всего подтверждаются линии с высокой силой границы — в два-четыре раза выше фона — и длинные с неоднородной силой вдоль себя, что означает реальную структуру. Реже подтверждаются короткие одиночные линии и слабые, которые соседствуют с сильными — это артефакты, ложные ветки, отпочковавшиеся от настоящих структур. Практический смысл прямой: там, где есть только одна съёмка и второго прибора нет, линии можно отдавать упорядоченными по модельной уверенности, а не вповалку.</a:t>
            </a:r>
          </a:p>
          <a:p>
            <a:br>
              <a:rPr lang="ru-RU" dirty="0"/>
            </a:b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ru-RU" dirty="0"/>
              <a:t>Теперь то, что по постановке задачи стоит отдельно: сверка с независимыми картами. С геологическими разломами по положению в допуск двести пятьдесят метров совпадает девять-одиннадцать процентов длины наших линий при фоновом уровне восемь процентов — практически не отличается от случайного. По направлению возникает интересный эффект: наша главная система северо-восточная, а у обводки геологических зон — северо-западная; обе системы присутствуют в обеих картах, различается только преобладание. Но нужно помнить, что разломы на этом листе — полигоны шириной пять-девять километров, поэтому такое число говорит мало. С рельефными </a:t>
            </a:r>
            <a:r>
              <a:rPr lang="ru-RU" dirty="0" err="1"/>
              <a:t>линеаментами</a:t>
            </a:r>
            <a:r>
              <a:rPr lang="ru-RU" dirty="0"/>
              <a:t> согласие выше случайного уровня примерно на треть, но стандартное отклонение всего одна целая три — одна целая четыре сигмы, то есть сигнал слаб. Как это читать. Больше половины наших линий не имеет рельефного соответствия, и две трети рельефных линий не покрыты нашими. Это главное: это снимает опасение, что мы просто </a:t>
            </a:r>
            <a:r>
              <a:rPr lang="ru-RU" dirty="0" err="1"/>
              <a:t>переоткрываем</a:t>
            </a:r>
            <a:r>
              <a:rPr lang="ru-RU" dirty="0"/>
              <a:t> рельеф и его артефакты — иначе согласие было бы на порядки выше. Но равным образом согласие не подтверждает и геологическую структурную природу линий окончательно. Иными словами, мы видим что-то своё, и что это — требует независимой проверки.</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rtl="0"/>
            <a:r>
              <a:rPr lang="ru-RU" dirty="0"/>
              <a:t>Соберу вместе. Доказано три вещи. Линии — настоящие элементы поверхности, а не артефакт одного датчика: два прибора с совершенно разной физикой видят их независимо, и случайно через двойной фильтр проходит около двух линий из двухсот пятидесяти пяти. Метод воспроизводим побайтно, потому что в построении карты нет обучения — всё определено физикой и геометрией окон. И ранжирование линий по уверенности переносится между площадками, это единственный перенос, полученный за всю ветку работы.</a:t>
            </a:r>
          </a:p>
          <a:p>
            <a:pPr rtl="0"/>
            <a:r>
              <a:rPr lang="ru-RU" dirty="0"/>
              <a:t>Не доказано тоже три вещи, и я проговорю их прямо. Что эти линии — разломы: совпадение с геологической картой в один и тридцать шесть раза выше случайного, но сама эта цель на данном листе плохо определена, разломы изображены полигонами шириной в километры. Что они структурные по природе, а не просто выражение рельефа: обе съёмки на широте семьдесят один градус поляризуются подобно отмывке рельефа, и прямая сверка дала расхождение на уровне полутора сигм — это не убедительно. И полнота: нам просто не с чем сравнивать, нет справочной карты всех </a:t>
            </a:r>
            <a:r>
              <a:rPr lang="ru-RU" dirty="0" err="1"/>
              <a:t>линеаментов</a:t>
            </a:r>
            <a:r>
              <a:rPr lang="ru-RU" dirty="0"/>
              <a:t> на площадке.</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32B"/>
        </a:solidFill>
        <a:effectLst/>
      </p:bgPr>
    </p:bg>
    <p:spTree>
      <p:nvGrpSpPr>
        <p:cNvPr id="1" name=""/>
        <p:cNvGrpSpPr/>
        <p:nvPr/>
      </p:nvGrpSpPr>
      <p:grpSpPr>
        <a:xfrm>
          <a:off x="0" y="0"/>
          <a:ext cx="0" cy="0"/>
          <a:chOff x="0" y="0"/>
          <a:chExt cx="0" cy="0"/>
        </a:xfrm>
      </p:grpSpPr>
      <p:sp>
        <p:nvSpPr>
          <p:cNvPr id="2" name="Shape 0"/>
          <p:cNvSpPr/>
          <p:nvPr/>
        </p:nvSpPr>
        <p:spPr>
          <a:xfrm>
            <a:off x="9509760" y="-1371600"/>
            <a:ext cx="4754880" cy="4754880"/>
          </a:xfrm>
          <a:prstGeom prst="ellipse">
            <a:avLst/>
          </a:prstGeom>
          <a:solidFill>
            <a:srgbClr val="1F3340"/>
          </a:solidFill>
          <a:ln w="12700">
            <a:solidFill>
              <a:srgbClr val="1F3340"/>
            </a:solidFill>
            <a:prstDash val="solid"/>
          </a:ln>
        </p:spPr>
      </p:sp>
      <p:sp>
        <p:nvSpPr>
          <p:cNvPr id="3" name="Shape 1"/>
          <p:cNvSpPr/>
          <p:nvPr/>
        </p:nvSpPr>
        <p:spPr>
          <a:xfrm>
            <a:off x="10607040" y="4023360"/>
            <a:ext cx="3108960" cy="3108960"/>
          </a:xfrm>
          <a:prstGeom prst="ellipse">
            <a:avLst/>
          </a:prstGeom>
          <a:solidFill>
            <a:srgbClr val="24404E"/>
          </a:solidFill>
          <a:ln w="12700">
            <a:solidFill>
              <a:srgbClr val="24404E"/>
            </a:solidFill>
            <a:prstDash val="solid"/>
          </a:ln>
        </p:spPr>
      </p:sp>
      <p:sp>
        <p:nvSpPr>
          <p:cNvPr id="4" name="Text 2"/>
          <p:cNvSpPr txBox="1"/>
          <p:nvPr/>
        </p:nvSpPr>
        <p:spPr>
          <a:xfrm>
            <a:off x="731520" y="1234440"/>
            <a:ext cx="9144000" cy="2103120"/>
          </a:xfrm>
          <a:prstGeom prst="rect">
            <a:avLst/>
          </a:prstGeom>
          <a:noFill/>
          <a:ln/>
        </p:spPr>
        <p:txBody>
          <a:bodyPr wrap="square" lIns="0" tIns="0" rIns="0" bIns="0" rtlCol="0" anchor="ctr"/>
          <a:lstStyle/>
          <a:p>
            <a:pPr marL="0" indent="0">
              <a:lnSpc>
                <a:spcPct val="108000"/>
              </a:lnSpc>
              <a:buNone/>
            </a:pPr>
            <a:r>
              <a:rPr lang="en-US" sz="3800" b="1" dirty="0">
                <a:solidFill>
                  <a:srgbClr val="FFFFFF"/>
                </a:solidFill>
                <a:latin typeface="Cambria" pitchFamily="34" charset="0"/>
                <a:ea typeface="Cambria" pitchFamily="34" charset="-122"/>
                <a:cs typeface="Cambria" pitchFamily="34" charset="-120"/>
              </a:rPr>
              <a:t>Линеаменты </a:t>
            </a:r>
            <a:r>
              <a:rPr lang="en-US" sz="3800" b="1" dirty="0" err="1">
                <a:solidFill>
                  <a:srgbClr val="FFFFFF"/>
                </a:solidFill>
                <a:latin typeface="Cambria" pitchFamily="34" charset="0"/>
                <a:ea typeface="Cambria" pitchFamily="34" charset="-122"/>
                <a:cs typeface="Cambria" pitchFamily="34" charset="-120"/>
              </a:rPr>
              <a:t>по</a:t>
            </a:r>
            <a:r>
              <a:rPr lang="en-US" sz="3800" b="1" dirty="0">
                <a:solidFill>
                  <a:srgbClr val="FFFFFF"/>
                </a:solidFill>
                <a:latin typeface="Cambria" pitchFamily="34" charset="0"/>
                <a:ea typeface="Cambria" pitchFamily="34" charset="-122"/>
                <a:cs typeface="Cambria" pitchFamily="34" charset="-120"/>
              </a:rPr>
              <a:t> </a:t>
            </a:r>
            <a:r>
              <a:rPr lang="en-US" sz="3800" b="1" dirty="0" err="1">
                <a:solidFill>
                  <a:srgbClr val="FFFFFF"/>
                </a:solidFill>
                <a:latin typeface="Cambria" pitchFamily="34" charset="0"/>
                <a:ea typeface="Cambria" pitchFamily="34" charset="-122"/>
                <a:cs typeface="Cambria" pitchFamily="34" charset="-120"/>
              </a:rPr>
              <a:t>космоснимкам</a:t>
            </a:r>
            <a:endParaRPr lang="en-US" sz="3800" dirty="0"/>
          </a:p>
        </p:txBody>
      </p:sp>
      <p:sp>
        <p:nvSpPr>
          <p:cNvPr id="5" name="Text 3"/>
          <p:cNvSpPr txBox="1"/>
          <p:nvPr/>
        </p:nvSpPr>
        <p:spPr>
          <a:xfrm>
            <a:off x="731520" y="3520440"/>
            <a:ext cx="9144000" cy="457200"/>
          </a:xfrm>
          <a:prstGeom prst="rect">
            <a:avLst/>
          </a:prstGeom>
          <a:noFill/>
          <a:ln/>
        </p:spPr>
        <p:txBody>
          <a:bodyPr wrap="square" lIns="0" tIns="0" rIns="0" bIns="0" rtlCol="0" anchor="ctr"/>
          <a:lstStyle/>
          <a:p>
            <a:pPr marL="0" indent="0">
              <a:buNone/>
            </a:pPr>
            <a:r>
              <a:rPr lang="en-US" sz="1900" dirty="0">
                <a:solidFill>
                  <a:srgbClr val="E7B08C"/>
                </a:solidFill>
                <a:latin typeface="Calibri" pitchFamily="34" charset="0"/>
                <a:ea typeface="Calibri" pitchFamily="34" charset="-122"/>
                <a:cs typeface="Calibri" pitchFamily="34" charset="-120"/>
              </a:rPr>
              <a:t>Метод, проверка, результат по листу R-48-XI,XII (Анабарский щит)</a:t>
            </a:r>
            <a:endParaRPr lang="en-US" sz="1900" dirty="0"/>
          </a:p>
        </p:txBody>
      </p:sp>
      <p:sp>
        <p:nvSpPr>
          <p:cNvPr id="6" name="Text 4"/>
          <p:cNvSpPr txBox="1"/>
          <p:nvPr/>
        </p:nvSpPr>
        <p:spPr>
          <a:xfrm>
            <a:off x="731520" y="4434840"/>
            <a:ext cx="9144000" cy="822960"/>
          </a:xfrm>
          <a:prstGeom prst="rect">
            <a:avLst/>
          </a:prstGeom>
          <a:noFill/>
          <a:ln/>
        </p:spPr>
        <p:txBody>
          <a:bodyPr wrap="square" lIns="0" tIns="0" rIns="0" bIns="0" rtlCol="0" anchor="ctr"/>
          <a:lstStyle/>
          <a:p>
            <a:pPr marL="0" indent="0">
              <a:lnSpc>
                <a:spcPct val="130000"/>
              </a:lnSpc>
              <a:buNone/>
            </a:pPr>
            <a:r>
              <a:rPr lang="en-US" sz="1400" dirty="0">
                <a:solidFill>
                  <a:srgbClr val="A9BDC7"/>
                </a:solidFill>
                <a:latin typeface="Calibri" pitchFamily="34" charset="0"/>
                <a:ea typeface="Calibri" pitchFamily="34" charset="-122"/>
                <a:cs typeface="Calibri" pitchFamily="34" charset="-120"/>
              </a:rPr>
              <a:t>ФГБУ «ВНИГНИ», Отделение геоинформатики (ГИС Интегро)</a:t>
            </a:r>
            <a:endParaRPr lang="en-US" sz="1400" dirty="0"/>
          </a:p>
          <a:p>
            <a:pPr marL="0" indent="0">
              <a:lnSpc>
                <a:spcPct val="130000"/>
              </a:lnSpc>
              <a:buNone/>
            </a:pPr>
            <a:r>
              <a:rPr lang="en-US" sz="1400" dirty="0">
                <a:solidFill>
                  <a:srgbClr val="A9BDC7"/>
                </a:solidFill>
                <a:latin typeface="Calibri" pitchFamily="34" charset="0"/>
                <a:ea typeface="Calibri" pitchFamily="34" charset="-122"/>
                <a:cs typeface="Calibri" pitchFamily="34" charset="-120"/>
              </a:rPr>
              <a:t>Открытые съёмки Sentinel-1 / Sentinel-2 · прогоны 03–09.09.2026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marL="0" indent="0">
              <a:buNone/>
            </a:pPr>
            <a:r>
              <a:rPr lang="en-US" sz="3200" b="1" dirty="0">
                <a:solidFill>
                  <a:srgbClr val="1B2A32"/>
                </a:solidFill>
                <a:latin typeface="Cambria" pitchFamily="34" charset="0"/>
                <a:ea typeface="Cambria" pitchFamily="34" charset="-122"/>
                <a:cs typeface="Cambria" pitchFamily="34" charset="-120"/>
              </a:rPr>
              <a:t>Постановка задачи</a:t>
            </a:r>
            <a:endParaRPr lang="en-US" sz="3200" dirty="0"/>
          </a:p>
        </p:txBody>
      </p:sp>
      <p:sp>
        <p:nvSpPr>
          <p:cNvPr id="3" name="Text 1"/>
          <p:cNvSpPr txBox="1"/>
          <p:nvPr/>
        </p:nvSpPr>
        <p:spPr>
          <a:xfrm>
            <a:off x="548640" y="987552"/>
            <a:ext cx="11064240" cy="365760"/>
          </a:xfrm>
          <a:prstGeom prst="rect">
            <a:avLst/>
          </a:prstGeom>
          <a:noFill/>
          <a:ln/>
        </p:spPr>
        <p:txBody>
          <a:bodyPr wrap="square" lIns="0" tIns="0" rIns="0" bIns="0" rtlCol="0" anchor="ctr"/>
          <a:lstStyle/>
          <a:p>
            <a:pPr marL="0" indent="0">
              <a:buNone/>
            </a:pPr>
            <a:r>
              <a:rPr lang="en-US" sz="1400" i="1" dirty="0">
                <a:solidFill>
                  <a:srgbClr val="6E7F88"/>
                </a:solidFill>
                <a:latin typeface="Calibri" pitchFamily="34" charset="0"/>
                <a:ea typeface="Calibri" pitchFamily="34" charset="-122"/>
                <a:cs typeface="Calibri" pitchFamily="34" charset="-120"/>
              </a:rPr>
              <a:t>Что дано, что требуется получить и чем в этой задаче измеряется успех</a:t>
            </a:r>
            <a:endParaRPr lang="en-US" sz="1400" dirty="0"/>
          </a:p>
        </p:txBody>
      </p:sp>
      <p:sp>
        <p:nvSpPr>
          <p:cNvPr id="4" name="Shape 2"/>
          <p:cNvSpPr/>
          <p:nvPr/>
        </p:nvSpPr>
        <p:spPr>
          <a:xfrm>
            <a:off x="548640" y="1600200"/>
            <a:ext cx="5394960" cy="2240280"/>
          </a:xfrm>
          <a:prstGeom prst="roundRect">
            <a:avLst>
              <a:gd name="adj" fmla="val 3265"/>
            </a:avLst>
          </a:prstGeom>
          <a:solidFill>
            <a:srgbClr val="F4EFEA"/>
          </a:solidFill>
          <a:ln w="9525">
            <a:solidFill>
              <a:srgbClr val="F4EFEA"/>
            </a:solidFill>
            <a:prstDash val="solid"/>
          </a:ln>
        </p:spPr>
      </p:sp>
      <p:sp>
        <p:nvSpPr>
          <p:cNvPr id="5" name="Text 3"/>
          <p:cNvSpPr txBox="1"/>
          <p:nvPr/>
        </p:nvSpPr>
        <p:spPr>
          <a:xfrm>
            <a:off x="822960" y="1764792"/>
            <a:ext cx="4846320" cy="320040"/>
          </a:xfrm>
          <a:prstGeom prst="rect">
            <a:avLst/>
          </a:prstGeom>
          <a:noFill/>
          <a:ln/>
        </p:spPr>
        <p:txBody>
          <a:bodyPr wrap="square" lIns="0" tIns="0" rIns="0" bIns="0" rtlCol="0" anchor="ctr"/>
          <a:lstStyle/>
          <a:p>
            <a:pPr marL="0" indent="0">
              <a:buNone/>
            </a:pPr>
            <a:r>
              <a:rPr lang="en-US" sz="1700" b="1" dirty="0">
                <a:solidFill>
                  <a:srgbClr val="C15B33"/>
                </a:solidFill>
                <a:latin typeface="Calibri" pitchFamily="34" charset="0"/>
                <a:ea typeface="Calibri" pitchFamily="34" charset="-122"/>
                <a:cs typeface="Calibri" pitchFamily="34" charset="-120"/>
              </a:rPr>
              <a:t>Дано</a:t>
            </a:r>
            <a:endParaRPr lang="en-US" sz="1700" dirty="0"/>
          </a:p>
        </p:txBody>
      </p:sp>
      <p:sp>
        <p:nvSpPr>
          <p:cNvPr id="6" name="Text 4"/>
          <p:cNvSpPr txBox="1"/>
          <p:nvPr/>
        </p:nvSpPr>
        <p:spPr>
          <a:xfrm>
            <a:off x="822960" y="2148840"/>
            <a:ext cx="4846320" cy="1600200"/>
          </a:xfrm>
          <a:prstGeom prst="rect">
            <a:avLst/>
          </a:prstGeom>
          <a:noFill/>
          <a:ln/>
        </p:spPr>
        <p:txBody>
          <a:bodyPr wrap="square" lIns="0" tIns="0" rIns="0" bIns="0" rtlCol="0" anchor="t"/>
          <a:lstStyle/>
          <a:p>
            <a:pPr marL="0" indent="0">
              <a:lnSpc>
                <a:spcPct val="112000"/>
              </a:lnSpc>
              <a:spcAft>
                <a:spcPts val="800"/>
              </a:spcAft>
              <a:buNone/>
            </a:pPr>
            <a:r>
              <a:rPr lang="en-US" sz="1300" dirty="0">
                <a:solidFill>
                  <a:srgbClr val="1B2A32"/>
                </a:solidFill>
                <a:latin typeface="Calibri" pitchFamily="34" charset="0"/>
                <a:ea typeface="Calibri" pitchFamily="34" charset="-122"/>
                <a:cs typeface="Calibri" pitchFamily="34" charset="-120"/>
              </a:rPr>
              <a:t>Композит 10 каналов Sentinel-1/2 по листу R-48-XI,XII: яркость оптики, NDVI, радар VV и VH, шесть мер интерферометрической когерентности. Шаг 100 м, площадка 86 × 77 км.</a:t>
            </a:r>
            <a:endParaRPr lang="en-US" sz="1300" dirty="0"/>
          </a:p>
          <a:p>
            <a:pPr marL="0" indent="0">
              <a:lnSpc>
                <a:spcPct val="112000"/>
              </a:lnSpc>
              <a:spcAft>
                <a:spcPts val="800"/>
              </a:spcAft>
              <a:buNone/>
            </a:pPr>
            <a:r>
              <a:rPr lang="en-US" sz="1300" dirty="0">
                <a:solidFill>
                  <a:srgbClr val="1B2A32"/>
                </a:solidFill>
                <a:latin typeface="Calibri" pitchFamily="34" charset="0"/>
                <a:ea typeface="Calibri" pitchFamily="34" charset="-122"/>
                <a:cs typeface="Calibri" pitchFamily="34" charset="-120"/>
              </a:rPr>
              <a:t>Ручной разметки линеаментов в поставке нет — эталона для сравнения не существует.</a:t>
            </a:r>
            <a:endParaRPr lang="en-US" sz="1300" dirty="0"/>
          </a:p>
        </p:txBody>
      </p:sp>
      <p:sp>
        <p:nvSpPr>
          <p:cNvPr id="7" name="Shape 5"/>
          <p:cNvSpPr/>
          <p:nvPr/>
        </p:nvSpPr>
        <p:spPr>
          <a:xfrm>
            <a:off x="6263640" y="1600200"/>
            <a:ext cx="5394960" cy="2240280"/>
          </a:xfrm>
          <a:prstGeom prst="roundRect">
            <a:avLst>
              <a:gd name="adj" fmla="val 3265"/>
            </a:avLst>
          </a:prstGeom>
          <a:solidFill>
            <a:srgbClr val="EAF0F3"/>
          </a:solidFill>
          <a:ln w="9525">
            <a:solidFill>
              <a:srgbClr val="EAF0F3"/>
            </a:solidFill>
            <a:prstDash val="solid"/>
          </a:ln>
        </p:spPr>
      </p:sp>
      <p:sp>
        <p:nvSpPr>
          <p:cNvPr id="8" name="Text 6"/>
          <p:cNvSpPr txBox="1"/>
          <p:nvPr/>
        </p:nvSpPr>
        <p:spPr>
          <a:xfrm>
            <a:off x="6537960" y="1764792"/>
            <a:ext cx="4846320" cy="320040"/>
          </a:xfrm>
          <a:prstGeom prst="rect">
            <a:avLst/>
          </a:prstGeom>
          <a:noFill/>
          <a:ln/>
        </p:spPr>
        <p:txBody>
          <a:bodyPr wrap="square" lIns="0" tIns="0" rIns="0" bIns="0" rtlCol="0" anchor="ctr"/>
          <a:lstStyle/>
          <a:p>
            <a:pPr marL="0" indent="0">
              <a:buNone/>
            </a:pPr>
            <a:r>
              <a:rPr lang="en-US" sz="1700" b="1" dirty="0">
                <a:solidFill>
                  <a:srgbClr val="3E6E8E"/>
                </a:solidFill>
                <a:latin typeface="Calibri" pitchFamily="34" charset="0"/>
                <a:ea typeface="Calibri" pitchFamily="34" charset="-122"/>
                <a:cs typeface="Calibri" pitchFamily="34" charset="-120"/>
              </a:rPr>
              <a:t>Требуется</a:t>
            </a:r>
            <a:endParaRPr lang="en-US" sz="1700" dirty="0"/>
          </a:p>
        </p:txBody>
      </p:sp>
      <p:sp>
        <p:nvSpPr>
          <p:cNvPr id="9" name="Text 7"/>
          <p:cNvSpPr txBox="1"/>
          <p:nvPr/>
        </p:nvSpPr>
        <p:spPr>
          <a:xfrm>
            <a:off x="6537960" y="2148840"/>
            <a:ext cx="4846320" cy="1600200"/>
          </a:xfrm>
          <a:prstGeom prst="rect">
            <a:avLst/>
          </a:prstGeom>
          <a:noFill/>
          <a:ln/>
        </p:spPr>
        <p:txBody>
          <a:bodyPr wrap="square" lIns="0" tIns="0" rIns="0" bIns="0" rtlCol="0" anchor="t"/>
          <a:lstStyle/>
          <a:p>
            <a:pPr marL="0" indent="0">
              <a:lnSpc>
                <a:spcPct val="112000"/>
              </a:lnSpc>
              <a:spcAft>
                <a:spcPts val="800"/>
              </a:spcAft>
              <a:buNone/>
            </a:pPr>
            <a:r>
              <a:rPr lang="en-US" sz="1300" dirty="0">
                <a:solidFill>
                  <a:srgbClr val="1B2A32"/>
                </a:solidFill>
                <a:latin typeface="Calibri" pitchFamily="34" charset="0"/>
                <a:ea typeface="Calibri" pitchFamily="34" charset="-122"/>
                <a:cs typeface="Calibri" pitchFamily="34" charset="-120"/>
              </a:rPr>
              <a:t>Выделить протяжённые линейные элементы поверхности прямо из снимка, без обучения на разметке.</a:t>
            </a:r>
            <a:endParaRPr lang="en-US" sz="1300" dirty="0"/>
          </a:p>
          <a:p>
            <a:pPr marL="0" indent="0">
              <a:lnSpc>
                <a:spcPct val="112000"/>
              </a:lnSpc>
              <a:spcAft>
                <a:spcPts val="800"/>
              </a:spcAft>
              <a:buNone/>
            </a:pPr>
            <a:r>
              <a:rPr lang="en-US" sz="1300" dirty="0">
                <a:solidFill>
                  <a:srgbClr val="1B2A32"/>
                </a:solidFill>
                <a:latin typeface="Calibri" pitchFamily="34" charset="0"/>
                <a:ea typeface="Calibri" pitchFamily="34" charset="-122"/>
                <a:cs typeface="Calibri" pitchFamily="34" charset="-120"/>
              </a:rPr>
              <a:t>Дать каждой линии оценку достоверности и сделать метод воспроизводимым и переносимым на другие площадки.</a:t>
            </a:r>
            <a:endParaRPr lang="en-US" sz="1300" dirty="0"/>
          </a:p>
        </p:txBody>
      </p:sp>
      <p:sp>
        <p:nvSpPr>
          <p:cNvPr id="10" name="Shape 8"/>
          <p:cNvSpPr/>
          <p:nvPr/>
        </p:nvSpPr>
        <p:spPr>
          <a:xfrm>
            <a:off x="548640" y="4114800"/>
            <a:ext cx="11109960" cy="1691640"/>
          </a:xfrm>
          <a:prstGeom prst="roundRect">
            <a:avLst>
              <a:gd name="adj" fmla="val 4324"/>
            </a:avLst>
          </a:prstGeom>
          <a:solidFill>
            <a:srgbClr val="FBFAF8"/>
          </a:solidFill>
          <a:ln w="9525">
            <a:solidFill>
              <a:srgbClr val="FBFAF8"/>
            </a:solidFill>
            <a:prstDash val="solid"/>
          </a:ln>
        </p:spPr>
      </p:sp>
      <p:sp>
        <p:nvSpPr>
          <p:cNvPr id="11" name="Text 9"/>
          <p:cNvSpPr txBox="1"/>
          <p:nvPr/>
        </p:nvSpPr>
        <p:spPr>
          <a:xfrm>
            <a:off x="822959" y="4279392"/>
            <a:ext cx="10227049" cy="320040"/>
          </a:xfrm>
          <a:prstGeom prst="rect">
            <a:avLst/>
          </a:prstGeom>
          <a:noFill/>
          <a:ln/>
        </p:spPr>
        <p:txBody>
          <a:bodyPr wrap="square" lIns="0" tIns="0" rIns="0" bIns="0" rtlCol="0" anchor="ctr"/>
          <a:lstStyle/>
          <a:p>
            <a:pPr marL="0" indent="0">
              <a:buNone/>
            </a:pPr>
            <a:r>
              <a:rPr lang="en-US" sz="1500" b="1" dirty="0">
                <a:solidFill>
                  <a:srgbClr val="1B2A32"/>
                </a:solidFill>
                <a:latin typeface="Calibri" pitchFamily="34" charset="0"/>
                <a:ea typeface="Calibri" pitchFamily="34" charset="-122"/>
                <a:cs typeface="Calibri" pitchFamily="34" charset="-120"/>
              </a:rPr>
              <a:t>Критерий успеха при отсутствии эталона</a:t>
            </a:r>
            <a:endParaRPr lang="en-US" sz="1500" dirty="0"/>
          </a:p>
        </p:txBody>
      </p:sp>
      <p:sp>
        <p:nvSpPr>
          <p:cNvPr id="12" name="Text 10"/>
          <p:cNvSpPr txBox="1"/>
          <p:nvPr/>
        </p:nvSpPr>
        <p:spPr>
          <a:xfrm>
            <a:off x="822959" y="4626864"/>
            <a:ext cx="10227049" cy="1051560"/>
          </a:xfrm>
          <a:prstGeom prst="rect">
            <a:avLst/>
          </a:prstGeom>
          <a:noFill/>
          <a:ln/>
        </p:spPr>
        <p:txBody>
          <a:bodyPr wrap="square" lIns="0" tIns="0" rIns="0" bIns="0" rtlCol="0" anchor="ctr"/>
          <a:lstStyle/>
          <a:p>
            <a:pPr marL="0" indent="0">
              <a:lnSpc>
                <a:spcPct val="112000"/>
              </a:lnSpc>
              <a:buNone/>
            </a:pPr>
            <a:r>
              <a:rPr lang="en-US" sz="1300" dirty="0">
                <a:solidFill>
                  <a:srgbClr val="1B2A32"/>
                </a:solidFill>
                <a:latin typeface="Calibri" pitchFamily="34" charset="0"/>
                <a:ea typeface="Calibri" pitchFamily="34" charset="-122"/>
                <a:cs typeface="Calibri" pitchFamily="34" charset="-120"/>
              </a:rPr>
              <a:t>Воспроизводимость на физически независимых данных: линия засчитывается, только если её независимо видят оптика и радар. Значимость меряется относительно нуль-модели — тороидального сдвига одной карты относительно другой.</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marL="0" indent="0">
              <a:buNone/>
            </a:pPr>
            <a:r>
              <a:rPr lang="en-US" sz="3200" b="1" dirty="0">
                <a:solidFill>
                  <a:srgbClr val="1B2A32"/>
                </a:solidFill>
                <a:latin typeface="Cambria" pitchFamily="34" charset="0"/>
                <a:ea typeface="Cambria" pitchFamily="34" charset="-122"/>
                <a:cs typeface="Cambria" pitchFamily="34" charset="-120"/>
              </a:rPr>
              <a:t>Метод: пять детерминированных шагов</a:t>
            </a:r>
            <a:endParaRPr lang="en-US" sz="3200" dirty="0"/>
          </a:p>
        </p:txBody>
      </p:sp>
      <p:sp>
        <p:nvSpPr>
          <p:cNvPr id="3" name="Text 1"/>
          <p:cNvSpPr txBox="1"/>
          <p:nvPr/>
        </p:nvSpPr>
        <p:spPr>
          <a:xfrm>
            <a:off x="548640" y="987552"/>
            <a:ext cx="11064240" cy="365760"/>
          </a:xfrm>
          <a:prstGeom prst="rect">
            <a:avLst/>
          </a:prstGeom>
          <a:noFill/>
          <a:ln/>
        </p:spPr>
        <p:txBody>
          <a:bodyPr wrap="square" lIns="0" tIns="0" rIns="0" bIns="0" rtlCol="0" anchor="ctr"/>
          <a:lstStyle/>
          <a:p>
            <a:pPr marL="0" indent="0">
              <a:buNone/>
            </a:pPr>
            <a:r>
              <a:rPr lang="en-US" sz="1400" i="1" dirty="0">
                <a:solidFill>
                  <a:srgbClr val="6E7F88"/>
                </a:solidFill>
                <a:latin typeface="Calibri" pitchFamily="34" charset="0"/>
                <a:ea typeface="Calibri" pitchFamily="34" charset="-122"/>
                <a:cs typeface="Calibri" pitchFamily="34" charset="-120"/>
              </a:rPr>
              <a:t>Ни случайности, ни обучения на разметке — повторный запуск даёт побайтно тот же результат</a:t>
            </a:r>
            <a:endParaRPr lang="en-US" sz="1400" dirty="0"/>
          </a:p>
        </p:txBody>
      </p:sp>
      <p:sp>
        <p:nvSpPr>
          <p:cNvPr id="4" name="Shape 2"/>
          <p:cNvSpPr/>
          <p:nvPr/>
        </p:nvSpPr>
        <p:spPr>
          <a:xfrm>
            <a:off x="548640" y="1874520"/>
            <a:ext cx="2011680" cy="2286000"/>
          </a:xfrm>
          <a:prstGeom prst="roundRect">
            <a:avLst>
              <a:gd name="adj" fmla="val 3636"/>
            </a:avLst>
          </a:prstGeom>
          <a:solidFill>
            <a:srgbClr val="F0EBE3"/>
          </a:solidFill>
          <a:ln w="9525">
            <a:solidFill>
              <a:srgbClr val="F0EBE3"/>
            </a:solidFill>
            <a:prstDash val="solid"/>
          </a:ln>
        </p:spPr>
      </p:sp>
      <p:sp>
        <p:nvSpPr>
          <p:cNvPr id="5" name="Shape 3"/>
          <p:cNvSpPr/>
          <p:nvPr/>
        </p:nvSpPr>
        <p:spPr>
          <a:xfrm>
            <a:off x="1362456" y="2057400"/>
            <a:ext cx="384048" cy="384048"/>
          </a:xfrm>
          <a:prstGeom prst="ellipse">
            <a:avLst/>
          </a:prstGeom>
          <a:solidFill>
            <a:srgbClr val="1B2A32"/>
          </a:solidFill>
          <a:ln w="12700">
            <a:solidFill>
              <a:srgbClr val="1B2A32"/>
            </a:solidFill>
            <a:prstDash val="solid"/>
          </a:ln>
        </p:spPr>
      </p:sp>
      <p:sp>
        <p:nvSpPr>
          <p:cNvPr id="6" name="Text 4"/>
          <p:cNvSpPr txBox="1"/>
          <p:nvPr/>
        </p:nvSpPr>
        <p:spPr>
          <a:xfrm>
            <a:off x="1362456" y="205740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658368" y="2606040"/>
            <a:ext cx="1792224" cy="685800"/>
          </a:xfrm>
          <a:prstGeom prst="rect">
            <a:avLst/>
          </a:prstGeom>
          <a:noFill/>
          <a:ln/>
        </p:spPr>
        <p:txBody>
          <a:bodyPr wrap="square" lIns="0" tIns="0" rIns="0" bIns="0" rtlCol="0" anchor="t"/>
          <a:lstStyle/>
          <a:p>
            <a:pPr marL="0" indent="0" algn="ctr">
              <a:buNone/>
            </a:pPr>
            <a:r>
              <a:rPr lang="en-US" sz="1400" b="1" dirty="0">
                <a:solidFill>
                  <a:srgbClr val="1B2A32"/>
                </a:solidFill>
                <a:latin typeface="Calibri" pitchFamily="34" charset="0"/>
                <a:ea typeface="Calibri" pitchFamily="34" charset="-122"/>
                <a:cs typeface="Calibri" pitchFamily="34" charset="-120"/>
              </a:rPr>
              <a:t>Признаки</a:t>
            </a:r>
            <a:endParaRPr lang="en-US" sz="1400" dirty="0"/>
          </a:p>
          <a:p>
            <a:pPr marL="0" indent="0" algn="ctr">
              <a:buNone/>
            </a:pPr>
            <a:r>
              <a:rPr lang="en-US" sz="1400" b="1" dirty="0">
                <a:solidFill>
                  <a:srgbClr val="1B2A32"/>
                </a:solidFill>
                <a:latin typeface="Calibri" pitchFamily="34" charset="0"/>
                <a:ea typeface="Calibri" pitchFamily="34" charset="-122"/>
                <a:cs typeface="Calibri" pitchFamily="34" charset="-120"/>
              </a:rPr>
              <a:t>окрестности</a:t>
            </a:r>
            <a:endParaRPr lang="en-US" sz="1400" dirty="0"/>
          </a:p>
        </p:txBody>
      </p:sp>
      <p:sp>
        <p:nvSpPr>
          <p:cNvPr id="8" name="Text 6"/>
          <p:cNvSpPr txBox="1"/>
          <p:nvPr/>
        </p:nvSpPr>
        <p:spPr>
          <a:xfrm>
            <a:off x="658368" y="3310128"/>
            <a:ext cx="1792224" cy="731520"/>
          </a:xfrm>
          <a:prstGeom prst="rect">
            <a:avLst/>
          </a:prstGeom>
          <a:noFill/>
          <a:ln/>
        </p:spPr>
        <p:txBody>
          <a:bodyPr wrap="square" lIns="0" tIns="0" rIns="0" bIns="0" rtlCol="0" anchor="t"/>
          <a:lstStyle/>
          <a:p>
            <a:pPr marL="0" indent="0" algn="ctr">
              <a:buNone/>
            </a:pPr>
            <a:r>
              <a:rPr lang="en-US" sz="1150" dirty="0">
                <a:solidFill>
                  <a:srgbClr val="6E7F88"/>
                </a:solidFill>
                <a:latin typeface="Calibri" pitchFamily="34" charset="0"/>
                <a:ea typeface="Calibri" pitchFamily="34" charset="-122"/>
                <a:cs typeface="Calibri" pitchFamily="34" charset="-120"/>
              </a:rPr>
              <a:t>10 каналов × 3 масштаба</a:t>
            </a:r>
            <a:endParaRPr lang="en-US" sz="1150" dirty="0"/>
          </a:p>
          <a:p>
            <a:pPr marL="0" indent="0" algn="ctr">
              <a:buNone/>
            </a:pPr>
            <a:r>
              <a:rPr lang="en-US" sz="1150" dirty="0">
                <a:solidFill>
                  <a:srgbClr val="6E7F88"/>
                </a:solidFill>
                <a:latin typeface="Calibri" pitchFamily="34" charset="0"/>
                <a:ea typeface="Calibri" pitchFamily="34" charset="-122"/>
                <a:cs typeface="Calibri" pitchFamily="34" charset="-120"/>
              </a:rPr>
              <a:t>→ 160 признаков</a:t>
            </a:r>
            <a:endParaRPr lang="en-US" sz="1150" dirty="0"/>
          </a:p>
        </p:txBody>
      </p:sp>
      <p:sp>
        <p:nvSpPr>
          <p:cNvPr id="9" name="Text 7"/>
          <p:cNvSpPr txBox="1"/>
          <p:nvPr/>
        </p:nvSpPr>
        <p:spPr>
          <a:xfrm>
            <a:off x="2560320" y="2788920"/>
            <a:ext cx="274320" cy="365760"/>
          </a:xfrm>
          <a:prstGeom prst="rect">
            <a:avLst/>
          </a:prstGeom>
          <a:noFill/>
          <a:ln/>
        </p:spPr>
        <p:txBody>
          <a:bodyPr wrap="square" lIns="0" tIns="0" rIns="0" bIns="0" rtlCol="0" anchor="ctr"/>
          <a:lstStyle/>
          <a:p>
            <a:pPr marL="0" indent="0" algn="ctr">
              <a:buNone/>
            </a:pPr>
            <a:r>
              <a:rPr lang="en-US" sz="1800" dirty="0">
                <a:solidFill>
                  <a:srgbClr val="D8D2C8"/>
                </a:solidFill>
                <a:latin typeface="Calibri" pitchFamily="34" charset="0"/>
                <a:ea typeface="Calibri" pitchFamily="34" charset="-122"/>
                <a:cs typeface="Calibri" pitchFamily="34" charset="-120"/>
              </a:rPr>
              <a:t>→</a:t>
            </a:r>
            <a:endParaRPr lang="en-US" sz="1800" dirty="0"/>
          </a:p>
        </p:txBody>
      </p:sp>
      <p:sp>
        <p:nvSpPr>
          <p:cNvPr id="10" name="Shape 8"/>
          <p:cNvSpPr/>
          <p:nvPr/>
        </p:nvSpPr>
        <p:spPr>
          <a:xfrm>
            <a:off x="2834640" y="1874520"/>
            <a:ext cx="2011680" cy="2286000"/>
          </a:xfrm>
          <a:prstGeom prst="roundRect">
            <a:avLst>
              <a:gd name="adj" fmla="val 3636"/>
            </a:avLst>
          </a:prstGeom>
          <a:solidFill>
            <a:srgbClr val="F0EBE3"/>
          </a:solidFill>
          <a:ln w="9525">
            <a:solidFill>
              <a:srgbClr val="F0EBE3"/>
            </a:solidFill>
            <a:prstDash val="solid"/>
          </a:ln>
        </p:spPr>
      </p:sp>
      <p:sp>
        <p:nvSpPr>
          <p:cNvPr id="11" name="Shape 9"/>
          <p:cNvSpPr/>
          <p:nvPr/>
        </p:nvSpPr>
        <p:spPr>
          <a:xfrm>
            <a:off x="3648456" y="2057400"/>
            <a:ext cx="384048" cy="384048"/>
          </a:xfrm>
          <a:prstGeom prst="ellipse">
            <a:avLst/>
          </a:prstGeom>
          <a:solidFill>
            <a:srgbClr val="1B2A32"/>
          </a:solidFill>
          <a:ln w="12700">
            <a:solidFill>
              <a:srgbClr val="1B2A32"/>
            </a:solidFill>
            <a:prstDash val="solid"/>
          </a:ln>
        </p:spPr>
      </p:sp>
      <p:sp>
        <p:nvSpPr>
          <p:cNvPr id="12" name="Text 10"/>
          <p:cNvSpPr txBox="1"/>
          <p:nvPr/>
        </p:nvSpPr>
        <p:spPr>
          <a:xfrm>
            <a:off x="3648456" y="205740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3" name="Text 11"/>
          <p:cNvSpPr txBox="1"/>
          <p:nvPr/>
        </p:nvSpPr>
        <p:spPr>
          <a:xfrm>
            <a:off x="2944368" y="2606040"/>
            <a:ext cx="1792224" cy="685800"/>
          </a:xfrm>
          <a:prstGeom prst="rect">
            <a:avLst/>
          </a:prstGeom>
          <a:noFill/>
          <a:ln/>
        </p:spPr>
        <p:txBody>
          <a:bodyPr wrap="square" lIns="0" tIns="0" rIns="0" bIns="0" rtlCol="0" anchor="t"/>
          <a:lstStyle/>
          <a:p>
            <a:pPr marL="0" indent="0" algn="ctr">
              <a:buNone/>
            </a:pPr>
            <a:r>
              <a:rPr lang="en-US" sz="1400" b="1" dirty="0">
                <a:solidFill>
                  <a:srgbClr val="1B2A32"/>
                </a:solidFill>
                <a:latin typeface="Calibri" pitchFamily="34" charset="0"/>
                <a:ea typeface="Calibri" pitchFamily="34" charset="-122"/>
                <a:cs typeface="Calibri" pitchFamily="34" charset="-120"/>
              </a:rPr>
              <a:t>Сжатие</a:t>
            </a:r>
            <a:endParaRPr lang="en-US" sz="1400" dirty="0"/>
          </a:p>
        </p:txBody>
      </p:sp>
      <p:sp>
        <p:nvSpPr>
          <p:cNvPr id="14" name="Text 12"/>
          <p:cNvSpPr txBox="1"/>
          <p:nvPr/>
        </p:nvSpPr>
        <p:spPr>
          <a:xfrm>
            <a:off x="2944368" y="3310128"/>
            <a:ext cx="1792224" cy="731520"/>
          </a:xfrm>
          <a:prstGeom prst="rect">
            <a:avLst/>
          </a:prstGeom>
          <a:noFill/>
          <a:ln/>
        </p:spPr>
        <p:txBody>
          <a:bodyPr wrap="square" lIns="0" tIns="0" rIns="0" bIns="0" rtlCol="0" anchor="t"/>
          <a:lstStyle/>
          <a:p>
            <a:pPr marL="0" indent="0" algn="ctr">
              <a:buNone/>
            </a:pPr>
            <a:r>
              <a:rPr lang="en-US" sz="1150" dirty="0">
                <a:solidFill>
                  <a:srgbClr val="6E7F88"/>
                </a:solidFill>
                <a:latin typeface="Calibri" pitchFamily="34" charset="0"/>
                <a:ea typeface="Calibri" pitchFamily="34" charset="-122"/>
                <a:cs typeface="Calibri" pitchFamily="34" charset="-120"/>
              </a:rPr>
              <a:t>160 → 8 компонент</a:t>
            </a:r>
            <a:endParaRPr lang="en-US" sz="1150" dirty="0"/>
          </a:p>
          <a:p>
            <a:pPr marL="0" indent="0" algn="ctr">
              <a:buNone/>
            </a:pPr>
            <a:r>
              <a:rPr lang="en-US" sz="1150" dirty="0">
                <a:solidFill>
                  <a:srgbClr val="6E7F88"/>
                </a:solidFill>
                <a:latin typeface="Calibri" pitchFamily="34" charset="0"/>
                <a:ea typeface="Calibri" pitchFamily="34" charset="-122"/>
                <a:cs typeface="Calibri" pitchFamily="34" charset="-120"/>
              </a:rPr>
              <a:t>PCA и автоэнкодер</a:t>
            </a:r>
            <a:endParaRPr lang="en-US" sz="1150" dirty="0"/>
          </a:p>
        </p:txBody>
      </p:sp>
      <p:sp>
        <p:nvSpPr>
          <p:cNvPr id="15" name="Text 13"/>
          <p:cNvSpPr txBox="1"/>
          <p:nvPr/>
        </p:nvSpPr>
        <p:spPr>
          <a:xfrm>
            <a:off x="4846320" y="2788920"/>
            <a:ext cx="274320" cy="365760"/>
          </a:xfrm>
          <a:prstGeom prst="rect">
            <a:avLst/>
          </a:prstGeom>
          <a:noFill/>
          <a:ln/>
        </p:spPr>
        <p:txBody>
          <a:bodyPr wrap="square" lIns="0" tIns="0" rIns="0" bIns="0" rtlCol="0" anchor="ctr"/>
          <a:lstStyle/>
          <a:p>
            <a:pPr marL="0" indent="0" algn="ctr">
              <a:buNone/>
            </a:pPr>
            <a:r>
              <a:rPr lang="en-US" sz="1800" dirty="0">
                <a:solidFill>
                  <a:srgbClr val="D8D2C8"/>
                </a:solidFill>
                <a:latin typeface="Calibri" pitchFamily="34" charset="0"/>
                <a:ea typeface="Calibri" pitchFamily="34" charset="-122"/>
                <a:cs typeface="Calibri" pitchFamily="34" charset="-120"/>
              </a:rPr>
              <a:t>→</a:t>
            </a:r>
            <a:endParaRPr lang="en-US" sz="1800" dirty="0"/>
          </a:p>
        </p:txBody>
      </p:sp>
      <p:sp>
        <p:nvSpPr>
          <p:cNvPr id="16" name="Shape 14"/>
          <p:cNvSpPr/>
          <p:nvPr/>
        </p:nvSpPr>
        <p:spPr>
          <a:xfrm>
            <a:off x="5120640" y="1874520"/>
            <a:ext cx="2011680" cy="2286000"/>
          </a:xfrm>
          <a:prstGeom prst="roundRect">
            <a:avLst>
              <a:gd name="adj" fmla="val 3636"/>
            </a:avLst>
          </a:prstGeom>
          <a:solidFill>
            <a:srgbClr val="F0EBE3"/>
          </a:solidFill>
          <a:ln w="9525">
            <a:solidFill>
              <a:srgbClr val="F0EBE3"/>
            </a:solidFill>
            <a:prstDash val="solid"/>
          </a:ln>
        </p:spPr>
      </p:sp>
      <p:sp>
        <p:nvSpPr>
          <p:cNvPr id="17" name="Shape 15"/>
          <p:cNvSpPr/>
          <p:nvPr/>
        </p:nvSpPr>
        <p:spPr>
          <a:xfrm>
            <a:off x="5934456" y="2057400"/>
            <a:ext cx="384048" cy="384048"/>
          </a:xfrm>
          <a:prstGeom prst="ellipse">
            <a:avLst/>
          </a:prstGeom>
          <a:solidFill>
            <a:srgbClr val="1B2A32"/>
          </a:solidFill>
          <a:ln w="12700">
            <a:solidFill>
              <a:srgbClr val="1B2A32"/>
            </a:solidFill>
            <a:prstDash val="solid"/>
          </a:ln>
        </p:spPr>
      </p:sp>
      <p:sp>
        <p:nvSpPr>
          <p:cNvPr id="18" name="Text 16"/>
          <p:cNvSpPr txBox="1"/>
          <p:nvPr/>
        </p:nvSpPr>
        <p:spPr>
          <a:xfrm>
            <a:off x="5934456" y="205740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9" name="Text 17"/>
          <p:cNvSpPr txBox="1"/>
          <p:nvPr/>
        </p:nvSpPr>
        <p:spPr>
          <a:xfrm>
            <a:off x="5230368" y="2606040"/>
            <a:ext cx="1792224" cy="685800"/>
          </a:xfrm>
          <a:prstGeom prst="rect">
            <a:avLst/>
          </a:prstGeom>
          <a:noFill/>
          <a:ln/>
        </p:spPr>
        <p:txBody>
          <a:bodyPr wrap="square" lIns="0" tIns="0" rIns="0" bIns="0" rtlCol="0" anchor="t"/>
          <a:lstStyle/>
          <a:p>
            <a:pPr marL="0" indent="0" algn="ctr">
              <a:buNone/>
            </a:pPr>
            <a:r>
              <a:rPr lang="en-US" sz="1400" b="1" dirty="0">
                <a:solidFill>
                  <a:srgbClr val="1B2A32"/>
                </a:solidFill>
                <a:latin typeface="Calibri" pitchFamily="34" charset="0"/>
                <a:ea typeface="Calibri" pitchFamily="34" charset="-122"/>
                <a:cs typeface="Calibri" pitchFamily="34" charset="-120"/>
              </a:rPr>
              <a:t>Оператор</a:t>
            </a:r>
            <a:endParaRPr lang="en-US" sz="1400" dirty="0"/>
          </a:p>
          <a:p>
            <a:pPr marL="0" indent="0" algn="ctr">
              <a:buNone/>
            </a:pPr>
            <a:r>
              <a:rPr lang="en-US" sz="1400" b="1" dirty="0">
                <a:solidFill>
                  <a:srgbClr val="1B2A32"/>
                </a:solidFill>
                <a:latin typeface="Calibri" pitchFamily="34" charset="0"/>
                <a:ea typeface="Calibri" pitchFamily="34" charset="-122"/>
                <a:cs typeface="Calibri" pitchFamily="34" charset="-120"/>
              </a:rPr>
              <a:t>границы</a:t>
            </a:r>
            <a:endParaRPr lang="en-US" sz="1400" dirty="0"/>
          </a:p>
        </p:txBody>
      </p:sp>
      <p:sp>
        <p:nvSpPr>
          <p:cNvPr id="20" name="Text 18"/>
          <p:cNvSpPr txBox="1"/>
          <p:nvPr/>
        </p:nvSpPr>
        <p:spPr>
          <a:xfrm>
            <a:off x="5230368" y="3310128"/>
            <a:ext cx="1792224" cy="731520"/>
          </a:xfrm>
          <a:prstGeom prst="rect">
            <a:avLst/>
          </a:prstGeom>
          <a:noFill/>
          <a:ln/>
        </p:spPr>
        <p:txBody>
          <a:bodyPr wrap="square" lIns="0" tIns="0" rIns="0" bIns="0" rtlCol="0" anchor="t"/>
          <a:lstStyle/>
          <a:p>
            <a:pPr marL="0" indent="0" algn="ctr">
              <a:buNone/>
            </a:pPr>
            <a:r>
              <a:rPr lang="en-US" sz="1150" dirty="0">
                <a:solidFill>
                  <a:srgbClr val="6E7F88"/>
                </a:solidFill>
                <a:latin typeface="Calibri" pitchFamily="34" charset="0"/>
                <a:ea typeface="Calibri" pitchFamily="34" charset="-122"/>
                <a:cs typeface="Calibri" pitchFamily="34" charset="-120"/>
              </a:rPr>
              <a:t>12 направлений,</a:t>
            </a:r>
            <a:endParaRPr lang="en-US" sz="1150" dirty="0"/>
          </a:p>
          <a:p>
            <a:pPr marL="0" indent="0" algn="ctr">
              <a:buNone/>
            </a:pPr>
            <a:r>
              <a:rPr lang="en-US" sz="1150" dirty="0">
                <a:solidFill>
                  <a:srgbClr val="6E7F88"/>
                </a:solidFill>
                <a:latin typeface="Calibri" pitchFamily="34" charset="0"/>
                <a:ea typeface="Calibri" pitchFamily="34" charset="-122"/>
                <a:cs typeface="Calibri" pitchFamily="34" charset="-120"/>
              </a:rPr>
              <a:t>сила и азимут линии</a:t>
            </a:r>
            <a:endParaRPr lang="en-US" sz="1150" dirty="0"/>
          </a:p>
        </p:txBody>
      </p:sp>
      <p:sp>
        <p:nvSpPr>
          <p:cNvPr id="21" name="Text 19"/>
          <p:cNvSpPr txBox="1"/>
          <p:nvPr/>
        </p:nvSpPr>
        <p:spPr>
          <a:xfrm>
            <a:off x="7132320" y="2788920"/>
            <a:ext cx="274320" cy="365760"/>
          </a:xfrm>
          <a:prstGeom prst="rect">
            <a:avLst/>
          </a:prstGeom>
          <a:noFill/>
          <a:ln/>
        </p:spPr>
        <p:txBody>
          <a:bodyPr wrap="square" lIns="0" tIns="0" rIns="0" bIns="0" rtlCol="0" anchor="ctr"/>
          <a:lstStyle/>
          <a:p>
            <a:pPr marL="0" indent="0" algn="ctr">
              <a:buNone/>
            </a:pPr>
            <a:r>
              <a:rPr lang="en-US" sz="1800" dirty="0">
                <a:solidFill>
                  <a:srgbClr val="D8D2C8"/>
                </a:solidFill>
                <a:latin typeface="Calibri" pitchFamily="34" charset="0"/>
                <a:ea typeface="Calibri" pitchFamily="34" charset="-122"/>
                <a:cs typeface="Calibri" pitchFamily="34" charset="-120"/>
              </a:rPr>
              <a:t>→</a:t>
            </a:r>
            <a:endParaRPr lang="en-US" sz="1800" dirty="0"/>
          </a:p>
        </p:txBody>
      </p:sp>
      <p:sp>
        <p:nvSpPr>
          <p:cNvPr id="22" name="Shape 20"/>
          <p:cNvSpPr/>
          <p:nvPr/>
        </p:nvSpPr>
        <p:spPr>
          <a:xfrm>
            <a:off x="7406640" y="1874520"/>
            <a:ext cx="2011680" cy="2286000"/>
          </a:xfrm>
          <a:prstGeom prst="roundRect">
            <a:avLst>
              <a:gd name="adj" fmla="val 3636"/>
            </a:avLst>
          </a:prstGeom>
          <a:solidFill>
            <a:srgbClr val="F0EBE3"/>
          </a:solidFill>
          <a:ln w="9525">
            <a:solidFill>
              <a:srgbClr val="F0EBE3"/>
            </a:solidFill>
            <a:prstDash val="solid"/>
          </a:ln>
        </p:spPr>
      </p:sp>
      <p:sp>
        <p:nvSpPr>
          <p:cNvPr id="23" name="Shape 21"/>
          <p:cNvSpPr/>
          <p:nvPr/>
        </p:nvSpPr>
        <p:spPr>
          <a:xfrm>
            <a:off x="8220456" y="2057400"/>
            <a:ext cx="384048" cy="384048"/>
          </a:xfrm>
          <a:prstGeom prst="ellipse">
            <a:avLst/>
          </a:prstGeom>
          <a:solidFill>
            <a:srgbClr val="1B2A32"/>
          </a:solidFill>
          <a:ln w="12700">
            <a:solidFill>
              <a:srgbClr val="1B2A32"/>
            </a:solidFill>
            <a:prstDash val="solid"/>
          </a:ln>
        </p:spPr>
      </p:sp>
      <p:sp>
        <p:nvSpPr>
          <p:cNvPr id="24" name="Text 22"/>
          <p:cNvSpPr txBox="1"/>
          <p:nvPr/>
        </p:nvSpPr>
        <p:spPr>
          <a:xfrm>
            <a:off x="8220456" y="205740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5" name="Text 23"/>
          <p:cNvSpPr txBox="1"/>
          <p:nvPr/>
        </p:nvSpPr>
        <p:spPr>
          <a:xfrm>
            <a:off x="7516368" y="2606040"/>
            <a:ext cx="1792224" cy="685800"/>
          </a:xfrm>
          <a:prstGeom prst="rect">
            <a:avLst/>
          </a:prstGeom>
          <a:noFill/>
          <a:ln/>
        </p:spPr>
        <p:txBody>
          <a:bodyPr wrap="square" lIns="0" tIns="0" rIns="0" bIns="0" rtlCol="0" anchor="t"/>
          <a:lstStyle/>
          <a:p>
            <a:pPr marL="0" indent="0" algn="ctr">
              <a:buNone/>
            </a:pPr>
            <a:r>
              <a:rPr lang="en-US" sz="1400" b="1" dirty="0">
                <a:solidFill>
                  <a:srgbClr val="1B2A32"/>
                </a:solidFill>
                <a:latin typeface="Calibri" pitchFamily="34" charset="0"/>
                <a:ea typeface="Calibri" pitchFamily="34" charset="-122"/>
                <a:cs typeface="Calibri" pitchFamily="34" charset="-120"/>
              </a:rPr>
              <a:t>Трассировка</a:t>
            </a:r>
            <a:endParaRPr lang="en-US" sz="1400" dirty="0"/>
          </a:p>
        </p:txBody>
      </p:sp>
      <p:sp>
        <p:nvSpPr>
          <p:cNvPr id="26" name="Text 24"/>
          <p:cNvSpPr txBox="1"/>
          <p:nvPr/>
        </p:nvSpPr>
        <p:spPr>
          <a:xfrm>
            <a:off x="7516368" y="3310128"/>
            <a:ext cx="1792224" cy="731520"/>
          </a:xfrm>
          <a:prstGeom prst="rect">
            <a:avLst/>
          </a:prstGeom>
          <a:noFill/>
          <a:ln/>
        </p:spPr>
        <p:txBody>
          <a:bodyPr wrap="square" lIns="0" tIns="0" rIns="0" bIns="0" rtlCol="0" anchor="t"/>
          <a:lstStyle/>
          <a:p>
            <a:pPr marL="0" indent="0" algn="ctr">
              <a:buNone/>
            </a:pPr>
            <a:r>
              <a:rPr lang="en-US" sz="1150" dirty="0">
                <a:solidFill>
                  <a:srgbClr val="6E7F88"/>
                </a:solidFill>
                <a:latin typeface="Calibri" pitchFamily="34" charset="0"/>
                <a:ea typeface="Calibri" pitchFamily="34" charset="-122"/>
                <a:cs typeface="Calibri" pitchFamily="34" charset="-120"/>
              </a:rPr>
              <a:t>от поля силы</a:t>
            </a:r>
            <a:endParaRPr lang="en-US" sz="1150" dirty="0"/>
          </a:p>
          <a:p>
            <a:pPr marL="0" indent="0" algn="ctr">
              <a:buNone/>
            </a:pPr>
            <a:r>
              <a:rPr lang="en-US" sz="1150" dirty="0">
                <a:solidFill>
                  <a:srgbClr val="6E7F88"/>
                </a:solidFill>
                <a:latin typeface="Calibri" pitchFamily="34" charset="0"/>
                <a:ea typeface="Calibri" pitchFamily="34" charset="-122"/>
                <a:cs typeface="Calibri" pitchFamily="34" charset="-120"/>
              </a:rPr>
              <a:t>к отрезкам</a:t>
            </a:r>
            <a:endParaRPr lang="en-US" sz="1150" dirty="0"/>
          </a:p>
        </p:txBody>
      </p:sp>
      <p:sp>
        <p:nvSpPr>
          <p:cNvPr id="27" name="Text 25"/>
          <p:cNvSpPr txBox="1"/>
          <p:nvPr/>
        </p:nvSpPr>
        <p:spPr>
          <a:xfrm>
            <a:off x="9418320" y="2788920"/>
            <a:ext cx="274320" cy="365760"/>
          </a:xfrm>
          <a:prstGeom prst="rect">
            <a:avLst/>
          </a:prstGeom>
          <a:noFill/>
          <a:ln/>
        </p:spPr>
        <p:txBody>
          <a:bodyPr wrap="square" lIns="0" tIns="0" rIns="0" bIns="0" rtlCol="0" anchor="ctr"/>
          <a:lstStyle/>
          <a:p>
            <a:pPr marL="0" indent="0" algn="ctr">
              <a:buNone/>
            </a:pPr>
            <a:r>
              <a:rPr lang="en-US" sz="1800" dirty="0">
                <a:solidFill>
                  <a:srgbClr val="D8D2C8"/>
                </a:solidFill>
                <a:latin typeface="Calibri" pitchFamily="34" charset="0"/>
                <a:ea typeface="Calibri" pitchFamily="34" charset="-122"/>
                <a:cs typeface="Calibri" pitchFamily="34" charset="-120"/>
              </a:rPr>
              <a:t>→</a:t>
            </a:r>
            <a:endParaRPr lang="en-US" sz="1800" dirty="0"/>
          </a:p>
        </p:txBody>
      </p:sp>
      <p:sp>
        <p:nvSpPr>
          <p:cNvPr id="28" name="Shape 26"/>
          <p:cNvSpPr/>
          <p:nvPr/>
        </p:nvSpPr>
        <p:spPr>
          <a:xfrm>
            <a:off x="9692640" y="1874520"/>
            <a:ext cx="2011680" cy="2286000"/>
          </a:xfrm>
          <a:prstGeom prst="roundRect">
            <a:avLst>
              <a:gd name="adj" fmla="val 3636"/>
            </a:avLst>
          </a:prstGeom>
          <a:solidFill>
            <a:srgbClr val="F4EFEA"/>
          </a:solidFill>
          <a:ln w="9525">
            <a:solidFill>
              <a:srgbClr val="F4EFEA"/>
            </a:solidFill>
            <a:prstDash val="solid"/>
          </a:ln>
        </p:spPr>
      </p:sp>
      <p:sp>
        <p:nvSpPr>
          <p:cNvPr id="29" name="Shape 27"/>
          <p:cNvSpPr/>
          <p:nvPr/>
        </p:nvSpPr>
        <p:spPr>
          <a:xfrm>
            <a:off x="10506456" y="2057400"/>
            <a:ext cx="384048" cy="384048"/>
          </a:xfrm>
          <a:prstGeom prst="ellipse">
            <a:avLst/>
          </a:prstGeom>
          <a:solidFill>
            <a:srgbClr val="C15B33"/>
          </a:solidFill>
          <a:ln w="12700">
            <a:solidFill>
              <a:srgbClr val="C15B33"/>
            </a:solidFill>
            <a:prstDash val="solid"/>
          </a:ln>
        </p:spPr>
      </p:sp>
      <p:sp>
        <p:nvSpPr>
          <p:cNvPr id="30" name="Text 28"/>
          <p:cNvSpPr txBox="1"/>
          <p:nvPr/>
        </p:nvSpPr>
        <p:spPr>
          <a:xfrm>
            <a:off x="10506456" y="205740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31" name="Text 29"/>
          <p:cNvSpPr txBox="1"/>
          <p:nvPr/>
        </p:nvSpPr>
        <p:spPr>
          <a:xfrm>
            <a:off x="9802368" y="2606040"/>
            <a:ext cx="1792224" cy="685800"/>
          </a:xfrm>
          <a:prstGeom prst="rect">
            <a:avLst/>
          </a:prstGeom>
          <a:noFill/>
          <a:ln/>
        </p:spPr>
        <p:txBody>
          <a:bodyPr wrap="square" lIns="0" tIns="0" rIns="0" bIns="0" rtlCol="0" anchor="t"/>
          <a:lstStyle/>
          <a:p>
            <a:pPr marL="0" indent="0" algn="ctr">
              <a:buNone/>
            </a:pPr>
            <a:r>
              <a:rPr lang="en-US" sz="1400" b="1" dirty="0">
                <a:solidFill>
                  <a:srgbClr val="C15B33"/>
                </a:solidFill>
                <a:latin typeface="Calibri" pitchFamily="34" charset="0"/>
                <a:ea typeface="Calibri" pitchFamily="34" charset="-122"/>
                <a:cs typeface="Calibri" pitchFamily="34" charset="-120"/>
              </a:rPr>
              <a:t>Отбор по</a:t>
            </a:r>
            <a:endParaRPr lang="en-US" sz="1400" dirty="0"/>
          </a:p>
          <a:p>
            <a:pPr marL="0" indent="0" algn="ctr">
              <a:buNone/>
            </a:pPr>
            <a:r>
              <a:rPr lang="en-US" sz="1400" b="1" dirty="0">
                <a:solidFill>
                  <a:srgbClr val="C15B33"/>
                </a:solidFill>
                <a:latin typeface="Calibri" pitchFamily="34" charset="0"/>
                <a:ea typeface="Calibri" pitchFamily="34" charset="-122"/>
                <a:cs typeface="Calibri" pitchFamily="34" charset="-120"/>
              </a:rPr>
              <a:t>подтверждению</a:t>
            </a:r>
            <a:endParaRPr lang="en-US" sz="1400" dirty="0"/>
          </a:p>
        </p:txBody>
      </p:sp>
      <p:sp>
        <p:nvSpPr>
          <p:cNvPr id="32" name="Text 30"/>
          <p:cNvSpPr txBox="1"/>
          <p:nvPr/>
        </p:nvSpPr>
        <p:spPr>
          <a:xfrm>
            <a:off x="9802368" y="3310128"/>
            <a:ext cx="1792224" cy="731520"/>
          </a:xfrm>
          <a:prstGeom prst="rect">
            <a:avLst/>
          </a:prstGeom>
          <a:noFill/>
          <a:ln/>
        </p:spPr>
        <p:txBody>
          <a:bodyPr wrap="square" lIns="0" tIns="0" rIns="0" bIns="0" rtlCol="0" anchor="t"/>
          <a:lstStyle/>
          <a:p>
            <a:pPr marL="0" indent="0" algn="ctr">
              <a:buNone/>
            </a:pPr>
            <a:r>
              <a:rPr lang="en-US" sz="1150" dirty="0">
                <a:solidFill>
                  <a:srgbClr val="6E7F88"/>
                </a:solidFill>
                <a:latin typeface="Calibri" pitchFamily="34" charset="0"/>
                <a:ea typeface="Calibri" pitchFamily="34" charset="-122"/>
                <a:cs typeface="Calibri" pitchFamily="34" charset="-120"/>
              </a:rPr>
              <a:t>оптика × радар,</a:t>
            </a:r>
            <a:endParaRPr lang="en-US" sz="1150" dirty="0"/>
          </a:p>
          <a:p>
            <a:pPr marL="0" indent="0" algn="ctr">
              <a:buNone/>
            </a:pPr>
            <a:r>
              <a:rPr lang="en-US" sz="1150" dirty="0">
                <a:solidFill>
                  <a:srgbClr val="6E7F88"/>
                </a:solidFill>
                <a:latin typeface="Calibri" pitchFamily="34" charset="0"/>
                <a:ea typeface="Calibri" pitchFamily="34" charset="-122"/>
                <a:cs typeface="Calibri" pitchFamily="34" charset="-120"/>
              </a:rPr>
              <a:t>255 линий</a:t>
            </a:r>
            <a:endParaRPr lang="en-US" sz="1150" dirty="0"/>
          </a:p>
        </p:txBody>
      </p:sp>
      <p:sp>
        <p:nvSpPr>
          <p:cNvPr id="33" name="Shape 31"/>
          <p:cNvSpPr/>
          <p:nvPr/>
        </p:nvSpPr>
        <p:spPr>
          <a:xfrm>
            <a:off x="548640" y="4526280"/>
            <a:ext cx="11109960" cy="1234440"/>
          </a:xfrm>
          <a:prstGeom prst="roundRect">
            <a:avLst>
              <a:gd name="adj" fmla="val 5926"/>
            </a:avLst>
          </a:prstGeom>
          <a:solidFill>
            <a:srgbClr val="FBFAF8"/>
          </a:solidFill>
          <a:ln w="9525">
            <a:solidFill>
              <a:srgbClr val="FBFAF8"/>
            </a:solidFill>
            <a:prstDash val="solid"/>
          </a:ln>
        </p:spPr>
      </p:sp>
      <p:sp>
        <p:nvSpPr>
          <p:cNvPr id="34" name="Text 32"/>
          <p:cNvSpPr txBox="1"/>
          <p:nvPr/>
        </p:nvSpPr>
        <p:spPr>
          <a:xfrm>
            <a:off x="822960" y="4663440"/>
            <a:ext cx="10561320" cy="292608"/>
          </a:xfrm>
          <a:prstGeom prst="rect">
            <a:avLst/>
          </a:prstGeom>
          <a:noFill/>
          <a:ln/>
        </p:spPr>
        <p:txBody>
          <a:bodyPr wrap="square" lIns="0" tIns="0" rIns="0" bIns="0" rtlCol="0" anchor="ctr"/>
          <a:lstStyle/>
          <a:p>
            <a:pPr marL="0" indent="0">
              <a:buNone/>
            </a:pPr>
            <a:r>
              <a:rPr lang="en-US" sz="1400" b="1" dirty="0">
                <a:solidFill>
                  <a:srgbClr val="1B2A32"/>
                </a:solidFill>
                <a:latin typeface="Calibri" pitchFamily="34" charset="0"/>
                <a:ea typeface="Calibri" pitchFamily="34" charset="-122"/>
                <a:cs typeface="Calibri" pitchFamily="34" charset="-120"/>
              </a:rPr>
              <a:t>Почему детерминированность важна</a:t>
            </a:r>
            <a:endParaRPr lang="en-US" sz="1400" dirty="0"/>
          </a:p>
        </p:txBody>
      </p:sp>
      <p:sp>
        <p:nvSpPr>
          <p:cNvPr id="35" name="Text 33"/>
          <p:cNvSpPr txBox="1"/>
          <p:nvPr/>
        </p:nvSpPr>
        <p:spPr>
          <a:xfrm>
            <a:off x="822960" y="4992624"/>
            <a:ext cx="10561320" cy="640080"/>
          </a:xfrm>
          <a:prstGeom prst="rect">
            <a:avLst/>
          </a:prstGeom>
          <a:noFill/>
          <a:ln/>
        </p:spPr>
        <p:txBody>
          <a:bodyPr wrap="square" lIns="0" tIns="0" rIns="0" bIns="0" rtlCol="0" anchor="ctr"/>
          <a:lstStyle/>
          <a:p>
            <a:pPr marL="0" indent="0">
              <a:lnSpc>
                <a:spcPct val="112000"/>
              </a:lnSpc>
              <a:buNone/>
            </a:pPr>
            <a:r>
              <a:rPr lang="en-US" sz="1300" dirty="0">
                <a:solidFill>
                  <a:srgbClr val="1B2A32"/>
                </a:solidFill>
                <a:latin typeface="Calibri" pitchFamily="34" charset="0"/>
                <a:ea typeface="Calibri" pitchFamily="34" charset="-122"/>
                <a:cs typeface="Calibri" pitchFamily="34" charset="-120"/>
              </a:rPr>
              <a:t>Одиночная трассировка обучаемой версии воспроизводилась между двумя подвыборками обучения лишь на 0.18: результат зависел от того, на чём училась модель. Здесь этой степени свободы нет вовсе.</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marL="0" indent="0">
              <a:buNone/>
            </a:pPr>
            <a:r>
              <a:rPr lang="en-US" sz="3200" b="1" dirty="0">
                <a:solidFill>
                  <a:srgbClr val="1B2A32"/>
                </a:solidFill>
                <a:latin typeface="Cambria" pitchFamily="34" charset="0"/>
                <a:ea typeface="Cambria" pitchFamily="34" charset="-122"/>
                <a:cs typeface="Cambria" pitchFamily="34" charset="-120"/>
              </a:rPr>
              <a:t>Шаги 1–2: признаки окрестности и сжатие</a:t>
            </a:r>
            <a:endParaRPr lang="en-US" sz="3200" dirty="0"/>
          </a:p>
        </p:txBody>
      </p:sp>
      <p:sp>
        <p:nvSpPr>
          <p:cNvPr id="3" name="Text 1"/>
          <p:cNvSpPr txBox="1"/>
          <p:nvPr/>
        </p:nvSpPr>
        <p:spPr>
          <a:xfrm>
            <a:off x="548640" y="987552"/>
            <a:ext cx="11064240" cy="365760"/>
          </a:xfrm>
          <a:prstGeom prst="rect">
            <a:avLst/>
          </a:prstGeom>
          <a:noFill/>
          <a:ln/>
        </p:spPr>
        <p:txBody>
          <a:bodyPr wrap="square" lIns="0" tIns="0" rIns="0" bIns="0" rtlCol="0" anchor="ctr"/>
          <a:lstStyle/>
          <a:p>
            <a:pPr marL="0" indent="0">
              <a:buNone/>
            </a:pPr>
            <a:r>
              <a:rPr lang="en-US" sz="1400" i="1" dirty="0">
                <a:solidFill>
                  <a:srgbClr val="6E7F88"/>
                </a:solidFill>
                <a:latin typeface="Calibri" pitchFamily="34" charset="0"/>
                <a:ea typeface="Calibri" pitchFamily="34" charset="-122"/>
                <a:cs typeface="Calibri" pitchFamily="34" charset="-120"/>
              </a:rPr>
              <a:t>Одна ячейка описывается не своим спектром, а устройством текстуры вокруг неё</a:t>
            </a:r>
            <a:endParaRPr lang="en-US" sz="1400" dirty="0"/>
          </a:p>
        </p:txBody>
      </p:sp>
      <p:sp>
        <p:nvSpPr>
          <p:cNvPr id="4" name="Shape 2"/>
          <p:cNvSpPr/>
          <p:nvPr/>
        </p:nvSpPr>
        <p:spPr>
          <a:xfrm>
            <a:off x="548640" y="1645920"/>
            <a:ext cx="5394960" cy="2286000"/>
          </a:xfrm>
          <a:prstGeom prst="roundRect">
            <a:avLst>
              <a:gd name="adj" fmla="val 3200"/>
            </a:avLst>
          </a:prstGeom>
          <a:solidFill>
            <a:srgbClr val="F0EBE3"/>
          </a:solidFill>
          <a:ln w="9525">
            <a:solidFill>
              <a:srgbClr val="F0EBE3"/>
            </a:solidFill>
            <a:prstDash val="solid"/>
          </a:ln>
        </p:spPr>
      </p:sp>
      <p:sp>
        <p:nvSpPr>
          <p:cNvPr id="5" name="Shape 3"/>
          <p:cNvSpPr/>
          <p:nvPr/>
        </p:nvSpPr>
        <p:spPr>
          <a:xfrm>
            <a:off x="777240" y="1810512"/>
            <a:ext cx="384048" cy="384048"/>
          </a:xfrm>
          <a:prstGeom prst="ellipse">
            <a:avLst/>
          </a:prstGeom>
          <a:solidFill>
            <a:srgbClr val="1B2A32"/>
          </a:solidFill>
          <a:ln w="12700">
            <a:solidFill>
              <a:srgbClr val="1B2A32"/>
            </a:solidFill>
            <a:prstDash val="solid"/>
          </a:ln>
        </p:spPr>
      </p:sp>
      <p:sp>
        <p:nvSpPr>
          <p:cNvPr id="6" name="Text 4"/>
          <p:cNvSpPr txBox="1"/>
          <p:nvPr/>
        </p:nvSpPr>
        <p:spPr>
          <a:xfrm>
            <a:off x="777240" y="181051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280160" y="1828800"/>
            <a:ext cx="4480560" cy="347472"/>
          </a:xfrm>
          <a:prstGeom prst="rect">
            <a:avLst/>
          </a:prstGeom>
          <a:noFill/>
          <a:ln/>
        </p:spPr>
        <p:txBody>
          <a:bodyPr wrap="square" lIns="0" tIns="0" rIns="0" bIns="0" rtlCol="0" anchor="ctr"/>
          <a:lstStyle/>
          <a:p>
            <a:pPr marL="0" indent="0">
              <a:buNone/>
            </a:pPr>
            <a:r>
              <a:rPr lang="en-US" sz="1500" b="1" dirty="0">
                <a:solidFill>
                  <a:srgbClr val="1B2A32"/>
                </a:solidFill>
                <a:latin typeface="Calibri" pitchFamily="34" charset="0"/>
                <a:ea typeface="Calibri" pitchFamily="34" charset="-122"/>
                <a:cs typeface="Calibri" pitchFamily="34" charset="-120"/>
              </a:rPr>
              <a:t>Структурный тензор на трёх масштабах</a:t>
            </a:r>
            <a:endParaRPr lang="en-US" sz="1500" dirty="0"/>
          </a:p>
        </p:txBody>
      </p:sp>
      <p:sp>
        <p:nvSpPr>
          <p:cNvPr id="8" name="Text 6"/>
          <p:cNvSpPr txBox="1"/>
          <p:nvPr/>
        </p:nvSpPr>
        <p:spPr>
          <a:xfrm>
            <a:off x="1280160" y="2286000"/>
            <a:ext cx="4480560" cy="1554480"/>
          </a:xfrm>
          <a:prstGeom prst="rect">
            <a:avLst/>
          </a:prstGeom>
          <a:noFill/>
          <a:ln/>
        </p:spPr>
        <p:txBody>
          <a:bodyPr wrap="square" lIns="0" tIns="0" rIns="0" bIns="0" rtlCol="0" anchor="t"/>
          <a:lstStyle/>
          <a:p>
            <a:pPr marL="0" indent="0">
              <a:lnSpc>
                <a:spcPct val="112000"/>
              </a:lnSpc>
              <a:spcAft>
                <a:spcPts val="800"/>
              </a:spcAft>
              <a:buNone/>
            </a:pPr>
            <a:r>
              <a:rPr lang="en-US" sz="1250" b="1" dirty="0">
                <a:solidFill>
                  <a:srgbClr val="1B2A32"/>
                </a:solidFill>
                <a:latin typeface="Calibri" pitchFamily="34" charset="0"/>
                <a:ea typeface="Calibri" pitchFamily="34" charset="-122"/>
                <a:cs typeface="Calibri" pitchFamily="34" charset="-120"/>
              </a:rPr>
              <a:t>10 каналов × 3 масштаба (500 м, 1 км, 2 км) × 4 меры = 160 признаков</a:t>
            </a:r>
            <a:endParaRPr lang="en-US" sz="1250" dirty="0"/>
          </a:p>
          <a:p>
            <a:pPr marL="342900" indent="-342900">
              <a:lnSpc>
                <a:spcPct val="112000"/>
              </a:lnSpc>
              <a:buSzPct val="100000"/>
              <a:buChar char="•"/>
            </a:pPr>
            <a:r>
              <a:rPr lang="en-US" sz="1250" dirty="0">
                <a:solidFill>
                  <a:srgbClr val="1B2A32"/>
                </a:solidFill>
                <a:latin typeface="Calibri" pitchFamily="34" charset="0"/>
                <a:ea typeface="Calibri" pitchFamily="34" charset="-122"/>
                <a:cs typeface="Calibri" pitchFamily="34" charset="-120"/>
              </a:rPr>
              <a:t>когерентность — насколько текстура однонаправленна</a:t>
            </a:r>
            <a:endParaRPr lang="en-US" sz="1250" dirty="0"/>
          </a:p>
          <a:p>
            <a:pPr marL="342900" indent="-342900">
              <a:lnSpc>
                <a:spcPct val="112000"/>
              </a:lnSpc>
              <a:buSzPct val="100000"/>
              <a:buChar char="•"/>
            </a:pPr>
            <a:r>
              <a:rPr lang="en-US" sz="1250" dirty="0">
                <a:solidFill>
                  <a:srgbClr val="1B2A32"/>
                </a:solidFill>
                <a:latin typeface="Calibri" pitchFamily="34" charset="0"/>
                <a:ea typeface="Calibri" pitchFamily="34" charset="-122"/>
                <a:cs typeface="Calibri" pitchFamily="34" charset="-120"/>
              </a:rPr>
              <a:t>энергия и направление</a:t>
            </a:r>
            <a:endParaRPr lang="en-US" sz="1250" dirty="0"/>
          </a:p>
          <a:p>
            <a:pPr marL="342900" indent="-342900">
              <a:lnSpc>
                <a:spcPct val="112000"/>
              </a:lnSpc>
              <a:buSzPct val="100000"/>
              <a:buChar char="•"/>
            </a:pPr>
            <a:r>
              <a:rPr lang="en-US" sz="1250" dirty="0">
                <a:solidFill>
                  <a:srgbClr val="1B2A32"/>
                </a:solidFill>
                <a:latin typeface="Calibri" pitchFamily="34" charset="0"/>
                <a:ea typeface="Calibri" pitchFamily="34" charset="-122"/>
                <a:cs typeface="Calibri" pitchFamily="34" charset="-120"/>
              </a:rPr>
              <a:t>знаковое главное число гессиана — гребень или ложбина</a:t>
            </a:r>
            <a:endParaRPr lang="en-US" sz="1250" dirty="0"/>
          </a:p>
        </p:txBody>
      </p:sp>
      <p:sp>
        <p:nvSpPr>
          <p:cNvPr id="9" name="Shape 7"/>
          <p:cNvSpPr/>
          <p:nvPr/>
        </p:nvSpPr>
        <p:spPr>
          <a:xfrm>
            <a:off x="6263640" y="1645920"/>
            <a:ext cx="5394960" cy="2286000"/>
          </a:xfrm>
          <a:prstGeom prst="roundRect">
            <a:avLst>
              <a:gd name="adj" fmla="val 3200"/>
            </a:avLst>
          </a:prstGeom>
          <a:solidFill>
            <a:srgbClr val="F0EBE3"/>
          </a:solidFill>
          <a:ln w="9525">
            <a:solidFill>
              <a:srgbClr val="F0EBE3"/>
            </a:solidFill>
            <a:prstDash val="solid"/>
          </a:ln>
        </p:spPr>
      </p:sp>
      <p:sp>
        <p:nvSpPr>
          <p:cNvPr id="10" name="Shape 8"/>
          <p:cNvSpPr/>
          <p:nvPr/>
        </p:nvSpPr>
        <p:spPr>
          <a:xfrm>
            <a:off x="6492240" y="1810512"/>
            <a:ext cx="384048" cy="384048"/>
          </a:xfrm>
          <a:prstGeom prst="ellipse">
            <a:avLst/>
          </a:prstGeom>
          <a:solidFill>
            <a:srgbClr val="1B2A32"/>
          </a:solidFill>
          <a:ln w="12700">
            <a:solidFill>
              <a:srgbClr val="1B2A32"/>
            </a:solidFill>
            <a:prstDash val="solid"/>
          </a:ln>
        </p:spPr>
      </p:sp>
      <p:sp>
        <p:nvSpPr>
          <p:cNvPr id="11" name="Text 9"/>
          <p:cNvSpPr txBox="1"/>
          <p:nvPr/>
        </p:nvSpPr>
        <p:spPr>
          <a:xfrm>
            <a:off x="6492240" y="181051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6995160" y="1828800"/>
            <a:ext cx="4480560" cy="347472"/>
          </a:xfrm>
          <a:prstGeom prst="rect">
            <a:avLst/>
          </a:prstGeom>
          <a:noFill/>
          <a:ln/>
        </p:spPr>
        <p:txBody>
          <a:bodyPr wrap="square" lIns="0" tIns="0" rIns="0" bIns="0" rtlCol="0" anchor="ctr"/>
          <a:lstStyle/>
          <a:p>
            <a:pPr marL="0" indent="0">
              <a:buNone/>
            </a:pPr>
            <a:r>
              <a:rPr lang="en-US" sz="1500" b="1" dirty="0">
                <a:solidFill>
                  <a:srgbClr val="1B2A32"/>
                </a:solidFill>
                <a:latin typeface="Calibri" pitchFamily="34" charset="0"/>
                <a:ea typeface="Calibri" pitchFamily="34" charset="-122"/>
                <a:cs typeface="Calibri" pitchFamily="34" charset="-120"/>
              </a:rPr>
              <a:t>Сжатие до 8 компонент, два способа</a:t>
            </a:r>
            <a:endParaRPr lang="en-US" sz="1500" dirty="0"/>
          </a:p>
        </p:txBody>
      </p:sp>
      <p:sp>
        <p:nvSpPr>
          <p:cNvPr id="13" name="Text 11"/>
          <p:cNvSpPr txBox="1"/>
          <p:nvPr/>
        </p:nvSpPr>
        <p:spPr>
          <a:xfrm>
            <a:off x="6995160" y="2286000"/>
            <a:ext cx="4480560" cy="1554480"/>
          </a:xfrm>
          <a:prstGeom prst="rect">
            <a:avLst/>
          </a:prstGeom>
          <a:noFill/>
          <a:ln/>
        </p:spPr>
        <p:txBody>
          <a:bodyPr wrap="square" lIns="0" tIns="0" rIns="0" bIns="0" rtlCol="0" anchor="t"/>
          <a:lstStyle/>
          <a:p>
            <a:pPr marL="342900" indent="-342900">
              <a:lnSpc>
                <a:spcPct val="112000"/>
              </a:lnSpc>
              <a:spcAft>
                <a:spcPts val="600"/>
              </a:spcAft>
              <a:buSzPct val="100000"/>
              <a:buChar char="•"/>
            </a:pPr>
            <a:r>
              <a:rPr lang="en-US" sz="1250" dirty="0">
                <a:solidFill>
                  <a:srgbClr val="1B2A32"/>
                </a:solidFill>
                <a:latin typeface="Calibri" pitchFamily="34" charset="0"/>
                <a:ea typeface="Calibri" pitchFamily="34" charset="-122"/>
                <a:cs typeface="Calibri" pitchFamily="34" charset="-120"/>
              </a:rPr>
              <a:t>метод главных компонент с отбеливанием</a:t>
            </a:r>
            <a:endParaRPr lang="en-US" sz="1250" dirty="0"/>
          </a:p>
          <a:p>
            <a:pPr marL="342900" indent="-342900">
              <a:lnSpc>
                <a:spcPct val="112000"/>
              </a:lnSpc>
              <a:spcAft>
                <a:spcPts val="800"/>
              </a:spcAft>
              <a:buSzPct val="100000"/>
              <a:buChar char="•"/>
            </a:pPr>
            <a:r>
              <a:rPr lang="en-US" sz="1250" dirty="0">
                <a:solidFill>
                  <a:srgbClr val="1B2A32"/>
                </a:solidFill>
                <a:latin typeface="Calibri" pitchFamily="34" charset="0"/>
                <a:ea typeface="Calibri" pitchFamily="34" charset="-122"/>
                <a:cs typeface="Calibri" pitchFamily="34" charset="-120"/>
              </a:rPr>
              <a:t>латент свёрточного автоэнкодера, обученного восстанавливать замаскированные ячейки по окрестности — тоже без разметки</a:t>
            </a:r>
            <a:endParaRPr lang="en-US" sz="1250" dirty="0"/>
          </a:p>
          <a:p>
            <a:pPr marL="0" indent="0">
              <a:lnSpc>
                <a:spcPct val="112000"/>
              </a:lnSpc>
              <a:buNone/>
            </a:pPr>
            <a:r>
              <a:rPr lang="en-US" sz="1250" b="1" dirty="0">
                <a:solidFill>
                  <a:srgbClr val="1B2A32"/>
                </a:solidFill>
                <a:latin typeface="Calibri" pitchFamily="34" charset="0"/>
                <a:ea typeface="Calibri" pitchFamily="34" charset="-122"/>
                <a:cs typeface="Calibri" pitchFamily="34" charset="-120"/>
              </a:rPr>
              <a:t>Два способа видят частично разное: пересечение итоговых карт всего 53–60 %.</a:t>
            </a:r>
            <a:endParaRPr lang="en-US" sz="1250" dirty="0"/>
          </a:p>
        </p:txBody>
      </p:sp>
      <p:sp>
        <p:nvSpPr>
          <p:cNvPr id="14" name="Shape 12"/>
          <p:cNvSpPr/>
          <p:nvPr/>
        </p:nvSpPr>
        <p:spPr>
          <a:xfrm>
            <a:off x="548640" y="4206240"/>
            <a:ext cx="11109960" cy="1554480"/>
          </a:xfrm>
          <a:prstGeom prst="roundRect">
            <a:avLst>
              <a:gd name="adj" fmla="val 4706"/>
            </a:avLst>
          </a:prstGeom>
          <a:solidFill>
            <a:srgbClr val="F4EFEA"/>
          </a:solidFill>
          <a:ln w="9525">
            <a:solidFill>
              <a:srgbClr val="F4EFEA"/>
            </a:solidFill>
            <a:prstDash val="solid"/>
          </a:ln>
        </p:spPr>
      </p:sp>
      <p:sp>
        <p:nvSpPr>
          <p:cNvPr id="15" name="Text 13"/>
          <p:cNvSpPr txBox="1"/>
          <p:nvPr/>
        </p:nvSpPr>
        <p:spPr>
          <a:xfrm>
            <a:off x="822960" y="4370832"/>
            <a:ext cx="10561320" cy="292608"/>
          </a:xfrm>
          <a:prstGeom prst="rect">
            <a:avLst/>
          </a:prstGeom>
          <a:noFill/>
          <a:ln/>
        </p:spPr>
        <p:txBody>
          <a:bodyPr wrap="square" lIns="0" tIns="0" rIns="0" bIns="0" rtlCol="0" anchor="ctr"/>
          <a:lstStyle/>
          <a:p>
            <a:pPr marL="0" indent="0">
              <a:buNone/>
            </a:pPr>
            <a:r>
              <a:rPr lang="en-US" sz="1500" b="1" dirty="0">
                <a:solidFill>
                  <a:srgbClr val="C15B33"/>
                </a:solidFill>
                <a:latin typeface="Calibri" pitchFamily="34" charset="0"/>
                <a:ea typeface="Calibri" pitchFamily="34" charset="-122"/>
                <a:cs typeface="Calibri" pitchFamily="34" charset="-120"/>
              </a:rPr>
              <a:t>Зачем окрестность вместо спектра ячейки</a:t>
            </a:r>
            <a:endParaRPr lang="en-US" sz="1500" dirty="0"/>
          </a:p>
        </p:txBody>
      </p:sp>
      <p:sp>
        <p:nvSpPr>
          <p:cNvPr id="16" name="Text 14"/>
          <p:cNvSpPr txBox="1"/>
          <p:nvPr/>
        </p:nvSpPr>
        <p:spPr>
          <a:xfrm>
            <a:off x="822960" y="4718304"/>
            <a:ext cx="10561320" cy="914400"/>
          </a:xfrm>
          <a:prstGeom prst="rect">
            <a:avLst/>
          </a:prstGeom>
          <a:noFill/>
          <a:ln/>
        </p:spPr>
        <p:txBody>
          <a:bodyPr wrap="square" lIns="0" tIns="0" rIns="0" bIns="0" rtlCol="0" anchor="ctr"/>
          <a:lstStyle/>
          <a:p>
            <a:pPr marL="0" indent="0">
              <a:lnSpc>
                <a:spcPct val="115000"/>
              </a:lnSpc>
              <a:buNone/>
            </a:pPr>
            <a:r>
              <a:rPr lang="en-US" sz="1350" dirty="0">
                <a:solidFill>
                  <a:srgbClr val="1B2A32"/>
                </a:solidFill>
                <a:latin typeface="Calibri" pitchFamily="34" charset="0"/>
                <a:ea typeface="Calibri" pitchFamily="34" charset="-122"/>
                <a:cs typeface="Calibri" pitchFamily="34" charset="-120"/>
              </a:rPr>
              <a:t>Линеамент — это не цвет пикселя, а устройство текстуры: направленность, её резкость и то, как она меняется поперёк. Спектр одной ячейки этого не содержит, поэтому вход строится из окрестности на нескольких масштабах, а не из значений каналов в точке.</a:t>
            </a:r>
            <a:endParaRPr lang="en-US" sz="13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marL="0" indent="0">
              <a:buNone/>
            </a:pPr>
            <a:r>
              <a:rPr lang="en-US" sz="3200" b="1" dirty="0">
                <a:solidFill>
                  <a:srgbClr val="1B2A32"/>
                </a:solidFill>
                <a:latin typeface="Cambria" pitchFamily="34" charset="0"/>
                <a:ea typeface="Cambria" pitchFamily="34" charset="-122"/>
                <a:cs typeface="Cambria" pitchFamily="34" charset="-120"/>
              </a:rPr>
              <a:t>Шаг 3: оператор границы</a:t>
            </a:r>
            <a:endParaRPr lang="en-US" sz="3200" dirty="0"/>
          </a:p>
        </p:txBody>
      </p:sp>
      <p:sp>
        <p:nvSpPr>
          <p:cNvPr id="3" name="Text 1"/>
          <p:cNvSpPr txBox="1"/>
          <p:nvPr/>
        </p:nvSpPr>
        <p:spPr>
          <a:xfrm>
            <a:off x="548640" y="987552"/>
            <a:ext cx="11064240" cy="365760"/>
          </a:xfrm>
          <a:prstGeom prst="rect">
            <a:avLst/>
          </a:prstGeom>
          <a:noFill/>
          <a:ln/>
        </p:spPr>
        <p:txBody>
          <a:bodyPr wrap="square" lIns="0" tIns="0" rIns="0" bIns="0" rtlCol="0" anchor="ctr"/>
          <a:lstStyle/>
          <a:p>
            <a:pPr marL="0" indent="0">
              <a:buNone/>
            </a:pPr>
            <a:r>
              <a:rPr lang="en-US" sz="1400" i="1" dirty="0">
                <a:solidFill>
                  <a:srgbClr val="6E7F88"/>
                </a:solidFill>
                <a:latin typeface="Calibri" pitchFamily="34" charset="0"/>
                <a:ea typeface="Calibri" pitchFamily="34" charset="-122"/>
                <a:cs typeface="Calibri" pitchFamily="34" charset="-120"/>
              </a:rPr>
              <a:t>Разлом или дайка — это граница между блоками с разной сигнатурой, а не гребень поля</a:t>
            </a:r>
            <a:endParaRPr lang="en-US" sz="1400" dirty="0"/>
          </a:p>
        </p:txBody>
      </p:sp>
      <p:sp>
        <p:nvSpPr>
          <p:cNvPr id="4" name="Shape 2"/>
          <p:cNvSpPr/>
          <p:nvPr/>
        </p:nvSpPr>
        <p:spPr>
          <a:xfrm>
            <a:off x="685800" y="1783080"/>
            <a:ext cx="2103120" cy="3017520"/>
          </a:xfrm>
          <a:prstGeom prst="rect">
            <a:avLst/>
          </a:prstGeom>
          <a:solidFill>
            <a:srgbClr val="E6DCCF"/>
          </a:solidFill>
          <a:ln w="12700">
            <a:solidFill>
              <a:srgbClr val="D8D2C8"/>
            </a:solidFill>
            <a:prstDash val="solid"/>
          </a:ln>
        </p:spPr>
      </p:sp>
      <p:sp>
        <p:nvSpPr>
          <p:cNvPr id="5" name="Shape 3"/>
          <p:cNvSpPr/>
          <p:nvPr/>
        </p:nvSpPr>
        <p:spPr>
          <a:xfrm>
            <a:off x="2880360" y="1783080"/>
            <a:ext cx="2103120" cy="3017520"/>
          </a:xfrm>
          <a:prstGeom prst="rect">
            <a:avLst/>
          </a:prstGeom>
          <a:solidFill>
            <a:srgbClr val="C8D5DC"/>
          </a:solidFill>
          <a:ln w="12700">
            <a:solidFill>
              <a:srgbClr val="D8D2C8"/>
            </a:solidFill>
            <a:prstDash val="solid"/>
          </a:ln>
        </p:spPr>
      </p:sp>
      <p:sp>
        <p:nvSpPr>
          <p:cNvPr id="6" name="Shape 4"/>
          <p:cNvSpPr/>
          <p:nvPr/>
        </p:nvSpPr>
        <p:spPr>
          <a:xfrm>
            <a:off x="2825496" y="1783080"/>
            <a:ext cx="45720" cy="3017520"/>
          </a:xfrm>
          <a:prstGeom prst="rect">
            <a:avLst/>
          </a:prstGeom>
          <a:solidFill>
            <a:srgbClr val="C15B33"/>
          </a:solidFill>
          <a:ln w="12700">
            <a:solidFill>
              <a:srgbClr val="C15B33"/>
            </a:solidFill>
            <a:prstDash val="solid"/>
          </a:ln>
        </p:spPr>
      </p:sp>
      <p:sp>
        <p:nvSpPr>
          <p:cNvPr id="7" name="Text 5"/>
          <p:cNvSpPr txBox="1"/>
          <p:nvPr/>
        </p:nvSpPr>
        <p:spPr>
          <a:xfrm>
            <a:off x="685800" y="2011680"/>
            <a:ext cx="2103120" cy="320040"/>
          </a:xfrm>
          <a:prstGeom prst="rect">
            <a:avLst/>
          </a:prstGeom>
          <a:noFill/>
          <a:ln/>
        </p:spPr>
        <p:txBody>
          <a:bodyPr wrap="square" lIns="0" tIns="0" rIns="0" bIns="0" rtlCol="0" anchor="ctr"/>
          <a:lstStyle/>
          <a:p>
            <a:pPr marL="0" indent="0" algn="ctr">
              <a:buNone/>
            </a:pPr>
            <a:r>
              <a:rPr lang="en-US" sz="1200" dirty="0">
                <a:solidFill>
                  <a:srgbClr val="6E7F88"/>
                </a:solidFill>
                <a:latin typeface="Calibri" pitchFamily="34" charset="0"/>
                <a:ea typeface="Calibri" pitchFamily="34" charset="-122"/>
                <a:cs typeface="Calibri" pitchFamily="34" charset="-120"/>
              </a:rPr>
              <a:t>блок A</a:t>
            </a:r>
            <a:endParaRPr lang="en-US" sz="1200" dirty="0"/>
          </a:p>
        </p:txBody>
      </p:sp>
      <p:sp>
        <p:nvSpPr>
          <p:cNvPr id="8" name="Text 6"/>
          <p:cNvSpPr txBox="1"/>
          <p:nvPr/>
        </p:nvSpPr>
        <p:spPr>
          <a:xfrm>
            <a:off x="2880360" y="2011680"/>
            <a:ext cx="2103120" cy="320040"/>
          </a:xfrm>
          <a:prstGeom prst="rect">
            <a:avLst/>
          </a:prstGeom>
          <a:noFill/>
          <a:ln/>
        </p:spPr>
        <p:txBody>
          <a:bodyPr wrap="square" lIns="0" tIns="0" rIns="0" bIns="0" rtlCol="0" anchor="ctr"/>
          <a:lstStyle/>
          <a:p>
            <a:pPr marL="0" indent="0" algn="ctr">
              <a:buNone/>
            </a:pPr>
            <a:r>
              <a:rPr lang="en-US" sz="1200" dirty="0">
                <a:solidFill>
                  <a:srgbClr val="6E7F88"/>
                </a:solidFill>
                <a:latin typeface="Calibri" pitchFamily="34" charset="0"/>
                <a:ea typeface="Calibri" pitchFamily="34" charset="-122"/>
                <a:cs typeface="Calibri" pitchFamily="34" charset="-120"/>
              </a:rPr>
              <a:t>блок B</a:t>
            </a:r>
            <a:endParaRPr lang="en-US" sz="1200" dirty="0"/>
          </a:p>
        </p:txBody>
      </p:sp>
      <p:sp>
        <p:nvSpPr>
          <p:cNvPr id="9" name="Shape 7"/>
          <p:cNvSpPr/>
          <p:nvPr/>
        </p:nvSpPr>
        <p:spPr>
          <a:xfrm>
            <a:off x="2304288" y="2514600"/>
            <a:ext cx="411480" cy="1737360"/>
          </a:xfrm>
          <a:prstGeom prst="rect">
            <a:avLst/>
          </a:prstGeom>
          <a:solidFill>
            <a:srgbClr val="FFFFFF"/>
          </a:solidFill>
          <a:ln w="15875">
            <a:solidFill>
              <a:srgbClr val="C15B33"/>
            </a:solidFill>
            <a:prstDash val="solid"/>
          </a:ln>
        </p:spPr>
      </p:sp>
      <p:sp>
        <p:nvSpPr>
          <p:cNvPr id="10" name="Shape 8"/>
          <p:cNvSpPr/>
          <p:nvPr/>
        </p:nvSpPr>
        <p:spPr>
          <a:xfrm>
            <a:off x="2980944" y="2514600"/>
            <a:ext cx="411480" cy="1737360"/>
          </a:xfrm>
          <a:prstGeom prst="rect">
            <a:avLst/>
          </a:prstGeom>
          <a:solidFill>
            <a:srgbClr val="FFFFFF"/>
          </a:solidFill>
          <a:ln w="15875">
            <a:solidFill>
              <a:srgbClr val="C15B33"/>
            </a:solidFill>
            <a:prstDash val="solid"/>
          </a:ln>
        </p:spPr>
      </p:sp>
      <p:sp>
        <p:nvSpPr>
          <p:cNvPr id="11" name="Text 9"/>
          <p:cNvSpPr txBox="1"/>
          <p:nvPr/>
        </p:nvSpPr>
        <p:spPr>
          <a:xfrm>
            <a:off x="2029968" y="4315968"/>
            <a:ext cx="960120" cy="274320"/>
          </a:xfrm>
          <a:prstGeom prst="rect">
            <a:avLst/>
          </a:prstGeom>
          <a:noFill/>
          <a:ln/>
        </p:spPr>
        <p:txBody>
          <a:bodyPr wrap="square" lIns="0" tIns="0" rIns="0" bIns="0" rtlCol="0" anchor="ctr"/>
          <a:lstStyle/>
          <a:p>
            <a:pPr marL="0" indent="0" algn="ctr">
              <a:buNone/>
            </a:pPr>
            <a:r>
              <a:rPr lang="en-US" sz="1050" dirty="0">
                <a:solidFill>
                  <a:srgbClr val="C15B33"/>
                </a:solidFill>
                <a:latin typeface="Calibri" pitchFamily="34" charset="0"/>
                <a:ea typeface="Calibri" pitchFamily="34" charset="-122"/>
                <a:cs typeface="Calibri" pitchFamily="34" charset="-120"/>
              </a:rPr>
              <a:t>окно 1</a:t>
            </a:r>
            <a:endParaRPr lang="en-US" sz="1050" dirty="0"/>
          </a:p>
        </p:txBody>
      </p:sp>
      <p:sp>
        <p:nvSpPr>
          <p:cNvPr id="12" name="Text 10"/>
          <p:cNvSpPr txBox="1"/>
          <p:nvPr/>
        </p:nvSpPr>
        <p:spPr>
          <a:xfrm>
            <a:off x="2706624" y="4315968"/>
            <a:ext cx="960120" cy="274320"/>
          </a:xfrm>
          <a:prstGeom prst="rect">
            <a:avLst/>
          </a:prstGeom>
          <a:noFill/>
          <a:ln/>
        </p:spPr>
        <p:txBody>
          <a:bodyPr wrap="square" lIns="0" tIns="0" rIns="0" bIns="0" rtlCol="0" anchor="ctr"/>
          <a:lstStyle/>
          <a:p>
            <a:pPr marL="0" indent="0" algn="ctr">
              <a:buNone/>
            </a:pPr>
            <a:r>
              <a:rPr lang="en-US" sz="1050" dirty="0">
                <a:solidFill>
                  <a:srgbClr val="C15B33"/>
                </a:solidFill>
                <a:latin typeface="Calibri" pitchFamily="34" charset="0"/>
                <a:ea typeface="Calibri" pitchFamily="34" charset="-122"/>
                <a:cs typeface="Calibri" pitchFamily="34" charset="-120"/>
              </a:rPr>
              <a:t>окно 2</a:t>
            </a:r>
            <a:endParaRPr lang="en-US" sz="1050" dirty="0"/>
          </a:p>
        </p:txBody>
      </p:sp>
      <p:sp>
        <p:nvSpPr>
          <p:cNvPr id="13" name="Text 11"/>
          <p:cNvSpPr txBox="1"/>
          <p:nvPr/>
        </p:nvSpPr>
        <p:spPr>
          <a:xfrm>
            <a:off x="685800" y="4892040"/>
            <a:ext cx="4297680" cy="365760"/>
          </a:xfrm>
          <a:prstGeom prst="rect">
            <a:avLst/>
          </a:prstGeom>
          <a:noFill/>
          <a:ln/>
        </p:spPr>
        <p:txBody>
          <a:bodyPr wrap="square" lIns="0" tIns="0" rIns="0" bIns="0" rtlCol="0" anchor="ctr"/>
          <a:lstStyle/>
          <a:p>
            <a:pPr marL="0" indent="0" algn="ctr">
              <a:buNone/>
            </a:pPr>
            <a:r>
              <a:rPr lang="en-US" sz="1200" i="1" dirty="0">
                <a:solidFill>
                  <a:srgbClr val="6E7F88"/>
                </a:solidFill>
                <a:latin typeface="Calibri" pitchFamily="34" charset="0"/>
                <a:ea typeface="Calibri" pitchFamily="34" charset="-122"/>
                <a:cs typeface="Calibri" pitchFamily="34" charset="-120"/>
              </a:rPr>
              <a:t>два окна 2 км × 200 м, сдвиг ±300 м поперёк линии</a:t>
            </a:r>
            <a:endParaRPr lang="en-US" sz="1200" dirty="0"/>
          </a:p>
        </p:txBody>
      </p:sp>
      <p:sp>
        <p:nvSpPr>
          <p:cNvPr id="14" name="Shape 12"/>
          <p:cNvSpPr/>
          <p:nvPr/>
        </p:nvSpPr>
        <p:spPr>
          <a:xfrm>
            <a:off x="5486400" y="1737360"/>
            <a:ext cx="6172200" cy="1691640"/>
          </a:xfrm>
          <a:prstGeom prst="roundRect">
            <a:avLst>
              <a:gd name="adj" fmla="val 4324"/>
            </a:avLst>
          </a:prstGeom>
          <a:solidFill>
            <a:srgbClr val="F4EFEA"/>
          </a:solidFill>
          <a:ln w="9525">
            <a:solidFill>
              <a:srgbClr val="F4EFEA"/>
            </a:solidFill>
            <a:prstDash val="solid"/>
          </a:ln>
        </p:spPr>
      </p:sp>
      <p:sp>
        <p:nvSpPr>
          <p:cNvPr id="15" name="Text 13"/>
          <p:cNvSpPr txBox="1"/>
          <p:nvPr/>
        </p:nvSpPr>
        <p:spPr>
          <a:xfrm>
            <a:off x="5760720" y="1883664"/>
            <a:ext cx="5669280" cy="292608"/>
          </a:xfrm>
          <a:prstGeom prst="rect">
            <a:avLst/>
          </a:prstGeom>
          <a:noFill/>
          <a:ln/>
        </p:spPr>
        <p:txBody>
          <a:bodyPr wrap="square" lIns="0" tIns="0" rIns="0" bIns="0" rtlCol="0" anchor="ctr"/>
          <a:lstStyle/>
          <a:p>
            <a:pPr marL="0" indent="0">
              <a:buNone/>
            </a:pPr>
            <a:r>
              <a:rPr lang="en-US" sz="1500" b="1" dirty="0">
                <a:solidFill>
                  <a:srgbClr val="C15B33"/>
                </a:solidFill>
                <a:latin typeface="Calibri" pitchFamily="34" charset="0"/>
                <a:ea typeface="Calibri" pitchFamily="34" charset="-122"/>
                <a:cs typeface="Calibri" pitchFamily="34" charset="-120"/>
              </a:rPr>
              <a:t>Что считается</a:t>
            </a:r>
            <a:endParaRPr lang="en-US" sz="1500" dirty="0"/>
          </a:p>
        </p:txBody>
      </p:sp>
      <p:sp>
        <p:nvSpPr>
          <p:cNvPr id="16" name="Text 14"/>
          <p:cNvSpPr txBox="1"/>
          <p:nvPr/>
        </p:nvSpPr>
        <p:spPr>
          <a:xfrm>
            <a:off x="5760720" y="2231136"/>
            <a:ext cx="5669280" cy="1097280"/>
          </a:xfrm>
          <a:prstGeom prst="rect">
            <a:avLst/>
          </a:prstGeom>
          <a:noFill/>
          <a:ln/>
        </p:spPr>
        <p:txBody>
          <a:bodyPr wrap="square" lIns="0" tIns="0" rIns="0" bIns="0" rtlCol="0" anchor="ctr"/>
          <a:lstStyle/>
          <a:p>
            <a:pPr marL="0" indent="0">
              <a:lnSpc>
                <a:spcPct val="112000"/>
              </a:lnSpc>
              <a:buNone/>
            </a:pPr>
            <a:r>
              <a:rPr lang="en-US" sz="1300" dirty="0">
                <a:solidFill>
                  <a:srgbClr val="1B2A32"/>
                </a:solidFill>
                <a:latin typeface="Calibri" pitchFamily="34" charset="0"/>
                <a:ea typeface="Calibri" pitchFamily="34" charset="-122"/>
                <a:cs typeface="Calibri" pitchFamily="34" charset="-120"/>
              </a:rPr>
              <a:t>Для каждой ячейки и каждого из 12 направлений — расстояние между средними признаковыми векторами двух окон. Сила линии — максимум по направлениям, азимут — направление максимума. Физически: насколько скачком меняется тип поверхности при пересечении линии поперёк.</a:t>
            </a:r>
            <a:endParaRPr lang="en-US" sz="1300" dirty="0"/>
          </a:p>
        </p:txBody>
      </p:sp>
      <p:sp>
        <p:nvSpPr>
          <p:cNvPr id="17" name="Shape 15"/>
          <p:cNvSpPr/>
          <p:nvPr/>
        </p:nvSpPr>
        <p:spPr>
          <a:xfrm>
            <a:off x="5486400" y="3657600"/>
            <a:ext cx="6172200" cy="1737360"/>
          </a:xfrm>
          <a:prstGeom prst="roundRect">
            <a:avLst>
              <a:gd name="adj" fmla="val 4211"/>
            </a:avLst>
          </a:prstGeom>
          <a:solidFill>
            <a:srgbClr val="FBFAF8"/>
          </a:solidFill>
          <a:ln w="9525">
            <a:solidFill>
              <a:srgbClr val="FBFAF8"/>
            </a:solidFill>
            <a:prstDash val="solid"/>
          </a:ln>
        </p:spPr>
      </p:sp>
      <p:sp>
        <p:nvSpPr>
          <p:cNvPr id="18" name="Text 16"/>
          <p:cNvSpPr txBox="1"/>
          <p:nvPr/>
        </p:nvSpPr>
        <p:spPr>
          <a:xfrm>
            <a:off x="5760720" y="3803904"/>
            <a:ext cx="5669280" cy="292608"/>
          </a:xfrm>
          <a:prstGeom prst="rect">
            <a:avLst/>
          </a:prstGeom>
          <a:noFill/>
          <a:ln/>
        </p:spPr>
        <p:txBody>
          <a:bodyPr wrap="square" lIns="0" tIns="0" rIns="0" bIns="0" rtlCol="0" anchor="ctr"/>
          <a:lstStyle/>
          <a:p>
            <a:pPr marL="0" indent="0">
              <a:buNone/>
            </a:pPr>
            <a:r>
              <a:rPr lang="en-US" sz="1500" b="1" dirty="0">
                <a:solidFill>
                  <a:srgbClr val="1B2A32"/>
                </a:solidFill>
                <a:latin typeface="Calibri" pitchFamily="34" charset="0"/>
                <a:ea typeface="Calibri" pitchFamily="34" charset="-122"/>
                <a:cs typeface="Calibri" pitchFamily="34" charset="-120"/>
              </a:rPr>
              <a:t>Почему не гребень поля</a:t>
            </a:r>
            <a:endParaRPr lang="en-US" sz="1500" dirty="0"/>
          </a:p>
        </p:txBody>
      </p:sp>
      <p:sp>
        <p:nvSpPr>
          <p:cNvPr id="19" name="Text 17"/>
          <p:cNvSpPr txBox="1"/>
          <p:nvPr/>
        </p:nvSpPr>
        <p:spPr>
          <a:xfrm>
            <a:off x="5760720" y="4151376"/>
            <a:ext cx="5669280" cy="1143000"/>
          </a:xfrm>
          <a:prstGeom prst="rect">
            <a:avLst/>
          </a:prstGeom>
          <a:noFill/>
          <a:ln/>
        </p:spPr>
        <p:txBody>
          <a:bodyPr wrap="square" lIns="0" tIns="0" rIns="0" bIns="0" rtlCol="0" anchor="ctr"/>
          <a:lstStyle/>
          <a:p>
            <a:pPr marL="0" indent="0">
              <a:lnSpc>
                <a:spcPct val="112000"/>
              </a:lnSpc>
              <a:buNone/>
            </a:pPr>
            <a:r>
              <a:rPr lang="en-US" sz="1300" dirty="0">
                <a:solidFill>
                  <a:srgbClr val="1B2A32"/>
                </a:solidFill>
                <a:latin typeface="Calibri" pitchFamily="34" charset="0"/>
                <a:ea typeface="Calibri" pitchFamily="34" charset="-122"/>
                <a:cs typeface="Calibri" pitchFamily="34" charset="-120"/>
              </a:rPr>
              <a:t>Предыдущая версия трассировала гребни поля вероятности — её линии совпадали с обводкой рельефной текстуры в 1.8 раза лучше, чем с картой разломов. Гребень скалярного поля — это место, где поле выглядит как хребет, а не место, где меняется геологический блок.</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marL="0" indent="0">
              <a:buNone/>
            </a:pPr>
            <a:r>
              <a:rPr lang="en-US" sz="3200" b="1" dirty="0">
                <a:solidFill>
                  <a:srgbClr val="1B2A32"/>
                </a:solidFill>
                <a:latin typeface="Cambria" pitchFamily="34" charset="0"/>
                <a:ea typeface="Cambria" pitchFamily="34" charset="-122"/>
                <a:cs typeface="Cambria" pitchFamily="34" charset="-120"/>
              </a:rPr>
              <a:t>Шаг 4: от поля силы к отрезкам</a:t>
            </a:r>
            <a:endParaRPr lang="en-US" sz="3200" dirty="0"/>
          </a:p>
        </p:txBody>
      </p:sp>
      <p:sp>
        <p:nvSpPr>
          <p:cNvPr id="3" name="Text 1"/>
          <p:cNvSpPr txBox="1"/>
          <p:nvPr/>
        </p:nvSpPr>
        <p:spPr>
          <a:xfrm>
            <a:off x="548640" y="987552"/>
            <a:ext cx="11064240" cy="365760"/>
          </a:xfrm>
          <a:prstGeom prst="rect">
            <a:avLst/>
          </a:prstGeom>
          <a:noFill/>
          <a:ln/>
        </p:spPr>
        <p:txBody>
          <a:bodyPr wrap="square" lIns="0" tIns="0" rIns="0" bIns="0" rtlCol="0" anchor="ctr"/>
          <a:lstStyle/>
          <a:p>
            <a:pPr marL="0" indent="0">
              <a:buNone/>
            </a:pPr>
            <a:r>
              <a:rPr lang="en-US" sz="1400" i="1" dirty="0">
                <a:solidFill>
                  <a:srgbClr val="6E7F88"/>
                </a:solidFill>
                <a:latin typeface="Calibri" pitchFamily="34" charset="0"/>
                <a:ea typeface="Calibri" pitchFamily="34" charset="-122"/>
                <a:cs typeface="Calibri" pitchFamily="34" charset="-120"/>
              </a:rPr>
              <a:t>Каждая операция снимает свой класс ложных линий</a:t>
            </a:r>
            <a:endParaRPr lang="en-US" sz="1400" dirty="0"/>
          </a:p>
        </p:txBody>
      </p:sp>
      <p:sp>
        <p:nvSpPr>
          <p:cNvPr id="4" name="Shape 2"/>
          <p:cNvSpPr/>
          <p:nvPr/>
        </p:nvSpPr>
        <p:spPr>
          <a:xfrm>
            <a:off x="548640" y="1645920"/>
            <a:ext cx="5394960" cy="1051560"/>
          </a:xfrm>
          <a:prstGeom prst="roundRect">
            <a:avLst>
              <a:gd name="adj" fmla="val 6957"/>
            </a:avLst>
          </a:prstGeom>
          <a:solidFill>
            <a:srgbClr val="FBFAF8"/>
          </a:solidFill>
          <a:ln w="9525">
            <a:solidFill>
              <a:srgbClr val="FBFAF8"/>
            </a:solidFill>
            <a:prstDash val="solid"/>
          </a:ln>
        </p:spPr>
      </p:sp>
      <p:sp>
        <p:nvSpPr>
          <p:cNvPr id="5" name="Shape 3"/>
          <p:cNvSpPr/>
          <p:nvPr/>
        </p:nvSpPr>
        <p:spPr>
          <a:xfrm>
            <a:off x="777240" y="1975104"/>
            <a:ext cx="384048" cy="384048"/>
          </a:xfrm>
          <a:prstGeom prst="ellipse">
            <a:avLst/>
          </a:prstGeom>
          <a:solidFill>
            <a:srgbClr val="1B2A32"/>
          </a:solidFill>
          <a:ln w="12700">
            <a:solidFill>
              <a:srgbClr val="1B2A32"/>
            </a:solidFill>
            <a:prstDash val="solid"/>
          </a:ln>
        </p:spPr>
      </p:sp>
      <p:sp>
        <p:nvSpPr>
          <p:cNvPr id="6" name="Text 4"/>
          <p:cNvSpPr txBox="1"/>
          <p:nvPr/>
        </p:nvSpPr>
        <p:spPr>
          <a:xfrm>
            <a:off x="777240" y="197510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1298448" y="1810512"/>
            <a:ext cx="4480560" cy="292608"/>
          </a:xfrm>
          <a:prstGeom prst="rect">
            <a:avLst/>
          </a:prstGeom>
          <a:noFill/>
          <a:ln/>
        </p:spPr>
        <p:txBody>
          <a:bodyPr wrap="square" lIns="0" tIns="0" rIns="0" bIns="0" rtlCol="0" anchor="ctr"/>
          <a:lstStyle/>
          <a:p>
            <a:pPr marL="0" indent="0">
              <a:buNone/>
            </a:pPr>
            <a:r>
              <a:rPr lang="en-US" sz="1400" b="1" dirty="0">
                <a:solidFill>
                  <a:srgbClr val="1B2A32"/>
                </a:solidFill>
                <a:latin typeface="Calibri" pitchFamily="34" charset="0"/>
                <a:ea typeface="Calibri" pitchFamily="34" charset="-122"/>
                <a:cs typeface="Calibri" pitchFamily="34" charset="-120"/>
              </a:rPr>
              <a:t>Сглаживание</a:t>
            </a:r>
            <a:endParaRPr lang="en-US" sz="1400" dirty="0"/>
          </a:p>
        </p:txBody>
      </p:sp>
      <p:sp>
        <p:nvSpPr>
          <p:cNvPr id="8" name="Text 6"/>
          <p:cNvSpPr txBox="1"/>
          <p:nvPr/>
        </p:nvSpPr>
        <p:spPr>
          <a:xfrm>
            <a:off x="1298448" y="2121408"/>
            <a:ext cx="4480560" cy="502920"/>
          </a:xfrm>
          <a:prstGeom prst="rect">
            <a:avLst/>
          </a:prstGeom>
          <a:noFill/>
          <a:ln/>
        </p:spPr>
        <p:txBody>
          <a:bodyPr wrap="square" lIns="0" tIns="0" rIns="0" bIns="0" rtlCol="0" anchor="ctr"/>
          <a:lstStyle/>
          <a:p>
            <a:pPr marL="0" indent="0">
              <a:lnSpc>
                <a:spcPct val="110000"/>
              </a:lnSpc>
              <a:buNone/>
            </a:pPr>
            <a:r>
              <a:rPr lang="en-US" sz="1150" dirty="0">
                <a:solidFill>
                  <a:srgbClr val="6E7F88"/>
                </a:solidFill>
                <a:latin typeface="Calibri" pitchFamily="34" charset="0"/>
                <a:ea typeface="Calibri" pitchFamily="34" charset="-122"/>
                <a:cs typeface="Calibri" pitchFamily="34" charset="-120"/>
              </a:rPr>
              <a:t>убирает пиксельный шум поля силы</a:t>
            </a:r>
            <a:endParaRPr lang="en-US" sz="1150" dirty="0"/>
          </a:p>
        </p:txBody>
      </p:sp>
      <p:sp>
        <p:nvSpPr>
          <p:cNvPr id="9" name="Shape 7"/>
          <p:cNvSpPr/>
          <p:nvPr/>
        </p:nvSpPr>
        <p:spPr>
          <a:xfrm>
            <a:off x="6263640" y="1645920"/>
            <a:ext cx="5394960" cy="1051560"/>
          </a:xfrm>
          <a:prstGeom prst="roundRect">
            <a:avLst>
              <a:gd name="adj" fmla="val 6957"/>
            </a:avLst>
          </a:prstGeom>
          <a:solidFill>
            <a:srgbClr val="FBFAF8"/>
          </a:solidFill>
          <a:ln w="9525">
            <a:solidFill>
              <a:srgbClr val="FBFAF8"/>
            </a:solidFill>
            <a:prstDash val="solid"/>
          </a:ln>
        </p:spPr>
      </p:sp>
      <p:sp>
        <p:nvSpPr>
          <p:cNvPr id="10" name="Shape 8"/>
          <p:cNvSpPr/>
          <p:nvPr/>
        </p:nvSpPr>
        <p:spPr>
          <a:xfrm>
            <a:off x="6492240" y="1975104"/>
            <a:ext cx="384048" cy="384048"/>
          </a:xfrm>
          <a:prstGeom prst="ellipse">
            <a:avLst/>
          </a:prstGeom>
          <a:solidFill>
            <a:srgbClr val="1B2A32"/>
          </a:solidFill>
          <a:ln w="12700">
            <a:solidFill>
              <a:srgbClr val="1B2A32"/>
            </a:solidFill>
            <a:prstDash val="solid"/>
          </a:ln>
        </p:spPr>
      </p:sp>
      <p:sp>
        <p:nvSpPr>
          <p:cNvPr id="11" name="Text 9"/>
          <p:cNvSpPr txBox="1"/>
          <p:nvPr/>
        </p:nvSpPr>
        <p:spPr>
          <a:xfrm>
            <a:off x="6492240" y="197510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10"/>
          <p:cNvSpPr txBox="1"/>
          <p:nvPr/>
        </p:nvSpPr>
        <p:spPr>
          <a:xfrm>
            <a:off x="7013448" y="1810512"/>
            <a:ext cx="4480560" cy="292608"/>
          </a:xfrm>
          <a:prstGeom prst="rect">
            <a:avLst/>
          </a:prstGeom>
          <a:noFill/>
          <a:ln/>
        </p:spPr>
        <p:txBody>
          <a:bodyPr wrap="square" lIns="0" tIns="0" rIns="0" bIns="0" rtlCol="0" anchor="ctr"/>
          <a:lstStyle/>
          <a:p>
            <a:pPr marL="0" indent="0">
              <a:buNone/>
            </a:pPr>
            <a:r>
              <a:rPr lang="en-US" sz="1400" b="1" dirty="0">
                <a:solidFill>
                  <a:srgbClr val="1B2A32"/>
                </a:solidFill>
                <a:latin typeface="Calibri" pitchFamily="34" charset="0"/>
                <a:ea typeface="Calibri" pitchFamily="34" charset="-122"/>
                <a:cs typeface="Calibri" pitchFamily="34" charset="-120"/>
              </a:rPr>
              <a:t>Подавление немаксимумов</a:t>
            </a:r>
            <a:endParaRPr lang="en-US" sz="1400" dirty="0"/>
          </a:p>
        </p:txBody>
      </p:sp>
      <p:sp>
        <p:nvSpPr>
          <p:cNvPr id="13" name="Text 11"/>
          <p:cNvSpPr txBox="1"/>
          <p:nvPr/>
        </p:nvSpPr>
        <p:spPr>
          <a:xfrm>
            <a:off x="7013448" y="2121408"/>
            <a:ext cx="4480560" cy="502920"/>
          </a:xfrm>
          <a:prstGeom prst="rect">
            <a:avLst/>
          </a:prstGeom>
          <a:noFill/>
          <a:ln/>
        </p:spPr>
        <p:txBody>
          <a:bodyPr wrap="square" lIns="0" tIns="0" rIns="0" bIns="0" rtlCol="0" anchor="ctr"/>
          <a:lstStyle/>
          <a:p>
            <a:pPr marL="0" indent="0">
              <a:lnSpc>
                <a:spcPct val="110000"/>
              </a:lnSpc>
              <a:buNone/>
            </a:pPr>
            <a:r>
              <a:rPr lang="en-US" sz="1150" dirty="0">
                <a:solidFill>
                  <a:srgbClr val="6E7F88"/>
                </a:solidFill>
                <a:latin typeface="Calibri" pitchFamily="34" charset="0"/>
                <a:ea typeface="Calibri" pitchFamily="34" charset="-122"/>
                <a:cs typeface="Calibri" pitchFamily="34" charset="-120"/>
              </a:rPr>
              <a:t>поперёк линии — превращает полосу в гребень шириной в ячейку</a:t>
            </a:r>
            <a:endParaRPr lang="en-US" sz="1150" dirty="0"/>
          </a:p>
        </p:txBody>
      </p:sp>
      <p:sp>
        <p:nvSpPr>
          <p:cNvPr id="14" name="Shape 12"/>
          <p:cNvSpPr/>
          <p:nvPr/>
        </p:nvSpPr>
        <p:spPr>
          <a:xfrm>
            <a:off x="548640" y="2880360"/>
            <a:ext cx="5394960" cy="1051560"/>
          </a:xfrm>
          <a:prstGeom prst="roundRect">
            <a:avLst>
              <a:gd name="adj" fmla="val 6957"/>
            </a:avLst>
          </a:prstGeom>
          <a:solidFill>
            <a:srgbClr val="FBFAF8"/>
          </a:solidFill>
          <a:ln w="9525">
            <a:solidFill>
              <a:srgbClr val="FBFAF8"/>
            </a:solidFill>
            <a:prstDash val="solid"/>
          </a:ln>
        </p:spPr>
      </p:sp>
      <p:sp>
        <p:nvSpPr>
          <p:cNvPr id="15" name="Shape 13"/>
          <p:cNvSpPr/>
          <p:nvPr/>
        </p:nvSpPr>
        <p:spPr>
          <a:xfrm>
            <a:off x="777240" y="3209544"/>
            <a:ext cx="384048" cy="384048"/>
          </a:xfrm>
          <a:prstGeom prst="ellipse">
            <a:avLst/>
          </a:prstGeom>
          <a:solidFill>
            <a:srgbClr val="1B2A32"/>
          </a:solidFill>
          <a:ln w="12700">
            <a:solidFill>
              <a:srgbClr val="1B2A32"/>
            </a:solidFill>
            <a:prstDash val="solid"/>
          </a:ln>
        </p:spPr>
      </p:sp>
      <p:sp>
        <p:nvSpPr>
          <p:cNvPr id="16" name="Text 14"/>
          <p:cNvSpPr txBox="1"/>
          <p:nvPr/>
        </p:nvSpPr>
        <p:spPr>
          <a:xfrm>
            <a:off x="777240" y="320954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7" name="Text 15"/>
          <p:cNvSpPr txBox="1"/>
          <p:nvPr/>
        </p:nvSpPr>
        <p:spPr>
          <a:xfrm>
            <a:off x="1298448" y="3044952"/>
            <a:ext cx="4480560" cy="292608"/>
          </a:xfrm>
          <a:prstGeom prst="rect">
            <a:avLst/>
          </a:prstGeom>
          <a:noFill/>
          <a:ln/>
        </p:spPr>
        <p:txBody>
          <a:bodyPr wrap="square" lIns="0" tIns="0" rIns="0" bIns="0" rtlCol="0" anchor="ctr"/>
          <a:lstStyle/>
          <a:p>
            <a:pPr marL="0" indent="0">
              <a:buNone/>
            </a:pPr>
            <a:r>
              <a:rPr lang="en-US" sz="1400" b="1" dirty="0">
                <a:solidFill>
                  <a:srgbClr val="1B2A32"/>
                </a:solidFill>
                <a:latin typeface="Calibri" pitchFamily="34" charset="0"/>
                <a:ea typeface="Calibri" pitchFamily="34" charset="-122"/>
                <a:cs typeface="Calibri" pitchFamily="34" charset="-120"/>
              </a:rPr>
              <a:t>Гистерезисный порог</a:t>
            </a:r>
            <a:endParaRPr lang="en-US" sz="1400" dirty="0"/>
          </a:p>
        </p:txBody>
      </p:sp>
      <p:sp>
        <p:nvSpPr>
          <p:cNvPr id="18" name="Text 16"/>
          <p:cNvSpPr txBox="1"/>
          <p:nvPr/>
        </p:nvSpPr>
        <p:spPr>
          <a:xfrm>
            <a:off x="1298448" y="3355848"/>
            <a:ext cx="4480560" cy="502920"/>
          </a:xfrm>
          <a:prstGeom prst="rect">
            <a:avLst/>
          </a:prstGeom>
          <a:noFill/>
          <a:ln/>
        </p:spPr>
        <p:txBody>
          <a:bodyPr wrap="square" lIns="0" tIns="0" rIns="0" bIns="0" rtlCol="0" anchor="ctr"/>
          <a:lstStyle/>
          <a:p>
            <a:pPr marL="0" indent="0">
              <a:lnSpc>
                <a:spcPct val="110000"/>
              </a:lnSpc>
              <a:buNone/>
            </a:pPr>
            <a:r>
              <a:rPr lang="en-US" sz="1150" dirty="0">
                <a:solidFill>
                  <a:srgbClr val="6E7F88"/>
                </a:solidFill>
                <a:latin typeface="Calibri" pitchFamily="34" charset="0"/>
                <a:ea typeface="Calibri" pitchFamily="34" charset="-122"/>
                <a:cs typeface="Calibri" pitchFamily="34" charset="-120"/>
              </a:rPr>
              <a:t>по двум квантилям площади: слабое продолжение сильной линии сохраняется, слабое одиночное — нет</a:t>
            </a:r>
            <a:endParaRPr lang="en-US" sz="1150" dirty="0"/>
          </a:p>
        </p:txBody>
      </p:sp>
      <p:sp>
        <p:nvSpPr>
          <p:cNvPr id="19" name="Shape 17"/>
          <p:cNvSpPr/>
          <p:nvPr/>
        </p:nvSpPr>
        <p:spPr>
          <a:xfrm>
            <a:off x="6263640" y="2880360"/>
            <a:ext cx="5394960" cy="1051560"/>
          </a:xfrm>
          <a:prstGeom prst="roundRect">
            <a:avLst>
              <a:gd name="adj" fmla="val 6957"/>
            </a:avLst>
          </a:prstGeom>
          <a:solidFill>
            <a:srgbClr val="FBFAF8"/>
          </a:solidFill>
          <a:ln w="9525">
            <a:solidFill>
              <a:srgbClr val="FBFAF8"/>
            </a:solidFill>
            <a:prstDash val="solid"/>
          </a:ln>
        </p:spPr>
      </p:sp>
      <p:sp>
        <p:nvSpPr>
          <p:cNvPr id="20" name="Shape 18"/>
          <p:cNvSpPr/>
          <p:nvPr/>
        </p:nvSpPr>
        <p:spPr>
          <a:xfrm>
            <a:off x="6492240" y="3209544"/>
            <a:ext cx="384048" cy="384048"/>
          </a:xfrm>
          <a:prstGeom prst="ellipse">
            <a:avLst/>
          </a:prstGeom>
          <a:solidFill>
            <a:srgbClr val="1B2A32"/>
          </a:solidFill>
          <a:ln w="12700">
            <a:solidFill>
              <a:srgbClr val="1B2A32"/>
            </a:solidFill>
            <a:prstDash val="solid"/>
          </a:ln>
        </p:spPr>
      </p:sp>
      <p:sp>
        <p:nvSpPr>
          <p:cNvPr id="21" name="Text 19"/>
          <p:cNvSpPr txBox="1"/>
          <p:nvPr/>
        </p:nvSpPr>
        <p:spPr>
          <a:xfrm>
            <a:off x="6492240" y="320954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22" name="Text 20"/>
          <p:cNvSpPr txBox="1"/>
          <p:nvPr/>
        </p:nvSpPr>
        <p:spPr>
          <a:xfrm>
            <a:off x="7013448" y="3044952"/>
            <a:ext cx="4480560" cy="292608"/>
          </a:xfrm>
          <a:prstGeom prst="rect">
            <a:avLst/>
          </a:prstGeom>
          <a:noFill/>
          <a:ln/>
        </p:spPr>
        <p:txBody>
          <a:bodyPr wrap="square" lIns="0" tIns="0" rIns="0" bIns="0" rtlCol="0" anchor="ctr"/>
          <a:lstStyle/>
          <a:p>
            <a:pPr marL="0" indent="0">
              <a:buNone/>
            </a:pPr>
            <a:r>
              <a:rPr lang="en-US" sz="1400" b="1" dirty="0">
                <a:solidFill>
                  <a:srgbClr val="1B2A32"/>
                </a:solidFill>
                <a:latin typeface="Calibri" pitchFamily="34" charset="0"/>
                <a:ea typeface="Calibri" pitchFamily="34" charset="-122"/>
                <a:cs typeface="Calibri" pitchFamily="34" charset="-120"/>
              </a:rPr>
              <a:t>Скелетизация</a:t>
            </a:r>
            <a:endParaRPr lang="en-US" sz="1400" dirty="0"/>
          </a:p>
        </p:txBody>
      </p:sp>
      <p:sp>
        <p:nvSpPr>
          <p:cNvPr id="23" name="Text 21"/>
          <p:cNvSpPr txBox="1"/>
          <p:nvPr/>
        </p:nvSpPr>
        <p:spPr>
          <a:xfrm>
            <a:off x="7013448" y="3355848"/>
            <a:ext cx="4480560" cy="502920"/>
          </a:xfrm>
          <a:prstGeom prst="rect">
            <a:avLst/>
          </a:prstGeom>
          <a:noFill/>
          <a:ln/>
        </p:spPr>
        <p:txBody>
          <a:bodyPr wrap="square" lIns="0" tIns="0" rIns="0" bIns="0" rtlCol="0" anchor="ctr"/>
          <a:lstStyle/>
          <a:p>
            <a:pPr marL="0" indent="0">
              <a:lnSpc>
                <a:spcPct val="110000"/>
              </a:lnSpc>
              <a:buNone/>
            </a:pPr>
            <a:r>
              <a:rPr lang="en-US" sz="1150" dirty="0">
                <a:solidFill>
                  <a:srgbClr val="6E7F88"/>
                </a:solidFill>
                <a:latin typeface="Calibri" pitchFamily="34" charset="0"/>
                <a:ea typeface="Calibri" pitchFamily="34" charset="-122"/>
                <a:cs typeface="Calibri" pitchFamily="34" charset="-120"/>
              </a:rPr>
              <a:t>и состригание отростков короче 1 км</a:t>
            </a:r>
            <a:endParaRPr lang="en-US" sz="1150" dirty="0"/>
          </a:p>
        </p:txBody>
      </p:sp>
      <p:sp>
        <p:nvSpPr>
          <p:cNvPr id="24" name="Shape 22"/>
          <p:cNvSpPr/>
          <p:nvPr/>
        </p:nvSpPr>
        <p:spPr>
          <a:xfrm>
            <a:off x="548640" y="4114800"/>
            <a:ext cx="5394960" cy="1051560"/>
          </a:xfrm>
          <a:prstGeom prst="roundRect">
            <a:avLst>
              <a:gd name="adj" fmla="val 6957"/>
            </a:avLst>
          </a:prstGeom>
          <a:solidFill>
            <a:srgbClr val="FBFAF8"/>
          </a:solidFill>
          <a:ln w="9525">
            <a:solidFill>
              <a:srgbClr val="FBFAF8"/>
            </a:solidFill>
            <a:prstDash val="solid"/>
          </a:ln>
        </p:spPr>
      </p:sp>
      <p:sp>
        <p:nvSpPr>
          <p:cNvPr id="25" name="Shape 23"/>
          <p:cNvSpPr/>
          <p:nvPr/>
        </p:nvSpPr>
        <p:spPr>
          <a:xfrm>
            <a:off x="777240" y="4443984"/>
            <a:ext cx="384048" cy="384048"/>
          </a:xfrm>
          <a:prstGeom prst="ellipse">
            <a:avLst/>
          </a:prstGeom>
          <a:solidFill>
            <a:srgbClr val="1B2A32"/>
          </a:solidFill>
          <a:ln w="12700">
            <a:solidFill>
              <a:srgbClr val="1B2A32"/>
            </a:solidFill>
            <a:prstDash val="solid"/>
          </a:ln>
        </p:spPr>
      </p:sp>
      <p:sp>
        <p:nvSpPr>
          <p:cNvPr id="26" name="Text 24"/>
          <p:cNvSpPr txBox="1"/>
          <p:nvPr/>
        </p:nvSpPr>
        <p:spPr>
          <a:xfrm>
            <a:off x="777240" y="444398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7" name="Text 25"/>
          <p:cNvSpPr txBox="1"/>
          <p:nvPr/>
        </p:nvSpPr>
        <p:spPr>
          <a:xfrm>
            <a:off x="1298448" y="4279392"/>
            <a:ext cx="4480560" cy="292608"/>
          </a:xfrm>
          <a:prstGeom prst="rect">
            <a:avLst/>
          </a:prstGeom>
          <a:noFill/>
          <a:ln/>
        </p:spPr>
        <p:txBody>
          <a:bodyPr wrap="square" lIns="0" tIns="0" rIns="0" bIns="0" rtlCol="0" anchor="ctr"/>
          <a:lstStyle/>
          <a:p>
            <a:pPr marL="0" indent="0">
              <a:buNone/>
            </a:pPr>
            <a:r>
              <a:rPr lang="en-US" sz="1400" b="1" dirty="0">
                <a:solidFill>
                  <a:srgbClr val="1B2A32"/>
                </a:solidFill>
                <a:latin typeface="Calibri" pitchFamily="34" charset="0"/>
                <a:ea typeface="Calibri" pitchFamily="34" charset="-122"/>
                <a:cs typeface="Calibri" pitchFamily="34" charset="-120"/>
              </a:rPr>
              <a:t>Сшивка разрывов</a:t>
            </a:r>
            <a:endParaRPr lang="en-US" sz="1400" dirty="0"/>
          </a:p>
        </p:txBody>
      </p:sp>
      <p:sp>
        <p:nvSpPr>
          <p:cNvPr id="28" name="Text 26"/>
          <p:cNvSpPr txBox="1"/>
          <p:nvPr/>
        </p:nvSpPr>
        <p:spPr>
          <a:xfrm>
            <a:off x="1298448" y="4590288"/>
            <a:ext cx="4480560" cy="502920"/>
          </a:xfrm>
          <a:prstGeom prst="rect">
            <a:avLst/>
          </a:prstGeom>
          <a:noFill/>
          <a:ln/>
        </p:spPr>
        <p:txBody>
          <a:bodyPr wrap="square" lIns="0" tIns="0" rIns="0" bIns="0" rtlCol="0" anchor="ctr"/>
          <a:lstStyle/>
          <a:p>
            <a:pPr marL="0" indent="0">
              <a:lnSpc>
                <a:spcPct val="110000"/>
              </a:lnSpc>
              <a:buNone/>
            </a:pPr>
            <a:r>
              <a:rPr lang="en-US" sz="1150" dirty="0">
                <a:solidFill>
                  <a:srgbClr val="6E7F88"/>
                </a:solidFill>
                <a:latin typeface="Calibri" pitchFamily="34" charset="0"/>
                <a:ea typeface="Calibri" pitchFamily="34" charset="-122"/>
                <a:cs typeface="Calibri" pitchFamily="34" charset="-120"/>
              </a:rPr>
              <a:t>коллинеарных, до 2 км, при расхождении направлений ≤ 20°</a:t>
            </a:r>
            <a:endParaRPr lang="en-US" sz="1150" dirty="0"/>
          </a:p>
        </p:txBody>
      </p:sp>
      <p:sp>
        <p:nvSpPr>
          <p:cNvPr id="29" name="Shape 27"/>
          <p:cNvSpPr/>
          <p:nvPr/>
        </p:nvSpPr>
        <p:spPr>
          <a:xfrm>
            <a:off x="6263640" y="4114800"/>
            <a:ext cx="5394960" cy="1051560"/>
          </a:xfrm>
          <a:prstGeom prst="roundRect">
            <a:avLst>
              <a:gd name="adj" fmla="val 6957"/>
            </a:avLst>
          </a:prstGeom>
          <a:solidFill>
            <a:srgbClr val="FBFAF8"/>
          </a:solidFill>
          <a:ln w="9525">
            <a:solidFill>
              <a:srgbClr val="FBFAF8"/>
            </a:solidFill>
            <a:prstDash val="solid"/>
          </a:ln>
        </p:spPr>
      </p:sp>
      <p:sp>
        <p:nvSpPr>
          <p:cNvPr id="30" name="Shape 28"/>
          <p:cNvSpPr/>
          <p:nvPr/>
        </p:nvSpPr>
        <p:spPr>
          <a:xfrm>
            <a:off x="6492240" y="4443984"/>
            <a:ext cx="384048" cy="384048"/>
          </a:xfrm>
          <a:prstGeom prst="ellipse">
            <a:avLst/>
          </a:prstGeom>
          <a:solidFill>
            <a:srgbClr val="1B2A32"/>
          </a:solidFill>
          <a:ln w="12700">
            <a:solidFill>
              <a:srgbClr val="1B2A32"/>
            </a:solidFill>
            <a:prstDash val="solid"/>
          </a:ln>
        </p:spPr>
      </p:sp>
      <p:sp>
        <p:nvSpPr>
          <p:cNvPr id="31" name="Text 29"/>
          <p:cNvSpPr txBox="1"/>
          <p:nvPr/>
        </p:nvSpPr>
        <p:spPr>
          <a:xfrm>
            <a:off x="6492240" y="444398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32" name="Text 30"/>
          <p:cNvSpPr txBox="1"/>
          <p:nvPr/>
        </p:nvSpPr>
        <p:spPr>
          <a:xfrm>
            <a:off x="7013448" y="4279392"/>
            <a:ext cx="4480560" cy="292608"/>
          </a:xfrm>
          <a:prstGeom prst="rect">
            <a:avLst/>
          </a:prstGeom>
          <a:noFill/>
          <a:ln/>
        </p:spPr>
        <p:txBody>
          <a:bodyPr wrap="square" lIns="0" tIns="0" rIns="0" bIns="0" rtlCol="0" anchor="ctr"/>
          <a:lstStyle/>
          <a:p>
            <a:pPr marL="0" indent="0">
              <a:buNone/>
            </a:pPr>
            <a:r>
              <a:rPr lang="en-US" sz="1400" b="1" dirty="0">
                <a:solidFill>
                  <a:srgbClr val="1B2A32"/>
                </a:solidFill>
                <a:latin typeface="Calibri" pitchFamily="34" charset="0"/>
                <a:ea typeface="Calibri" pitchFamily="34" charset="-122"/>
                <a:cs typeface="Calibri" pitchFamily="34" charset="-120"/>
              </a:rPr>
              <a:t>Разрез в узлах, отсев</a:t>
            </a:r>
            <a:endParaRPr lang="en-US" sz="1400" dirty="0"/>
          </a:p>
        </p:txBody>
      </p:sp>
      <p:sp>
        <p:nvSpPr>
          <p:cNvPr id="33" name="Text 31"/>
          <p:cNvSpPr txBox="1"/>
          <p:nvPr/>
        </p:nvSpPr>
        <p:spPr>
          <a:xfrm>
            <a:off x="7013448" y="4590288"/>
            <a:ext cx="4480560" cy="502920"/>
          </a:xfrm>
          <a:prstGeom prst="rect">
            <a:avLst/>
          </a:prstGeom>
          <a:noFill/>
          <a:ln/>
        </p:spPr>
        <p:txBody>
          <a:bodyPr wrap="square" lIns="0" tIns="0" rIns="0" bIns="0" rtlCol="0" anchor="ctr"/>
          <a:lstStyle/>
          <a:p>
            <a:pPr marL="0" indent="0">
              <a:lnSpc>
                <a:spcPct val="110000"/>
              </a:lnSpc>
              <a:buNone/>
            </a:pPr>
            <a:r>
              <a:rPr lang="en-US" sz="1150" dirty="0">
                <a:solidFill>
                  <a:srgbClr val="6E7F88"/>
                </a:solidFill>
                <a:latin typeface="Calibri" pitchFamily="34" charset="0"/>
                <a:ea typeface="Calibri" pitchFamily="34" charset="-122"/>
                <a:cs typeface="Calibri" pitchFamily="34" charset="-120"/>
              </a:rPr>
              <a:t>по длине и прямолинейности</a:t>
            </a:r>
            <a:endParaRPr lang="en-US" sz="1150" dirty="0"/>
          </a:p>
        </p:txBody>
      </p:sp>
      <p:sp>
        <p:nvSpPr>
          <p:cNvPr id="34" name="Text 32"/>
          <p:cNvSpPr txBox="1"/>
          <p:nvPr/>
        </p:nvSpPr>
        <p:spPr>
          <a:xfrm>
            <a:off x="548640" y="5440680"/>
            <a:ext cx="11064240" cy="411480"/>
          </a:xfrm>
          <a:prstGeom prst="rect">
            <a:avLst/>
          </a:prstGeom>
          <a:noFill/>
          <a:ln/>
        </p:spPr>
        <p:txBody>
          <a:bodyPr wrap="square" lIns="0" tIns="0" rIns="0" bIns="0" rtlCol="0" anchor="ctr"/>
          <a:lstStyle/>
          <a:p>
            <a:pPr marL="0" indent="0">
              <a:buNone/>
            </a:pPr>
            <a:r>
              <a:rPr lang="en-US" sz="1350" i="1" dirty="0">
                <a:solidFill>
                  <a:srgbClr val="1B2A32"/>
                </a:solidFill>
                <a:latin typeface="Calibri" pitchFamily="34" charset="0"/>
                <a:ea typeface="Calibri" pitchFamily="34" charset="-122"/>
                <a:cs typeface="Calibri" pitchFamily="34" charset="-120"/>
              </a:rPr>
              <a:t>На выходе — отрезки с силой, азимутом и геометрией; ни один порог не настраивался по разметке.</a:t>
            </a:r>
            <a:endParaRPr lang="en-US" sz="1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marL="0" indent="0">
              <a:buNone/>
            </a:pPr>
            <a:r>
              <a:rPr lang="en-US" sz="3200" b="1" dirty="0">
                <a:solidFill>
                  <a:srgbClr val="1B2A32"/>
                </a:solidFill>
                <a:latin typeface="Cambria" pitchFamily="34" charset="0"/>
                <a:ea typeface="Cambria" pitchFamily="34" charset="-122"/>
                <a:cs typeface="Cambria" pitchFamily="34" charset="-120"/>
              </a:rPr>
              <a:t>Шаг 5: отбор по подтверждению</a:t>
            </a:r>
            <a:endParaRPr lang="en-US" sz="3200" dirty="0"/>
          </a:p>
        </p:txBody>
      </p:sp>
      <p:sp>
        <p:nvSpPr>
          <p:cNvPr id="3" name="Text 1"/>
          <p:cNvSpPr txBox="1"/>
          <p:nvPr/>
        </p:nvSpPr>
        <p:spPr>
          <a:xfrm>
            <a:off x="548640" y="987552"/>
            <a:ext cx="11064240" cy="365760"/>
          </a:xfrm>
          <a:prstGeom prst="rect">
            <a:avLst/>
          </a:prstGeom>
          <a:noFill/>
          <a:ln/>
        </p:spPr>
        <p:txBody>
          <a:bodyPr wrap="square" lIns="0" tIns="0" rIns="0" bIns="0" rtlCol="0" anchor="ctr"/>
          <a:lstStyle/>
          <a:p>
            <a:pPr marL="0" indent="0">
              <a:buNone/>
            </a:pPr>
            <a:r>
              <a:rPr lang="en-US" sz="1400" i="1" dirty="0">
                <a:solidFill>
                  <a:srgbClr val="6E7F88"/>
                </a:solidFill>
                <a:latin typeface="Calibri" pitchFamily="34" charset="0"/>
                <a:ea typeface="Calibri" pitchFamily="34" charset="-122"/>
                <a:cs typeface="Calibri" pitchFamily="34" charset="-120"/>
              </a:rPr>
              <a:t>Раскол данных здесь физический, а не случайный</a:t>
            </a:r>
            <a:endParaRPr lang="en-US" sz="1400" dirty="0"/>
          </a:p>
        </p:txBody>
      </p:sp>
      <p:sp>
        <p:nvSpPr>
          <p:cNvPr id="4" name="Shape 2"/>
          <p:cNvSpPr/>
          <p:nvPr/>
        </p:nvSpPr>
        <p:spPr>
          <a:xfrm>
            <a:off x="548640" y="1645920"/>
            <a:ext cx="5394960" cy="1371600"/>
          </a:xfrm>
          <a:prstGeom prst="roundRect">
            <a:avLst>
              <a:gd name="adj" fmla="val 5333"/>
            </a:avLst>
          </a:prstGeom>
          <a:solidFill>
            <a:srgbClr val="F4EFEA"/>
          </a:solidFill>
          <a:ln w="9525">
            <a:solidFill>
              <a:srgbClr val="F4EFEA"/>
            </a:solidFill>
            <a:prstDash val="solid"/>
          </a:ln>
        </p:spPr>
      </p:sp>
      <p:sp>
        <p:nvSpPr>
          <p:cNvPr id="5" name="Text 3"/>
          <p:cNvSpPr txBox="1"/>
          <p:nvPr/>
        </p:nvSpPr>
        <p:spPr>
          <a:xfrm>
            <a:off x="822960" y="1810512"/>
            <a:ext cx="4846320" cy="320040"/>
          </a:xfrm>
          <a:prstGeom prst="rect">
            <a:avLst/>
          </a:prstGeom>
          <a:noFill/>
          <a:ln/>
        </p:spPr>
        <p:txBody>
          <a:bodyPr wrap="square" lIns="0" tIns="0" rIns="0" bIns="0" rtlCol="0" anchor="ctr"/>
          <a:lstStyle/>
          <a:p>
            <a:pPr marL="0" indent="0">
              <a:buNone/>
            </a:pPr>
            <a:r>
              <a:rPr lang="en-US" sz="1600" b="1" dirty="0">
                <a:solidFill>
                  <a:srgbClr val="C15B33"/>
                </a:solidFill>
                <a:latin typeface="Calibri" pitchFamily="34" charset="0"/>
                <a:ea typeface="Calibri" pitchFamily="34" charset="-122"/>
                <a:cs typeface="Calibri" pitchFamily="34" charset="-120"/>
              </a:rPr>
              <a:t>Оптика</a:t>
            </a:r>
            <a:endParaRPr lang="en-US" sz="1600" dirty="0"/>
          </a:p>
        </p:txBody>
      </p:sp>
      <p:sp>
        <p:nvSpPr>
          <p:cNvPr id="6" name="Text 4"/>
          <p:cNvSpPr txBox="1"/>
          <p:nvPr/>
        </p:nvSpPr>
        <p:spPr>
          <a:xfrm>
            <a:off x="822960" y="2176272"/>
            <a:ext cx="4846320" cy="731520"/>
          </a:xfrm>
          <a:prstGeom prst="rect">
            <a:avLst/>
          </a:prstGeom>
          <a:noFill/>
          <a:ln/>
        </p:spPr>
        <p:txBody>
          <a:bodyPr wrap="square" lIns="0" tIns="0" rIns="0" bIns="0" rtlCol="0" anchor="ctr"/>
          <a:lstStyle/>
          <a:p>
            <a:pPr marL="0" indent="0">
              <a:buNone/>
            </a:pPr>
            <a:r>
              <a:rPr lang="en-US" sz="1350" dirty="0">
                <a:solidFill>
                  <a:srgbClr val="1B2A32"/>
                </a:solidFill>
                <a:latin typeface="Calibri" pitchFamily="34" charset="0"/>
                <a:ea typeface="Calibri" pitchFamily="34" charset="-122"/>
                <a:cs typeface="Calibri" pitchFamily="34" charset="-120"/>
              </a:rPr>
              <a:t>Яркость, NDVI. Свои артефакты — облако и тень.</a:t>
            </a:r>
            <a:endParaRPr lang="en-US" sz="1350" dirty="0"/>
          </a:p>
        </p:txBody>
      </p:sp>
      <p:sp>
        <p:nvSpPr>
          <p:cNvPr id="7" name="Shape 5"/>
          <p:cNvSpPr/>
          <p:nvPr/>
        </p:nvSpPr>
        <p:spPr>
          <a:xfrm>
            <a:off x="6263640" y="1645920"/>
            <a:ext cx="5394960" cy="1371600"/>
          </a:xfrm>
          <a:prstGeom prst="roundRect">
            <a:avLst>
              <a:gd name="adj" fmla="val 5333"/>
            </a:avLst>
          </a:prstGeom>
          <a:solidFill>
            <a:srgbClr val="EAF0F3"/>
          </a:solidFill>
          <a:ln w="9525">
            <a:solidFill>
              <a:srgbClr val="EAF0F3"/>
            </a:solidFill>
            <a:prstDash val="solid"/>
          </a:ln>
        </p:spPr>
      </p:sp>
      <p:sp>
        <p:nvSpPr>
          <p:cNvPr id="8" name="Text 6"/>
          <p:cNvSpPr txBox="1"/>
          <p:nvPr/>
        </p:nvSpPr>
        <p:spPr>
          <a:xfrm>
            <a:off x="6537960" y="1810512"/>
            <a:ext cx="4846320" cy="320040"/>
          </a:xfrm>
          <a:prstGeom prst="rect">
            <a:avLst/>
          </a:prstGeom>
          <a:noFill/>
          <a:ln/>
        </p:spPr>
        <p:txBody>
          <a:bodyPr wrap="square" lIns="0" tIns="0" rIns="0" bIns="0" rtlCol="0" anchor="ctr"/>
          <a:lstStyle/>
          <a:p>
            <a:pPr marL="0" indent="0">
              <a:buNone/>
            </a:pPr>
            <a:r>
              <a:rPr lang="en-US" sz="1600" b="1" dirty="0">
                <a:solidFill>
                  <a:srgbClr val="3E6E8E"/>
                </a:solidFill>
                <a:latin typeface="Calibri" pitchFamily="34" charset="0"/>
                <a:ea typeface="Calibri" pitchFamily="34" charset="-122"/>
                <a:cs typeface="Calibri" pitchFamily="34" charset="-120"/>
              </a:rPr>
              <a:t>Радар</a:t>
            </a:r>
            <a:endParaRPr lang="en-US" sz="1600" dirty="0"/>
          </a:p>
        </p:txBody>
      </p:sp>
      <p:sp>
        <p:nvSpPr>
          <p:cNvPr id="9" name="Text 7"/>
          <p:cNvSpPr txBox="1"/>
          <p:nvPr/>
        </p:nvSpPr>
        <p:spPr>
          <a:xfrm>
            <a:off x="6537960" y="2176272"/>
            <a:ext cx="4846320" cy="731520"/>
          </a:xfrm>
          <a:prstGeom prst="rect">
            <a:avLst/>
          </a:prstGeom>
          <a:noFill/>
          <a:ln/>
        </p:spPr>
        <p:txBody>
          <a:bodyPr wrap="square" lIns="0" tIns="0" rIns="0" bIns="0" rtlCol="0" anchor="ctr"/>
          <a:lstStyle/>
          <a:p>
            <a:pPr marL="0" indent="0">
              <a:buNone/>
            </a:pPr>
            <a:r>
              <a:rPr lang="en-US" sz="1350" dirty="0">
                <a:solidFill>
                  <a:srgbClr val="1B2A32"/>
                </a:solidFill>
                <a:latin typeface="Calibri" pitchFamily="34" charset="0"/>
                <a:ea typeface="Calibri" pitchFamily="34" charset="-122"/>
                <a:cs typeface="Calibri" pitchFamily="34" charset="-120"/>
              </a:rPr>
              <a:t>VV, VH, когерентность. Свои артефакты — спекл и геометрия съёмки.</a:t>
            </a:r>
            <a:endParaRPr lang="en-US" sz="1350" dirty="0"/>
          </a:p>
        </p:txBody>
      </p:sp>
      <p:sp>
        <p:nvSpPr>
          <p:cNvPr id="10" name="Shape 8"/>
          <p:cNvSpPr/>
          <p:nvPr/>
        </p:nvSpPr>
        <p:spPr>
          <a:xfrm>
            <a:off x="548640" y="3246120"/>
            <a:ext cx="11109960" cy="914400"/>
          </a:xfrm>
          <a:prstGeom prst="roundRect">
            <a:avLst>
              <a:gd name="adj" fmla="val 8000"/>
            </a:avLst>
          </a:prstGeom>
          <a:solidFill>
            <a:srgbClr val="FFFFFF"/>
          </a:solidFill>
          <a:ln w="9525">
            <a:solidFill>
              <a:srgbClr val="FFFFFF"/>
            </a:solidFill>
            <a:prstDash val="solid"/>
          </a:ln>
        </p:spPr>
      </p:sp>
      <p:sp>
        <p:nvSpPr>
          <p:cNvPr id="11" name="Text 9"/>
          <p:cNvSpPr txBox="1"/>
          <p:nvPr/>
        </p:nvSpPr>
        <p:spPr>
          <a:xfrm>
            <a:off x="822960" y="3383280"/>
            <a:ext cx="10561320" cy="685800"/>
          </a:xfrm>
          <a:prstGeom prst="rect">
            <a:avLst/>
          </a:prstGeom>
          <a:noFill/>
          <a:ln/>
        </p:spPr>
        <p:txBody>
          <a:bodyPr wrap="square" lIns="0" tIns="0" rIns="0" bIns="0" rtlCol="0" anchor="ctr"/>
          <a:lstStyle/>
          <a:p>
            <a:pPr marL="0" indent="0">
              <a:lnSpc>
                <a:spcPct val="115000"/>
              </a:lnSpc>
              <a:buNone/>
            </a:pPr>
            <a:r>
              <a:rPr lang="en-US" sz="1400" dirty="0">
                <a:solidFill>
                  <a:srgbClr val="1B2A32"/>
                </a:solidFill>
                <a:latin typeface="Calibri" pitchFamily="34" charset="0"/>
                <a:ea typeface="Calibri" pitchFamily="34" charset="-122"/>
                <a:cs typeface="Calibri" pitchFamily="34" charset="-120"/>
              </a:rPr>
              <a:t>Весь конвейер прогоняется трижды: только оптика, только радар, оба вместе. Линия остаётся в карте, если оба прибора по отдельности видят вдоль неё свою линию того же направления не меньше чем на половине её длины.</a:t>
            </a:r>
            <a:endParaRPr lang="en-US" sz="1400" dirty="0"/>
          </a:p>
        </p:txBody>
      </p:sp>
      <p:sp>
        <p:nvSpPr>
          <p:cNvPr id="12" name="Shape 10"/>
          <p:cNvSpPr/>
          <p:nvPr/>
        </p:nvSpPr>
        <p:spPr>
          <a:xfrm>
            <a:off x="548640" y="4389120"/>
            <a:ext cx="3557016" cy="1417320"/>
          </a:xfrm>
          <a:prstGeom prst="roundRect">
            <a:avLst>
              <a:gd name="adj" fmla="val 5161"/>
            </a:avLst>
          </a:prstGeom>
          <a:solidFill>
            <a:srgbClr val="FBFAF8"/>
          </a:solidFill>
          <a:ln w="9525">
            <a:solidFill>
              <a:srgbClr val="FBFAF8"/>
            </a:solidFill>
            <a:prstDash val="solid"/>
          </a:ln>
        </p:spPr>
      </p:sp>
      <p:sp>
        <p:nvSpPr>
          <p:cNvPr id="13" name="Text 11"/>
          <p:cNvSpPr txBox="1"/>
          <p:nvPr/>
        </p:nvSpPr>
        <p:spPr>
          <a:xfrm>
            <a:off x="749808" y="4526280"/>
            <a:ext cx="3154680" cy="292608"/>
          </a:xfrm>
          <a:prstGeom prst="rect">
            <a:avLst/>
          </a:prstGeom>
          <a:noFill/>
          <a:ln/>
        </p:spPr>
        <p:txBody>
          <a:bodyPr wrap="square" lIns="0" tIns="0" rIns="0" bIns="0" rtlCol="0" anchor="ctr"/>
          <a:lstStyle/>
          <a:p>
            <a:pPr marL="0" indent="0">
              <a:buNone/>
            </a:pPr>
            <a:r>
              <a:rPr lang="en-US" sz="1400" b="1" dirty="0">
                <a:solidFill>
                  <a:srgbClr val="1B2A32"/>
                </a:solidFill>
                <a:latin typeface="Calibri" pitchFamily="34" charset="0"/>
                <a:ea typeface="Calibri" pitchFamily="34" charset="-122"/>
                <a:cs typeface="Calibri" pitchFamily="34" charset="-120"/>
              </a:rPr>
              <a:t>Вдоль длины</a:t>
            </a:r>
            <a:endParaRPr lang="en-US" sz="1400" dirty="0"/>
          </a:p>
        </p:txBody>
      </p:sp>
      <p:sp>
        <p:nvSpPr>
          <p:cNvPr id="14" name="Text 12"/>
          <p:cNvSpPr txBox="1"/>
          <p:nvPr/>
        </p:nvSpPr>
        <p:spPr>
          <a:xfrm>
            <a:off x="749808" y="4855464"/>
            <a:ext cx="3154680" cy="868680"/>
          </a:xfrm>
          <a:prstGeom prst="rect">
            <a:avLst/>
          </a:prstGeom>
          <a:noFill/>
          <a:ln/>
        </p:spPr>
        <p:txBody>
          <a:bodyPr wrap="square" lIns="0" tIns="0" rIns="0" bIns="0" rtlCol="0" anchor="ctr"/>
          <a:lstStyle/>
          <a:p>
            <a:pPr marL="0" indent="0">
              <a:lnSpc>
                <a:spcPct val="110000"/>
              </a:lnSpc>
              <a:buNone/>
            </a:pPr>
            <a:r>
              <a:rPr lang="en-US" sz="1150" dirty="0">
                <a:solidFill>
                  <a:srgbClr val="6E7F88"/>
                </a:solidFill>
                <a:latin typeface="Calibri" pitchFamily="34" charset="0"/>
                <a:ea typeface="Calibri" pitchFamily="34" charset="-122"/>
                <a:cs typeface="Calibri" pitchFamily="34" charset="-120"/>
              </a:rPr>
              <a:t>Отсекает случайные касания: общий линеамент виден вторым прибором на всём протяжении, случайное совпадение — куском.</a:t>
            </a:r>
            <a:endParaRPr lang="en-US" sz="1150" dirty="0"/>
          </a:p>
        </p:txBody>
      </p:sp>
      <p:sp>
        <p:nvSpPr>
          <p:cNvPr id="15" name="Shape 13"/>
          <p:cNvSpPr/>
          <p:nvPr/>
        </p:nvSpPr>
        <p:spPr>
          <a:xfrm>
            <a:off x="4325112" y="4389120"/>
            <a:ext cx="3557016" cy="1417320"/>
          </a:xfrm>
          <a:prstGeom prst="roundRect">
            <a:avLst>
              <a:gd name="adj" fmla="val 5161"/>
            </a:avLst>
          </a:prstGeom>
          <a:solidFill>
            <a:srgbClr val="FBFAF8"/>
          </a:solidFill>
          <a:ln w="9525">
            <a:solidFill>
              <a:srgbClr val="FBFAF8"/>
            </a:solidFill>
            <a:prstDash val="solid"/>
          </a:ln>
        </p:spPr>
      </p:sp>
      <p:sp>
        <p:nvSpPr>
          <p:cNvPr id="16" name="Text 14"/>
          <p:cNvSpPr txBox="1"/>
          <p:nvPr/>
        </p:nvSpPr>
        <p:spPr>
          <a:xfrm>
            <a:off x="4526280" y="4526280"/>
            <a:ext cx="3154680" cy="292608"/>
          </a:xfrm>
          <a:prstGeom prst="rect">
            <a:avLst/>
          </a:prstGeom>
          <a:noFill/>
          <a:ln/>
        </p:spPr>
        <p:txBody>
          <a:bodyPr wrap="square" lIns="0" tIns="0" rIns="0" bIns="0" rtlCol="0" anchor="ctr"/>
          <a:lstStyle/>
          <a:p>
            <a:pPr marL="0" indent="0">
              <a:buNone/>
            </a:pPr>
            <a:r>
              <a:rPr lang="en-US" sz="1400" b="1" dirty="0">
                <a:solidFill>
                  <a:srgbClr val="1B2A32"/>
                </a:solidFill>
                <a:latin typeface="Calibri" pitchFamily="34" charset="0"/>
                <a:ea typeface="Calibri" pitchFamily="34" charset="-122"/>
                <a:cs typeface="Calibri" pitchFamily="34" charset="-120"/>
              </a:rPr>
              <a:t>Совпадение направления</a:t>
            </a:r>
            <a:endParaRPr lang="en-US" sz="1400" dirty="0"/>
          </a:p>
        </p:txBody>
      </p:sp>
      <p:sp>
        <p:nvSpPr>
          <p:cNvPr id="17" name="Text 15"/>
          <p:cNvSpPr txBox="1"/>
          <p:nvPr/>
        </p:nvSpPr>
        <p:spPr>
          <a:xfrm>
            <a:off x="4526280" y="4855464"/>
            <a:ext cx="3154680" cy="868680"/>
          </a:xfrm>
          <a:prstGeom prst="rect">
            <a:avLst/>
          </a:prstGeom>
          <a:noFill/>
          <a:ln/>
        </p:spPr>
        <p:txBody>
          <a:bodyPr wrap="square" lIns="0" tIns="0" rIns="0" bIns="0" rtlCol="0" anchor="ctr"/>
          <a:lstStyle/>
          <a:p>
            <a:pPr marL="0" indent="0">
              <a:lnSpc>
                <a:spcPct val="110000"/>
              </a:lnSpc>
              <a:buNone/>
            </a:pPr>
            <a:r>
              <a:rPr lang="en-US" sz="1150" dirty="0">
                <a:solidFill>
                  <a:srgbClr val="6E7F88"/>
                </a:solidFill>
                <a:latin typeface="Calibri" pitchFamily="34" charset="0"/>
                <a:ea typeface="Calibri" pitchFamily="34" charset="-122"/>
                <a:cs typeface="Calibri" pitchFamily="34" charset="-120"/>
              </a:rPr>
              <a:t>Отсекает пересечения, которых в густой карте много и которые иначе засчитывались бы как подтверждение.</a:t>
            </a:r>
            <a:endParaRPr lang="en-US" sz="1150" dirty="0"/>
          </a:p>
        </p:txBody>
      </p:sp>
      <p:sp>
        <p:nvSpPr>
          <p:cNvPr id="18" name="Shape 16"/>
          <p:cNvSpPr/>
          <p:nvPr/>
        </p:nvSpPr>
        <p:spPr>
          <a:xfrm>
            <a:off x="8101584" y="4389120"/>
            <a:ext cx="3557016" cy="1417320"/>
          </a:xfrm>
          <a:prstGeom prst="roundRect">
            <a:avLst>
              <a:gd name="adj" fmla="val 5161"/>
            </a:avLst>
          </a:prstGeom>
          <a:solidFill>
            <a:srgbClr val="FBFAF8"/>
          </a:solidFill>
          <a:ln w="9525">
            <a:solidFill>
              <a:srgbClr val="FBFAF8"/>
            </a:solidFill>
            <a:prstDash val="solid"/>
          </a:ln>
        </p:spPr>
      </p:sp>
      <p:sp>
        <p:nvSpPr>
          <p:cNvPr id="19" name="Text 17"/>
          <p:cNvSpPr txBox="1"/>
          <p:nvPr/>
        </p:nvSpPr>
        <p:spPr>
          <a:xfrm>
            <a:off x="8302752" y="4526280"/>
            <a:ext cx="3154680" cy="292608"/>
          </a:xfrm>
          <a:prstGeom prst="rect">
            <a:avLst/>
          </a:prstGeom>
          <a:noFill/>
          <a:ln/>
        </p:spPr>
        <p:txBody>
          <a:bodyPr wrap="square" lIns="0" tIns="0" rIns="0" bIns="0" rtlCol="0" anchor="ctr"/>
          <a:lstStyle/>
          <a:p>
            <a:pPr marL="0" indent="0">
              <a:buNone/>
            </a:pPr>
            <a:r>
              <a:rPr lang="en-US" sz="1400" b="1" dirty="0">
                <a:solidFill>
                  <a:srgbClr val="1B2A32"/>
                </a:solidFill>
                <a:latin typeface="Calibri" pitchFamily="34" charset="0"/>
                <a:ea typeface="Calibri" pitchFamily="34" charset="-122"/>
                <a:cs typeface="Calibri" pitchFamily="34" charset="-120"/>
              </a:rPr>
              <a:t>Тороидальный сдвиг</a:t>
            </a:r>
            <a:endParaRPr lang="en-US" sz="1400" dirty="0"/>
          </a:p>
        </p:txBody>
      </p:sp>
      <p:sp>
        <p:nvSpPr>
          <p:cNvPr id="20" name="Text 18"/>
          <p:cNvSpPr txBox="1"/>
          <p:nvPr/>
        </p:nvSpPr>
        <p:spPr>
          <a:xfrm>
            <a:off x="8302752" y="4855464"/>
            <a:ext cx="3154680" cy="868680"/>
          </a:xfrm>
          <a:prstGeom prst="rect">
            <a:avLst/>
          </a:prstGeom>
          <a:noFill/>
          <a:ln/>
        </p:spPr>
        <p:txBody>
          <a:bodyPr wrap="square" lIns="0" tIns="0" rIns="0" bIns="0" rtlCol="0" anchor="ctr"/>
          <a:lstStyle/>
          <a:p>
            <a:pPr marL="0" indent="0">
              <a:lnSpc>
                <a:spcPct val="110000"/>
              </a:lnSpc>
              <a:buNone/>
            </a:pPr>
            <a:r>
              <a:rPr lang="en-US" sz="1150" dirty="0">
                <a:solidFill>
                  <a:srgbClr val="6E7F88"/>
                </a:solidFill>
                <a:latin typeface="Calibri" pitchFamily="34" charset="0"/>
                <a:ea typeface="Calibri" pitchFamily="34" charset="-122"/>
                <a:cs typeface="Calibri" pitchFamily="34" charset="-120"/>
              </a:rPr>
              <a:t>Случайный уровень меряется сдвигом карты одного прибора относительно другого — не берётся из головы.</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marL="0" indent="0">
              <a:buNone/>
            </a:pPr>
            <a:r>
              <a:rPr lang="en-US" sz="3200" b="1" dirty="0">
                <a:solidFill>
                  <a:srgbClr val="1B2A32"/>
                </a:solidFill>
                <a:latin typeface="Cambria" pitchFamily="34" charset="0"/>
                <a:ea typeface="Cambria" pitchFamily="34" charset="-122"/>
                <a:cs typeface="Cambria" pitchFamily="34" charset="-120"/>
              </a:rPr>
              <a:t>Результат по Анабару</a:t>
            </a:r>
            <a:endParaRPr lang="en-US" sz="3200" dirty="0"/>
          </a:p>
        </p:txBody>
      </p:sp>
      <p:sp>
        <p:nvSpPr>
          <p:cNvPr id="3" name="Text 1"/>
          <p:cNvSpPr txBox="1"/>
          <p:nvPr/>
        </p:nvSpPr>
        <p:spPr>
          <a:xfrm>
            <a:off x="548640" y="987552"/>
            <a:ext cx="11064240" cy="365760"/>
          </a:xfrm>
          <a:prstGeom prst="rect">
            <a:avLst/>
          </a:prstGeom>
          <a:noFill/>
          <a:ln/>
        </p:spPr>
        <p:txBody>
          <a:bodyPr wrap="square" lIns="0" tIns="0" rIns="0" bIns="0" rtlCol="0" anchor="ctr"/>
          <a:lstStyle/>
          <a:p>
            <a:pPr marL="0" indent="0">
              <a:buNone/>
            </a:pPr>
            <a:r>
              <a:rPr lang="en-US" sz="1400" i="1" dirty="0">
                <a:solidFill>
                  <a:srgbClr val="6E7F88"/>
                </a:solidFill>
                <a:latin typeface="Calibri" pitchFamily="34" charset="0"/>
                <a:ea typeface="Calibri" pitchFamily="34" charset="-122"/>
                <a:cs typeface="Calibri" pitchFamily="34" charset="-120"/>
              </a:rPr>
              <a:t>Два способа сжатия пересекаются лишь на 53–60 %, поэтому в карту идёт объединение</a:t>
            </a:r>
            <a:endParaRPr lang="en-US" sz="1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64240" cy="1901952"/>
        </p:xfrm>
        <a:graphic>
          <a:graphicData uri="http://schemas.openxmlformats.org/drawingml/2006/table">
            <a:tbl>
              <a:tblPr/>
              <a:tblGrid>
                <a:gridCol w="292608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gridCol w="2011680">
                  <a:extLst>
                    <a:ext uri="{9D8B030D-6E8A-4147-A177-3AD203B41FA5}">
                      <a16:colId xmlns:a16="http://schemas.microsoft.com/office/drawing/2014/main" val="20004"/>
                    </a:ext>
                  </a:extLst>
                </a:gridCol>
                <a:gridCol w="1554480">
                  <a:extLst>
                    <a:ext uri="{9D8B030D-6E8A-4147-A177-3AD203B41FA5}">
                      <a16:colId xmlns:a16="http://schemas.microsoft.com/office/drawing/2014/main" val="20005"/>
                    </a:ext>
                  </a:extLst>
                </a:gridCol>
              </a:tblGrid>
              <a:tr h="475488">
                <a:tc>
                  <a:txBody>
                    <a:bodyPr/>
                    <a:lstStyle/>
                    <a:p>
                      <a:pPr marL="0" indent="0" algn="l">
                        <a:buNone/>
                      </a:pPr>
                      <a:endParaRPr lang="en-US" sz="1250" dirty="0">
                        <a:latin typeface="Calibri" charset="0"/>
                        <a:ea typeface="Calibri" charset="0"/>
                        <a:cs typeface="Calibri" charset="0"/>
                      </a:endParaRPr>
                    </a:p>
                  </a:txBody>
                  <a:tcPr marL="76200" marR="76200" marT="76200" marB="76200" anchor="ctr">
                    <a:lnL w="9525" cap="flat" cmpd="sng" algn="ctr">
                      <a:solidFill>
                        <a:srgbClr val="D8D2C8"/>
                      </a:solidFill>
                      <a:prstDash val="solid"/>
                      <a:round/>
                      <a:headEnd type="none" w="med" len="med"/>
                      <a:tailEnd type="none" w="med" len="med"/>
                    </a:lnL>
                    <a:lnR w="9525" cap="flat" cmpd="sng" algn="ctr">
                      <a:solidFill>
                        <a:srgbClr val="D8D2C8"/>
                      </a:solidFill>
                      <a:prstDash val="solid"/>
                      <a:round/>
                      <a:headEnd type="none" w="med" len="med"/>
                      <a:tailEnd type="none" w="med" len="med"/>
                    </a:lnR>
                    <a:lnT w="9525" cap="flat" cmpd="sng" algn="ctr">
                      <a:solidFill>
                        <a:srgbClr val="D8D2C8"/>
                      </a:solidFill>
                      <a:prstDash val="solid"/>
                      <a:round/>
                      <a:headEnd type="none" w="med" len="med"/>
                      <a:tailEnd type="none" w="med" len="med"/>
                    </a:lnT>
                    <a:lnB w="9525" cap="flat" cmpd="sng" algn="ctr">
                      <a:solidFill>
                        <a:srgbClr val="D8D2C8"/>
                      </a:solidFill>
                      <a:prstDash val="solid"/>
                      <a:round/>
                      <a:headEnd type="none" w="med" len="med"/>
                      <a:tailEnd type="none" w="med" len="med"/>
                    </a:lnB>
                    <a:solidFill>
                      <a:srgbClr val="1B2A32"/>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линий</a:t>
                      </a:r>
                      <a:endParaRPr lang="en-US" sz="1250" dirty="0">
                        <a:latin typeface="Calibri" charset="0"/>
                        <a:ea typeface="Calibri" charset="0"/>
                        <a:cs typeface="Calibri" charset="0"/>
                      </a:endParaRPr>
                    </a:p>
                  </a:txBody>
                  <a:tcPr marL="76200" marR="76200" marT="76200" marB="76200" anchor="ctr">
                    <a:lnL w="9525" cap="flat" cmpd="sng" algn="ctr">
                      <a:solidFill>
                        <a:srgbClr val="D8D2C8"/>
                      </a:solidFill>
                      <a:prstDash val="solid"/>
                      <a:round/>
                      <a:headEnd type="none" w="med" len="med"/>
                      <a:tailEnd type="none" w="med" len="med"/>
                    </a:lnL>
                    <a:lnR w="9525" cap="flat" cmpd="sng" algn="ctr">
                      <a:solidFill>
                        <a:srgbClr val="D8D2C8"/>
                      </a:solidFill>
                      <a:prstDash val="solid"/>
                      <a:round/>
                      <a:headEnd type="none" w="med" len="med"/>
                      <a:tailEnd type="none" w="med" len="med"/>
                    </a:lnR>
                    <a:lnT w="9525" cap="flat" cmpd="sng" algn="ctr">
                      <a:solidFill>
                        <a:srgbClr val="D8D2C8"/>
                      </a:solidFill>
                      <a:prstDash val="solid"/>
                      <a:round/>
                      <a:headEnd type="none" w="med" len="med"/>
                      <a:tailEnd type="none" w="med" len="med"/>
                    </a:lnT>
                    <a:lnB w="9525" cap="flat" cmpd="sng" algn="ctr">
                      <a:solidFill>
                        <a:srgbClr val="D8D2C8"/>
                      </a:solidFill>
                      <a:prstDash val="solid"/>
                      <a:round/>
                      <a:headEnd type="none" w="med" len="med"/>
                      <a:tailEnd type="none" w="med" len="med"/>
                    </a:lnB>
                    <a:solidFill>
                      <a:srgbClr val="1B2A32"/>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длина</a:t>
                      </a:r>
                      <a:endParaRPr lang="en-US" sz="1250" dirty="0">
                        <a:latin typeface="Calibri" charset="0"/>
                        <a:ea typeface="Calibri" charset="0"/>
                        <a:cs typeface="Calibri" charset="0"/>
                      </a:endParaRPr>
                    </a:p>
                  </a:txBody>
                  <a:tcPr marL="76200" marR="76200" marT="76200" marB="76200" anchor="ctr">
                    <a:lnL w="9525" cap="flat" cmpd="sng" algn="ctr">
                      <a:solidFill>
                        <a:srgbClr val="D8D2C8"/>
                      </a:solidFill>
                      <a:prstDash val="solid"/>
                      <a:round/>
                      <a:headEnd type="none" w="med" len="med"/>
                      <a:tailEnd type="none" w="med" len="med"/>
                    </a:lnL>
                    <a:lnR w="9525" cap="flat" cmpd="sng" algn="ctr">
                      <a:solidFill>
                        <a:srgbClr val="D8D2C8"/>
                      </a:solidFill>
                      <a:prstDash val="solid"/>
                      <a:round/>
                      <a:headEnd type="none" w="med" len="med"/>
                      <a:tailEnd type="none" w="med" len="med"/>
                    </a:lnR>
                    <a:lnT w="9525" cap="flat" cmpd="sng" algn="ctr">
                      <a:solidFill>
                        <a:srgbClr val="D8D2C8"/>
                      </a:solidFill>
                      <a:prstDash val="solid"/>
                      <a:round/>
                      <a:headEnd type="none" w="med" len="med"/>
                      <a:tailEnd type="none" w="med" len="med"/>
                    </a:lnT>
                    <a:lnB w="9525" cap="flat" cmpd="sng" algn="ctr">
                      <a:solidFill>
                        <a:srgbClr val="D8D2C8"/>
                      </a:solidFill>
                      <a:prstDash val="solid"/>
                      <a:round/>
                      <a:headEnd type="none" w="med" len="med"/>
                      <a:tailEnd type="none" w="med" len="med"/>
                    </a:lnB>
                    <a:solidFill>
                      <a:srgbClr val="1B2A32"/>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подтверждено</a:t>
                      </a:r>
                      <a:endParaRPr lang="en-US" sz="1250" dirty="0">
                        <a:latin typeface="Calibri" charset="0"/>
                        <a:ea typeface="Calibri" charset="0"/>
                        <a:cs typeface="Calibri" charset="0"/>
                      </a:endParaRPr>
                    </a:p>
                  </a:txBody>
                  <a:tcPr marL="76200" marR="76200" marT="76200" marB="76200" anchor="ctr">
                    <a:lnL w="9525" cap="flat" cmpd="sng" algn="ctr">
                      <a:solidFill>
                        <a:srgbClr val="D8D2C8"/>
                      </a:solidFill>
                      <a:prstDash val="solid"/>
                      <a:round/>
                      <a:headEnd type="none" w="med" len="med"/>
                      <a:tailEnd type="none" w="med" len="med"/>
                    </a:lnL>
                    <a:lnR w="9525" cap="flat" cmpd="sng" algn="ctr">
                      <a:solidFill>
                        <a:srgbClr val="D8D2C8"/>
                      </a:solidFill>
                      <a:prstDash val="solid"/>
                      <a:round/>
                      <a:headEnd type="none" w="med" len="med"/>
                      <a:tailEnd type="none" w="med" len="med"/>
                    </a:lnR>
                    <a:lnT w="9525" cap="flat" cmpd="sng" algn="ctr">
                      <a:solidFill>
                        <a:srgbClr val="D8D2C8"/>
                      </a:solidFill>
                      <a:prstDash val="solid"/>
                      <a:round/>
                      <a:headEnd type="none" w="med" len="med"/>
                      <a:tailEnd type="none" w="med" len="med"/>
                    </a:lnT>
                    <a:lnB w="9525" cap="flat" cmpd="sng" algn="ctr">
                      <a:solidFill>
                        <a:srgbClr val="D8D2C8"/>
                      </a:solidFill>
                      <a:prstDash val="solid"/>
                      <a:round/>
                      <a:headEnd type="none" w="med" len="med"/>
                      <a:tailEnd type="none" w="med" len="med"/>
                    </a:lnB>
                    <a:solidFill>
                      <a:srgbClr val="1B2A32"/>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случайно прошло бы</a:t>
                      </a:r>
                      <a:endParaRPr lang="en-US" sz="1250" dirty="0">
                        <a:latin typeface="Calibri" charset="0"/>
                        <a:ea typeface="Calibri" charset="0"/>
                        <a:cs typeface="Calibri" charset="0"/>
                      </a:endParaRPr>
                    </a:p>
                  </a:txBody>
                  <a:tcPr marL="76200" marR="76200" marT="76200" marB="76200" anchor="ctr">
                    <a:lnL w="9525" cap="flat" cmpd="sng" algn="ctr">
                      <a:solidFill>
                        <a:srgbClr val="D8D2C8"/>
                      </a:solidFill>
                      <a:prstDash val="solid"/>
                      <a:round/>
                      <a:headEnd type="none" w="med" len="med"/>
                      <a:tailEnd type="none" w="med" len="med"/>
                    </a:lnL>
                    <a:lnR w="9525" cap="flat" cmpd="sng" algn="ctr">
                      <a:solidFill>
                        <a:srgbClr val="D8D2C8"/>
                      </a:solidFill>
                      <a:prstDash val="solid"/>
                      <a:round/>
                      <a:headEnd type="none" w="med" len="med"/>
                      <a:tailEnd type="none" w="med" len="med"/>
                    </a:lnR>
                    <a:lnT w="9525" cap="flat" cmpd="sng" algn="ctr">
                      <a:solidFill>
                        <a:srgbClr val="D8D2C8"/>
                      </a:solidFill>
                      <a:prstDash val="solid"/>
                      <a:round/>
                      <a:headEnd type="none" w="med" len="med"/>
                      <a:tailEnd type="none" w="med" len="med"/>
                    </a:lnT>
                    <a:lnB w="9525" cap="flat" cmpd="sng" algn="ctr">
                      <a:solidFill>
                        <a:srgbClr val="D8D2C8"/>
                      </a:solidFill>
                      <a:prstDash val="solid"/>
                      <a:round/>
                      <a:headEnd type="none" w="med" len="med"/>
                      <a:tailEnd type="none" w="med" len="med"/>
                    </a:lnB>
                    <a:solidFill>
                      <a:srgbClr val="1B2A32"/>
                    </a:solidFill>
                  </a:tcPr>
                </a:tc>
                <a:tc>
                  <a:txBody>
                    <a:bodyPr/>
                    <a:lstStyle/>
                    <a:p>
                      <a:pPr marL="0" indent="0" algn="ctr">
                        <a:buNone/>
                      </a:pPr>
                      <a:r>
                        <a:rPr lang="en-US" sz="1250" b="1" dirty="0">
                          <a:solidFill>
                            <a:srgbClr val="FFFFFF"/>
                          </a:solidFill>
                          <a:latin typeface="Calibri" pitchFamily="34" charset="0"/>
                          <a:ea typeface="Calibri" pitchFamily="34" charset="-122"/>
                          <a:cs typeface="Calibri" pitchFamily="34" charset="-120"/>
                        </a:rPr>
                        <a:t>чистота отбора</a:t>
                      </a:r>
                      <a:endParaRPr lang="en-US" sz="1250" dirty="0">
                        <a:latin typeface="Calibri" charset="0"/>
                        <a:ea typeface="Calibri" charset="0"/>
                        <a:cs typeface="Calibri" charset="0"/>
                      </a:endParaRPr>
                    </a:p>
                  </a:txBody>
                  <a:tcPr marL="76200" marR="76200" marT="76200" marB="76200" anchor="ctr">
                    <a:lnL w="9525" cap="flat" cmpd="sng" algn="ctr">
                      <a:solidFill>
                        <a:srgbClr val="D8D2C8"/>
                      </a:solidFill>
                      <a:prstDash val="solid"/>
                      <a:round/>
                      <a:headEnd type="none" w="med" len="med"/>
                      <a:tailEnd type="none" w="med" len="med"/>
                    </a:lnL>
                    <a:lnR w="9525" cap="flat" cmpd="sng" algn="ctr">
                      <a:solidFill>
                        <a:srgbClr val="D8D2C8"/>
                      </a:solidFill>
                      <a:prstDash val="solid"/>
                      <a:round/>
                      <a:headEnd type="none" w="med" len="med"/>
                      <a:tailEnd type="none" w="med" len="med"/>
                    </a:lnR>
                    <a:lnT w="9525" cap="flat" cmpd="sng" algn="ctr">
                      <a:solidFill>
                        <a:srgbClr val="D8D2C8"/>
                      </a:solidFill>
                      <a:prstDash val="solid"/>
                      <a:round/>
                      <a:headEnd type="none" w="med" len="med"/>
                      <a:tailEnd type="none" w="med" len="med"/>
                    </a:lnT>
                    <a:lnB w="9525" cap="flat" cmpd="sng" algn="ctr">
                      <a:solidFill>
                        <a:srgbClr val="D8D2C8"/>
                      </a:solidFill>
                      <a:prstDash val="solid"/>
                      <a:round/>
                      <a:headEnd type="none" w="med" len="med"/>
                      <a:tailEnd type="none" w="med" len="med"/>
                    </a:lnB>
                    <a:solidFill>
                      <a:srgbClr val="1B2A32"/>
                    </a:solidFill>
                  </a:tcPr>
                </a:tc>
                <a:extLst>
                  <a:ext uri="{0D108BD9-81ED-4DB2-BD59-A6C34878D82A}">
                    <a16:rowId xmlns:a16="http://schemas.microsoft.com/office/drawing/2014/main" val="10000"/>
                  </a:ext>
                </a:extLst>
              </a:tr>
              <a:tr h="475488">
                <a:tc>
                  <a:txBody>
                    <a:bodyPr/>
                    <a:lstStyle/>
                    <a:p>
                      <a:pPr marL="0" indent="0" algn="l">
                        <a:buNone/>
                      </a:pPr>
                      <a:r>
                        <a:rPr lang="en-US" sz="1300" dirty="0">
                          <a:solidFill>
                            <a:srgbClr val="1B2A32"/>
                          </a:solidFill>
                          <a:latin typeface="Calibri" pitchFamily="34" charset="0"/>
                          <a:ea typeface="Calibri" pitchFamily="34" charset="-122"/>
                          <a:cs typeface="Calibri" pitchFamily="34" charset="-120"/>
                        </a:rPr>
                        <a:t>главные компоненты</a:t>
                      </a:r>
                      <a:endParaRPr lang="en-US" sz="1300" dirty="0">
                        <a:latin typeface="Calibri" charset="0"/>
                        <a:ea typeface="Calibri" charset="0"/>
                        <a:cs typeface="Calibri" charset="0"/>
                      </a:endParaRPr>
                    </a:p>
                  </a:txBody>
                  <a:tcPr marL="76200" marR="76200" marT="76200" marB="76200" anchor="ctr">
                    <a:lnL w="9525" cap="flat" cmpd="sng" algn="ctr">
                      <a:solidFill>
                        <a:srgbClr val="D8D2C8"/>
                      </a:solidFill>
                      <a:prstDash val="solid"/>
                      <a:round/>
                      <a:headEnd type="none" w="med" len="med"/>
                      <a:tailEnd type="none" w="med" len="med"/>
                    </a:lnL>
                    <a:lnR w="9525" cap="flat" cmpd="sng" algn="ctr">
                      <a:solidFill>
                        <a:srgbClr val="D8D2C8"/>
                      </a:solidFill>
                      <a:prstDash val="solid"/>
                      <a:round/>
                      <a:headEnd type="none" w="med" len="med"/>
                      <a:tailEnd type="none" w="med" len="med"/>
                    </a:lnR>
                    <a:lnT w="9525" cap="flat" cmpd="sng" algn="ctr">
                      <a:solidFill>
                        <a:srgbClr val="D8D2C8"/>
                      </a:solidFill>
                      <a:prstDash val="solid"/>
                      <a:round/>
                      <a:headEnd type="none" w="med" len="med"/>
                      <a:tailEnd type="none" w="med" len="med"/>
                    </a:lnT>
                    <a:lnB w="9525" cap="flat" cmpd="sng" algn="ctr">
                      <a:solidFill>
                        <a:srgbClr val="D8D2C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A32"/>
                          </a:solidFill>
                          <a:latin typeface="Calibri" pitchFamily="34" charset="0"/>
                          <a:ea typeface="Calibri" pitchFamily="34" charset="-122"/>
                          <a:cs typeface="Calibri" pitchFamily="34" charset="-120"/>
                        </a:rPr>
                        <a:t>613</a:t>
                      </a:r>
                      <a:endParaRPr lang="en-US" sz="1300" dirty="0">
                        <a:latin typeface="Calibri" charset="0"/>
                        <a:ea typeface="Calibri" charset="0"/>
                        <a:cs typeface="Calibri" charset="0"/>
                      </a:endParaRPr>
                    </a:p>
                  </a:txBody>
                  <a:tcPr marL="76200" marR="76200" marT="76200" marB="76200" anchor="ctr">
                    <a:lnL w="9525" cap="flat" cmpd="sng" algn="ctr">
                      <a:solidFill>
                        <a:srgbClr val="D8D2C8"/>
                      </a:solidFill>
                      <a:prstDash val="solid"/>
                      <a:round/>
                      <a:headEnd type="none" w="med" len="med"/>
                      <a:tailEnd type="none" w="med" len="med"/>
                    </a:lnL>
                    <a:lnR w="9525" cap="flat" cmpd="sng" algn="ctr">
                      <a:solidFill>
                        <a:srgbClr val="D8D2C8"/>
                      </a:solidFill>
                      <a:prstDash val="solid"/>
                      <a:round/>
                      <a:headEnd type="none" w="med" len="med"/>
                      <a:tailEnd type="none" w="med" len="med"/>
                    </a:lnR>
                    <a:lnT w="9525" cap="flat" cmpd="sng" algn="ctr">
                      <a:solidFill>
                        <a:srgbClr val="D8D2C8"/>
                      </a:solidFill>
                      <a:prstDash val="solid"/>
                      <a:round/>
                      <a:headEnd type="none" w="med" len="med"/>
                      <a:tailEnd type="none" w="med" len="med"/>
                    </a:lnT>
                    <a:lnB w="9525" cap="flat" cmpd="sng" algn="ctr">
                      <a:solidFill>
                        <a:srgbClr val="D8D2C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A32"/>
                          </a:solidFill>
                          <a:latin typeface="Calibri" pitchFamily="34" charset="0"/>
                          <a:ea typeface="Calibri" pitchFamily="34" charset="-122"/>
                          <a:cs typeface="Calibri" pitchFamily="34" charset="-120"/>
                        </a:rPr>
                        <a:t>1848 км</a:t>
                      </a:r>
                      <a:endParaRPr lang="en-US" sz="1300" dirty="0">
                        <a:latin typeface="Calibri" charset="0"/>
                        <a:ea typeface="Calibri" charset="0"/>
                        <a:cs typeface="Calibri" charset="0"/>
                      </a:endParaRPr>
                    </a:p>
                  </a:txBody>
                  <a:tcPr marL="76200" marR="76200" marT="76200" marB="76200" anchor="ctr">
                    <a:lnL w="9525" cap="flat" cmpd="sng" algn="ctr">
                      <a:solidFill>
                        <a:srgbClr val="D8D2C8"/>
                      </a:solidFill>
                      <a:prstDash val="solid"/>
                      <a:round/>
                      <a:headEnd type="none" w="med" len="med"/>
                      <a:tailEnd type="none" w="med" len="med"/>
                    </a:lnL>
                    <a:lnR w="9525" cap="flat" cmpd="sng" algn="ctr">
                      <a:solidFill>
                        <a:srgbClr val="D8D2C8"/>
                      </a:solidFill>
                      <a:prstDash val="solid"/>
                      <a:round/>
                      <a:headEnd type="none" w="med" len="med"/>
                      <a:tailEnd type="none" w="med" len="med"/>
                    </a:lnR>
                    <a:lnT w="9525" cap="flat" cmpd="sng" algn="ctr">
                      <a:solidFill>
                        <a:srgbClr val="D8D2C8"/>
                      </a:solidFill>
                      <a:prstDash val="solid"/>
                      <a:round/>
                      <a:headEnd type="none" w="med" len="med"/>
                      <a:tailEnd type="none" w="med" len="med"/>
                    </a:lnT>
                    <a:lnB w="9525" cap="flat" cmpd="sng" algn="ctr">
                      <a:solidFill>
                        <a:srgbClr val="D8D2C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A32"/>
                          </a:solidFill>
                          <a:latin typeface="Calibri" pitchFamily="34" charset="0"/>
                          <a:ea typeface="Calibri" pitchFamily="34" charset="-122"/>
                          <a:cs typeface="Calibri" pitchFamily="34" charset="-120"/>
                        </a:rPr>
                        <a:t>153</a:t>
                      </a:r>
                      <a:endParaRPr lang="en-US" sz="1300" dirty="0">
                        <a:latin typeface="Calibri" charset="0"/>
                        <a:ea typeface="Calibri" charset="0"/>
                        <a:cs typeface="Calibri" charset="0"/>
                      </a:endParaRPr>
                    </a:p>
                  </a:txBody>
                  <a:tcPr marL="76200" marR="76200" marT="76200" marB="76200" anchor="ctr">
                    <a:lnL w="9525" cap="flat" cmpd="sng" algn="ctr">
                      <a:solidFill>
                        <a:srgbClr val="D8D2C8"/>
                      </a:solidFill>
                      <a:prstDash val="solid"/>
                      <a:round/>
                      <a:headEnd type="none" w="med" len="med"/>
                      <a:tailEnd type="none" w="med" len="med"/>
                    </a:lnL>
                    <a:lnR w="9525" cap="flat" cmpd="sng" algn="ctr">
                      <a:solidFill>
                        <a:srgbClr val="D8D2C8"/>
                      </a:solidFill>
                      <a:prstDash val="solid"/>
                      <a:round/>
                      <a:headEnd type="none" w="med" len="med"/>
                      <a:tailEnd type="none" w="med" len="med"/>
                    </a:lnR>
                    <a:lnT w="9525" cap="flat" cmpd="sng" algn="ctr">
                      <a:solidFill>
                        <a:srgbClr val="D8D2C8"/>
                      </a:solidFill>
                      <a:prstDash val="solid"/>
                      <a:round/>
                      <a:headEnd type="none" w="med" len="med"/>
                      <a:tailEnd type="none" w="med" len="med"/>
                    </a:lnT>
                    <a:lnB w="9525" cap="flat" cmpd="sng" algn="ctr">
                      <a:solidFill>
                        <a:srgbClr val="D8D2C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A32"/>
                          </a:solidFill>
                          <a:latin typeface="Calibri" pitchFamily="34" charset="0"/>
                          <a:ea typeface="Calibri" pitchFamily="34" charset="-122"/>
                          <a:cs typeface="Calibri" pitchFamily="34" charset="-120"/>
                        </a:rPr>
                        <a:t>0.9</a:t>
                      </a:r>
                      <a:endParaRPr lang="en-US" sz="1300" dirty="0">
                        <a:latin typeface="Calibri" charset="0"/>
                        <a:ea typeface="Calibri" charset="0"/>
                        <a:cs typeface="Calibri" charset="0"/>
                      </a:endParaRPr>
                    </a:p>
                  </a:txBody>
                  <a:tcPr marL="76200" marR="76200" marT="76200" marB="76200" anchor="ctr">
                    <a:lnL w="9525" cap="flat" cmpd="sng" algn="ctr">
                      <a:solidFill>
                        <a:srgbClr val="D8D2C8"/>
                      </a:solidFill>
                      <a:prstDash val="solid"/>
                      <a:round/>
                      <a:headEnd type="none" w="med" len="med"/>
                      <a:tailEnd type="none" w="med" len="med"/>
                    </a:lnL>
                    <a:lnR w="9525" cap="flat" cmpd="sng" algn="ctr">
                      <a:solidFill>
                        <a:srgbClr val="D8D2C8"/>
                      </a:solidFill>
                      <a:prstDash val="solid"/>
                      <a:round/>
                      <a:headEnd type="none" w="med" len="med"/>
                      <a:tailEnd type="none" w="med" len="med"/>
                    </a:lnR>
                    <a:lnT w="9525" cap="flat" cmpd="sng" algn="ctr">
                      <a:solidFill>
                        <a:srgbClr val="D8D2C8"/>
                      </a:solidFill>
                      <a:prstDash val="solid"/>
                      <a:round/>
                      <a:headEnd type="none" w="med" len="med"/>
                      <a:tailEnd type="none" w="med" len="med"/>
                    </a:lnT>
                    <a:lnB w="9525" cap="flat" cmpd="sng" algn="ctr">
                      <a:solidFill>
                        <a:srgbClr val="D8D2C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A32"/>
                          </a:solidFill>
                          <a:latin typeface="Calibri" pitchFamily="34" charset="0"/>
                          <a:ea typeface="Calibri" pitchFamily="34" charset="-122"/>
                          <a:cs typeface="Calibri" pitchFamily="34" charset="-120"/>
                        </a:rPr>
                        <a:t>×170</a:t>
                      </a:r>
                      <a:endParaRPr lang="en-US" sz="1300" dirty="0">
                        <a:latin typeface="Calibri" charset="0"/>
                        <a:ea typeface="Calibri" charset="0"/>
                        <a:cs typeface="Calibri" charset="0"/>
                      </a:endParaRPr>
                    </a:p>
                  </a:txBody>
                  <a:tcPr marL="76200" marR="76200" marT="76200" marB="76200" anchor="ctr">
                    <a:lnL w="9525" cap="flat" cmpd="sng" algn="ctr">
                      <a:solidFill>
                        <a:srgbClr val="D8D2C8"/>
                      </a:solidFill>
                      <a:prstDash val="solid"/>
                      <a:round/>
                      <a:headEnd type="none" w="med" len="med"/>
                      <a:tailEnd type="none" w="med" len="med"/>
                    </a:lnL>
                    <a:lnR w="9525" cap="flat" cmpd="sng" algn="ctr">
                      <a:solidFill>
                        <a:srgbClr val="D8D2C8"/>
                      </a:solidFill>
                      <a:prstDash val="solid"/>
                      <a:round/>
                      <a:headEnd type="none" w="med" len="med"/>
                      <a:tailEnd type="none" w="med" len="med"/>
                    </a:lnR>
                    <a:lnT w="9525" cap="flat" cmpd="sng" algn="ctr">
                      <a:solidFill>
                        <a:srgbClr val="D8D2C8"/>
                      </a:solidFill>
                      <a:prstDash val="solid"/>
                      <a:round/>
                      <a:headEnd type="none" w="med" len="med"/>
                      <a:tailEnd type="none" w="med" len="med"/>
                    </a:lnT>
                    <a:lnB w="9525" cap="flat" cmpd="sng" algn="ctr">
                      <a:solidFill>
                        <a:srgbClr val="D8D2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75488">
                <a:tc>
                  <a:txBody>
                    <a:bodyPr/>
                    <a:lstStyle/>
                    <a:p>
                      <a:pPr marL="0" indent="0" algn="l">
                        <a:buNone/>
                      </a:pPr>
                      <a:r>
                        <a:rPr lang="en-US" sz="1300" dirty="0">
                          <a:solidFill>
                            <a:srgbClr val="1B2A32"/>
                          </a:solidFill>
                          <a:latin typeface="Calibri" pitchFamily="34" charset="0"/>
                          <a:ea typeface="Calibri" pitchFamily="34" charset="-122"/>
                          <a:cs typeface="Calibri" pitchFamily="34" charset="-120"/>
                        </a:rPr>
                        <a:t>автоэнкодер</a:t>
                      </a:r>
                      <a:endParaRPr lang="en-US" sz="1300" dirty="0">
                        <a:latin typeface="Calibri" charset="0"/>
                        <a:ea typeface="Calibri" charset="0"/>
                        <a:cs typeface="Calibri" charset="0"/>
                      </a:endParaRPr>
                    </a:p>
                  </a:txBody>
                  <a:tcPr marL="76200" marR="76200" marT="76200" marB="76200" anchor="ctr">
                    <a:lnL w="9525" cap="flat" cmpd="sng" algn="ctr">
                      <a:solidFill>
                        <a:srgbClr val="D8D2C8"/>
                      </a:solidFill>
                      <a:prstDash val="solid"/>
                      <a:round/>
                      <a:headEnd type="none" w="med" len="med"/>
                      <a:tailEnd type="none" w="med" len="med"/>
                    </a:lnL>
                    <a:lnR w="9525" cap="flat" cmpd="sng" algn="ctr">
                      <a:solidFill>
                        <a:srgbClr val="D8D2C8"/>
                      </a:solidFill>
                      <a:prstDash val="solid"/>
                      <a:round/>
                      <a:headEnd type="none" w="med" len="med"/>
                      <a:tailEnd type="none" w="med" len="med"/>
                    </a:lnR>
                    <a:lnT w="9525" cap="flat" cmpd="sng" algn="ctr">
                      <a:solidFill>
                        <a:srgbClr val="D8D2C8"/>
                      </a:solidFill>
                      <a:prstDash val="solid"/>
                      <a:round/>
                      <a:headEnd type="none" w="med" len="med"/>
                      <a:tailEnd type="none" w="med" len="med"/>
                    </a:lnT>
                    <a:lnB w="9525" cap="flat" cmpd="sng" algn="ctr">
                      <a:solidFill>
                        <a:srgbClr val="D8D2C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A32"/>
                          </a:solidFill>
                          <a:latin typeface="Calibri" pitchFamily="34" charset="0"/>
                          <a:ea typeface="Calibri" pitchFamily="34" charset="-122"/>
                          <a:cs typeface="Calibri" pitchFamily="34" charset="-120"/>
                        </a:rPr>
                        <a:t>576</a:t>
                      </a:r>
                      <a:endParaRPr lang="en-US" sz="1300" dirty="0">
                        <a:latin typeface="Calibri" charset="0"/>
                        <a:ea typeface="Calibri" charset="0"/>
                        <a:cs typeface="Calibri" charset="0"/>
                      </a:endParaRPr>
                    </a:p>
                  </a:txBody>
                  <a:tcPr marL="76200" marR="76200" marT="76200" marB="76200" anchor="ctr">
                    <a:lnL w="9525" cap="flat" cmpd="sng" algn="ctr">
                      <a:solidFill>
                        <a:srgbClr val="D8D2C8"/>
                      </a:solidFill>
                      <a:prstDash val="solid"/>
                      <a:round/>
                      <a:headEnd type="none" w="med" len="med"/>
                      <a:tailEnd type="none" w="med" len="med"/>
                    </a:lnL>
                    <a:lnR w="9525" cap="flat" cmpd="sng" algn="ctr">
                      <a:solidFill>
                        <a:srgbClr val="D8D2C8"/>
                      </a:solidFill>
                      <a:prstDash val="solid"/>
                      <a:round/>
                      <a:headEnd type="none" w="med" len="med"/>
                      <a:tailEnd type="none" w="med" len="med"/>
                    </a:lnR>
                    <a:lnT w="9525" cap="flat" cmpd="sng" algn="ctr">
                      <a:solidFill>
                        <a:srgbClr val="D8D2C8"/>
                      </a:solidFill>
                      <a:prstDash val="solid"/>
                      <a:round/>
                      <a:headEnd type="none" w="med" len="med"/>
                      <a:tailEnd type="none" w="med" len="med"/>
                    </a:lnT>
                    <a:lnB w="9525" cap="flat" cmpd="sng" algn="ctr">
                      <a:solidFill>
                        <a:srgbClr val="D8D2C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A32"/>
                          </a:solidFill>
                          <a:latin typeface="Calibri" pitchFamily="34" charset="0"/>
                          <a:ea typeface="Calibri" pitchFamily="34" charset="-122"/>
                          <a:cs typeface="Calibri" pitchFamily="34" charset="-120"/>
                        </a:rPr>
                        <a:t>1755 км</a:t>
                      </a:r>
                      <a:endParaRPr lang="en-US" sz="1300" dirty="0">
                        <a:latin typeface="Calibri" charset="0"/>
                        <a:ea typeface="Calibri" charset="0"/>
                        <a:cs typeface="Calibri" charset="0"/>
                      </a:endParaRPr>
                    </a:p>
                  </a:txBody>
                  <a:tcPr marL="76200" marR="76200" marT="76200" marB="76200" anchor="ctr">
                    <a:lnL w="9525" cap="flat" cmpd="sng" algn="ctr">
                      <a:solidFill>
                        <a:srgbClr val="D8D2C8"/>
                      </a:solidFill>
                      <a:prstDash val="solid"/>
                      <a:round/>
                      <a:headEnd type="none" w="med" len="med"/>
                      <a:tailEnd type="none" w="med" len="med"/>
                    </a:lnL>
                    <a:lnR w="9525" cap="flat" cmpd="sng" algn="ctr">
                      <a:solidFill>
                        <a:srgbClr val="D8D2C8"/>
                      </a:solidFill>
                      <a:prstDash val="solid"/>
                      <a:round/>
                      <a:headEnd type="none" w="med" len="med"/>
                      <a:tailEnd type="none" w="med" len="med"/>
                    </a:lnR>
                    <a:lnT w="9525" cap="flat" cmpd="sng" algn="ctr">
                      <a:solidFill>
                        <a:srgbClr val="D8D2C8"/>
                      </a:solidFill>
                      <a:prstDash val="solid"/>
                      <a:round/>
                      <a:headEnd type="none" w="med" len="med"/>
                      <a:tailEnd type="none" w="med" len="med"/>
                    </a:lnT>
                    <a:lnB w="9525" cap="flat" cmpd="sng" algn="ctr">
                      <a:solidFill>
                        <a:srgbClr val="D8D2C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A32"/>
                          </a:solidFill>
                          <a:latin typeface="Calibri" pitchFamily="34" charset="0"/>
                          <a:ea typeface="Calibri" pitchFamily="34" charset="-122"/>
                          <a:cs typeface="Calibri" pitchFamily="34" charset="-120"/>
                        </a:rPr>
                        <a:t>148</a:t>
                      </a:r>
                      <a:endParaRPr lang="en-US" sz="1300" dirty="0">
                        <a:latin typeface="Calibri" charset="0"/>
                        <a:ea typeface="Calibri" charset="0"/>
                        <a:cs typeface="Calibri" charset="0"/>
                      </a:endParaRPr>
                    </a:p>
                  </a:txBody>
                  <a:tcPr marL="76200" marR="76200" marT="76200" marB="76200" anchor="ctr">
                    <a:lnL w="9525" cap="flat" cmpd="sng" algn="ctr">
                      <a:solidFill>
                        <a:srgbClr val="D8D2C8"/>
                      </a:solidFill>
                      <a:prstDash val="solid"/>
                      <a:round/>
                      <a:headEnd type="none" w="med" len="med"/>
                      <a:tailEnd type="none" w="med" len="med"/>
                    </a:lnL>
                    <a:lnR w="9525" cap="flat" cmpd="sng" algn="ctr">
                      <a:solidFill>
                        <a:srgbClr val="D8D2C8"/>
                      </a:solidFill>
                      <a:prstDash val="solid"/>
                      <a:round/>
                      <a:headEnd type="none" w="med" len="med"/>
                      <a:tailEnd type="none" w="med" len="med"/>
                    </a:lnR>
                    <a:lnT w="9525" cap="flat" cmpd="sng" algn="ctr">
                      <a:solidFill>
                        <a:srgbClr val="D8D2C8"/>
                      </a:solidFill>
                      <a:prstDash val="solid"/>
                      <a:round/>
                      <a:headEnd type="none" w="med" len="med"/>
                      <a:tailEnd type="none" w="med" len="med"/>
                    </a:lnT>
                    <a:lnB w="9525" cap="flat" cmpd="sng" algn="ctr">
                      <a:solidFill>
                        <a:srgbClr val="D8D2C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A32"/>
                          </a:solidFill>
                          <a:latin typeface="Calibri" pitchFamily="34" charset="0"/>
                          <a:ea typeface="Calibri" pitchFamily="34" charset="-122"/>
                          <a:cs typeface="Calibri" pitchFamily="34" charset="-120"/>
                        </a:rPr>
                        <a:t>1.2</a:t>
                      </a:r>
                      <a:endParaRPr lang="en-US" sz="1300" dirty="0">
                        <a:latin typeface="Calibri" charset="0"/>
                        <a:ea typeface="Calibri" charset="0"/>
                        <a:cs typeface="Calibri" charset="0"/>
                      </a:endParaRPr>
                    </a:p>
                  </a:txBody>
                  <a:tcPr marL="76200" marR="76200" marT="76200" marB="76200" anchor="ctr">
                    <a:lnL w="9525" cap="flat" cmpd="sng" algn="ctr">
                      <a:solidFill>
                        <a:srgbClr val="D8D2C8"/>
                      </a:solidFill>
                      <a:prstDash val="solid"/>
                      <a:round/>
                      <a:headEnd type="none" w="med" len="med"/>
                      <a:tailEnd type="none" w="med" len="med"/>
                    </a:lnL>
                    <a:lnR w="9525" cap="flat" cmpd="sng" algn="ctr">
                      <a:solidFill>
                        <a:srgbClr val="D8D2C8"/>
                      </a:solidFill>
                      <a:prstDash val="solid"/>
                      <a:round/>
                      <a:headEnd type="none" w="med" len="med"/>
                      <a:tailEnd type="none" w="med" len="med"/>
                    </a:lnR>
                    <a:lnT w="9525" cap="flat" cmpd="sng" algn="ctr">
                      <a:solidFill>
                        <a:srgbClr val="D8D2C8"/>
                      </a:solidFill>
                      <a:prstDash val="solid"/>
                      <a:round/>
                      <a:headEnd type="none" w="med" len="med"/>
                      <a:tailEnd type="none" w="med" len="med"/>
                    </a:lnT>
                    <a:lnB w="9525" cap="flat" cmpd="sng" algn="ctr">
                      <a:solidFill>
                        <a:srgbClr val="D8D2C8"/>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B2A32"/>
                          </a:solidFill>
                          <a:latin typeface="Calibri" pitchFamily="34" charset="0"/>
                          <a:ea typeface="Calibri" pitchFamily="34" charset="-122"/>
                          <a:cs typeface="Calibri" pitchFamily="34" charset="-120"/>
                        </a:rPr>
                        <a:t>×123</a:t>
                      </a:r>
                      <a:endParaRPr lang="en-US" sz="1300" dirty="0">
                        <a:latin typeface="Calibri" charset="0"/>
                        <a:ea typeface="Calibri" charset="0"/>
                        <a:cs typeface="Calibri" charset="0"/>
                      </a:endParaRPr>
                    </a:p>
                  </a:txBody>
                  <a:tcPr marL="76200" marR="76200" marT="76200" marB="76200" anchor="ctr">
                    <a:lnL w="9525" cap="flat" cmpd="sng" algn="ctr">
                      <a:solidFill>
                        <a:srgbClr val="D8D2C8"/>
                      </a:solidFill>
                      <a:prstDash val="solid"/>
                      <a:round/>
                      <a:headEnd type="none" w="med" len="med"/>
                      <a:tailEnd type="none" w="med" len="med"/>
                    </a:lnL>
                    <a:lnR w="9525" cap="flat" cmpd="sng" algn="ctr">
                      <a:solidFill>
                        <a:srgbClr val="D8D2C8"/>
                      </a:solidFill>
                      <a:prstDash val="solid"/>
                      <a:round/>
                      <a:headEnd type="none" w="med" len="med"/>
                      <a:tailEnd type="none" w="med" len="med"/>
                    </a:lnR>
                    <a:lnT w="9525" cap="flat" cmpd="sng" algn="ctr">
                      <a:solidFill>
                        <a:srgbClr val="D8D2C8"/>
                      </a:solidFill>
                      <a:prstDash val="solid"/>
                      <a:round/>
                      <a:headEnd type="none" w="med" len="med"/>
                      <a:tailEnd type="none" w="med" len="med"/>
                    </a:lnT>
                    <a:lnB w="9525" cap="flat" cmpd="sng" algn="ctr">
                      <a:solidFill>
                        <a:srgbClr val="D8D2C8"/>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5488">
                <a:tc>
                  <a:txBody>
                    <a:bodyPr/>
                    <a:lstStyle/>
                    <a:p>
                      <a:pPr marL="0" indent="0" algn="l">
                        <a:buNone/>
                      </a:pPr>
                      <a:r>
                        <a:rPr lang="en-US" sz="1400" b="1" dirty="0">
                          <a:solidFill>
                            <a:srgbClr val="C15B33"/>
                          </a:solidFill>
                          <a:latin typeface="Calibri" pitchFamily="34" charset="0"/>
                          <a:ea typeface="Calibri" pitchFamily="34" charset="-122"/>
                          <a:cs typeface="Calibri" pitchFamily="34" charset="-120"/>
                        </a:rPr>
                        <a:t>объединение</a:t>
                      </a:r>
                      <a:endParaRPr lang="en-US" sz="1400" dirty="0">
                        <a:latin typeface="Calibri" charset="0"/>
                        <a:ea typeface="Calibri" charset="0"/>
                        <a:cs typeface="Calibri" charset="0"/>
                      </a:endParaRPr>
                    </a:p>
                  </a:txBody>
                  <a:tcPr marL="76200" marR="76200" marT="76200" marB="76200" anchor="ctr">
                    <a:lnL w="9525" cap="flat" cmpd="sng" algn="ctr">
                      <a:solidFill>
                        <a:srgbClr val="D8D2C8"/>
                      </a:solidFill>
                      <a:prstDash val="solid"/>
                      <a:round/>
                      <a:headEnd type="none" w="med" len="med"/>
                      <a:tailEnd type="none" w="med" len="med"/>
                    </a:lnL>
                    <a:lnR w="9525" cap="flat" cmpd="sng" algn="ctr">
                      <a:solidFill>
                        <a:srgbClr val="D8D2C8"/>
                      </a:solidFill>
                      <a:prstDash val="solid"/>
                      <a:round/>
                      <a:headEnd type="none" w="med" len="med"/>
                      <a:tailEnd type="none" w="med" len="med"/>
                    </a:lnR>
                    <a:lnT w="9525" cap="flat" cmpd="sng" algn="ctr">
                      <a:solidFill>
                        <a:srgbClr val="D8D2C8"/>
                      </a:solidFill>
                      <a:prstDash val="solid"/>
                      <a:round/>
                      <a:headEnd type="none" w="med" len="med"/>
                      <a:tailEnd type="none" w="med" len="med"/>
                    </a:lnT>
                    <a:lnB w="9525" cap="flat" cmpd="sng" algn="ctr">
                      <a:solidFill>
                        <a:srgbClr val="D8D2C8"/>
                      </a:solidFill>
                      <a:prstDash val="solid"/>
                      <a:round/>
                      <a:headEnd type="none" w="med" len="med"/>
                      <a:tailEnd type="none" w="med" len="med"/>
                    </a:lnB>
                    <a:solidFill>
                      <a:srgbClr val="F4EFEA"/>
                    </a:solidFill>
                  </a:tcPr>
                </a:tc>
                <a:tc>
                  <a:txBody>
                    <a:bodyPr/>
                    <a:lstStyle/>
                    <a:p>
                      <a:pPr marL="0" indent="0" algn="ctr">
                        <a:buNone/>
                      </a:pPr>
                      <a:r>
                        <a:rPr lang="en-US" sz="1400" b="1" dirty="0">
                          <a:solidFill>
                            <a:srgbClr val="C15B33"/>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76200" marB="76200" anchor="ctr">
                    <a:lnL w="9525" cap="flat" cmpd="sng" algn="ctr">
                      <a:solidFill>
                        <a:srgbClr val="D8D2C8"/>
                      </a:solidFill>
                      <a:prstDash val="solid"/>
                      <a:round/>
                      <a:headEnd type="none" w="med" len="med"/>
                      <a:tailEnd type="none" w="med" len="med"/>
                    </a:lnL>
                    <a:lnR w="9525" cap="flat" cmpd="sng" algn="ctr">
                      <a:solidFill>
                        <a:srgbClr val="D8D2C8"/>
                      </a:solidFill>
                      <a:prstDash val="solid"/>
                      <a:round/>
                      <a:headEnd type="none" w="med" len="med"/>
                      <a:tailEnd type="none" w="med" len="med"/>
                    </a:lnR>
                    <a:lnT w="9525" cap="flat" cmpd="sng" algn="ctr">
                      <a:solidFill>
                        <a:srgbClr val="D8D2C8"/>
                      </a:solidFill>
                      <a:prstDash val="solid"/>
                      <a:round/>
                      <a:headEnd type="none" w="med" len="med"/>
                      <a:tailEnd type="none" w="med" len="med"/>
                    </a:lnT>
                    <a:lnB w="9525" cap="flat" cmpd="sng" algn="ctr">
                      <a:solidFill>
                        <a:srgbClr val="D8D2C8"/>
                      </a:solidFill>
                      <a:prstDash val="solid"/>
                      <a:round/>
                      <a:headEnd type="none" w="med" len="med"/>
                      <a:tailEnd type="none" w="med" len="med"/>
                    </a:lnB>
                    <a:solidFill>
                      <a:srgbClr val="F4EFEA"/>
                    </a:solidFill>
                  </a:tcPr>
                </a:tc>
                <a:tc>
                  <a:txBody>
                    <a:bodyPr/>
                    <a:lstStyle/>
                    <a:p>
                      <a:pPr marL="0" indent="0" algn="ctr">
                        <a:buNone/>
                      </a:pPr>
                      <a:r>
                        <a:rPr lang="en-US" sz="1400" b="1" dirty="0">
                          <a:solidFill>
                            <a:srgbClr val="C15B33"/>
                          </a:solidFill>
                          <a:latin typeface="Calibri" pitchFamily="34" charset="0"/>
                          <a:ea typeface="Calibri" pitchFamily="34" charset="-122"/>
                          <a:cs typeface="Calibri" pitchFamily="34" charset="-120"/>
                        </a:rPr>
                        <a:t>—</a:t>
                      </a:r>
                      <a:endParaRPr lang="en-US" sz="1400" dirty="0">
                        <a:latin typeface="Calibri" charset="0"/>
                        <a:ea typeface="Calibri" charset="0"/>
                        <a:cs typeface="Calibri" charset="0"/>
                      </a:endParaRPr>
                    </a:p>
                  </a:txBody>
                  <a:tcPr marL="76200" marR="76200" marT="76200" marB="76200" anchor="ctr">
                    <a:lnL w="9525" cap="flat" cmpd="sng" algn="ctr">
                      <a:solidFill>
                        <a:srgbClr val="D8D2C8"/>
                      </a:solidFill>
                      <a:prstDash val="solid"/>
                      <a:round/>
                      <a:headEnd type="none" w="med" len="med"/>
                      <a:tailEnd type="none" w="med" len="med"/>
                    </a:lnL>
                    <a:lnR w="9525" cap="flat" cmpd="sng" algn="ctr">
                      <a:solidFill>
                        <a:srgbClr val="D8D2C8"/>
                      </a:solidFill>
                      <a:prstDash val="solid"/>
                      <a:round/>
                      <a:headEnd type="none" w="med" len="med"/>
                      <a:tailEnd type="none" w="med" len="med"/>
                    </a:lnR>
                    <a:lnT w="9525" cap="flat" cmpd="sng" algn="ctr">
                      <a:solidFill>
                        <a:srgbClr val="D8D2C8"/>
                      </a:solidFill>
                      <a:prstDash val="solid"/>
                      <a:round/>
                      <a:headEnd type="none" w="med" len="med"/>
                      <a:tailEnd type="none" w="med" len="med"/>
                    </a:lnT>
                    <a:lnB w="9525" cap="flat" cmpd="sng" algn="ctr">
                      <a:solidFill>
                        <a:srgbClr val="D8D2C8"/>
                      </a:solidFill>
                      <a:prstDash val="solid"/>
                      <a:round/>
                      <a:headEnd type="none" w="med" len="med"/>
                      <a:tailEnd type="none" w="med" len="med"/>
                    </a:lnB>
                    <a:solidFill>
                      <a:srgbClr val="F4EFEA"/>
                    </a:solidFill>
                  </a:tcPr>
                </a:tc>
                <a:tc>
                  <a:txBody>
                    <a:bodyPr/>
                    <a:lstStyle/>
                    <a:p>
                      <a:pPr marL="0" indent="0" algn="ctr">
                        <a:buNone/>
                      </a:pPr>
                      <a:r>
                        <a:rPr lang="en-US" sz="1400" b="1" dirty="0">
                          <a:solidFill>
                            <a:srgbClr val="C15B33"/>
                          </a:solidFill>
                          <a:latin typeface="Calibri" pitchFamily="34" charset="0"/>
                          <a:ea typeface="Calibri" pitchFamily="34" charset="-122"/>
                          <a:cs typeface="Calibri" pitchFamily="34" charset="-120"/>
                        </a:rPr>
                        <a:t>255</a:t>
                      </a:r>
                      <a:endParaRPr lang="en-US" sz="1400" dirty="0">
                        <a:latin typeface="Calibri" charset="0"/>
                        <a:ea typeface="Calibri" charset="0"/>
                        <a:cs typeface="Calibri" charset="0"/>
                      </a:endParaRPr>
                    </a:p>
                  </a:txBody>
                  <a:tcPr marL="76200" marR="76200" marT="76200" marB="76200" anchor="ctr">
                    <a:lnL w="9525" cap="flat" cmpd="sng" algn="ctr">
                      <a:solidFill>
                        <a:srgbClr val="D8D2C8"/>
                      </a:solidFill>
                      <a:prstDash val="solid"/>
                      <a:round/>
                      <a:headEnd type="none" w="med" len="med"/>
                      <a:tailEnd type="none" w="med" len="med"/>
                    </a:lnL>
                    <a:lnR w="9525" cap="flat" cmpd="sng" algn="ctr">
                      <a:solidFill>
                        <a:srgbClr val="D8D2C8"/>
                      </a:solidFill>
                      <a:prstDash val="solid"/>
                      <a:round/>
                      <a:headEnd type="none" w="med" len="med"/>
                      <a:tailEnd type="none" w="med" len="med"/>
                    </a:lnR>
                    <a:lnT w="9525" cap="flat" cmpd="sng" algn="ctr">
                      <a:solidFill>
                        <a:srgbClr val="D8D2C8"/>
                      </a:solidFill>
                      <a:prstDash val="solid"/>
                      <a:round/>
                      <a:headEnd type="none" w="med" len="med"/>
                      <a:tailEnd type="none" w="med" len="med"/>
                    </a:lnT>
                    <a:lnB w="9525" cap="flat" cmpd="sng" algn="ctr">
                      <a:solidFill>
                        <a:srgbClr val="D8D2C8"/>
                      </a:solidFill>
                      <a:prstDash val="solid"/>
                      <a:round/>
                      <a:headEnd type="none" w="med" len="med"/>
                      <a:tailEnd type="none" w="med" len="med"/>
                    </a:lnB>
                    <a:solidFill>
                      <a:srgbClr val="F4EFEA"/>
                    </a:solidFill>
                  </a:tcPr>
                </a:tc>
                <a:tc>
                  <a:txBody>
                    <a:bodyPr/>
                    <a:lstStyle/>
                    <a:p>
                      <a:pPr marL="0" indent="0" algn="ctr">
                        <a:buNone/>
                      </a:pPr>
                      <a:r>
                        <a:rPr lang="en-US" sz="1400" b="1" dirty="0">
                          <a:solidFill>
                            <a:srgbClr val="C15B33"/>
                          </a:solidFill>
                          <a:latin typeface="Calibri" pitchFamily="34" charset="0"/>
                          <a:ea typeface="Calibri" pitchFamily="34" charset="-122"/>
                          <a:cs typeface="Calibri" pitchFamily="34" charset="-120"/>
                        </a:rPr>
                        <a:t>2.1</a:t>
                      </a:r>
                      <a:endParaRPr lang="en-US" sz="1400" dirty="0">
                        <a:latin typeface="Calibri" charset="0"/>
                        <a:ea typeface="Calibri" charset="0"/>
                        <a:cs typeface="Calibri" charset="0"/>
                      </a:endParaRPr>
                    </a:p>
                  </a:txBody>
                  <a:tcPr marL="76200" marR="76200" marT="76200" marB="76200" anchor="ctr">
                    <a:lnL w="9525" cap="flat" cmpd="sng" algn="ctr">
                      <a:solidFill>
                        <a:srgbClr val="D8D2C8"/>
                      </a:solidFill>
                      <a:prstDash val="solid"/>
                      <a:round/>
                      <a:headEnd type="none" w="med" len="med"/>
                      <a:tailEnd type="none" w="med" len="med"/>
                    </a:lnL>
                    <a:lnR w="9525" cap="flat" cmpd="sng" algn="ctr">
                      <a:solidFill>
                        <a:srgbClr val="D8D2C8"/>
                      </a:solidFill>
                      <a:prstDash val="solid"/>
                      <a:round/>
                      <a:headEnd type="none" w="med" len="med"/>
                      <a:tailEnd type="none" w="med" len="med"/>
                    </a:lnR>
                    <a:lnT w="9525" cap="flat" cmpd="sng" algn="ctr">
                      <a:solidFill>
                        <a:srgbClr val="D8D2C8"/>
                      </a:solidFill>
                      <a:prstDash val="solid"/>
                      <a:round/>
                      <a:headEnd type="none" w="med" len="med"/>
                      <a:tailEnd type="none" w="med" len="med"/>
                    </a:lnT>
                    <a:lnB w="9525" cap="flat" cmpd="sng" algn="ctr">
                      <a:solidFill>
                        <a:srgbClr val="D8D2C8"/>
                      </a:solidFill>
                      <a:prstDash val="solid"/>
                      <a:round/>
                      <a:headEnd type="none" w="med" len="med"/>
                      <a:tailEnd type="none" w="med" len="med"/>
                    </a:lnB>
                    <a:solidFill>
                      <a:srgbClr val="F4EFEA"/>
                    </a:solidFill>
                  </a:tcPr>
                </a:tc>
                <a:tc>
                  <a:txBody>
                    <a:bodyPr/>
                    <a:lstStyle/>
                    <a:p>
                      <a:pPr marL="0" indent="0" algn="ctr">
                        <a:buNone/>
                      </a:pPr>
                      <a:r>
                        <a:rPr lang="en-US" sz="1400" b="1" dirty="0">
                          <a:solidFill>
                            <a:srgbClr val="C15B33"/>
                          </a:solidFill>
                          <a:latin typeface="Calibri" pitchFamily="34" charset="0"/>
                          <a:ea typeface="Calibri" pitchFamily="34" charset="-122"/>
                          <a:cs typeface="Calibri" pitchFamily="34" charset="-120"/>
                        </a:rPr>
                        <a:t>×121</a:t>
                      </a:r>
                      <a:endParaRPr lang="en-US" sz="1400" dirty="0">
                        <a:latin typeface="Calibri" charset="0"/>
                        <a:ea typeface="Calibri" charset="0"/>
                        <a:cs typeface="Calibri" charset="0"/>
                      </a:endParaRPr>
                    </a:p>
                  </a:txBody>
                  <a:tcPr marL="76200" marR="76200" marT="76200" marB="76200" anchor="ctr">
                    <a:lnL w="9525" cap="flat" cmpd="sng" algn="ctr">
                      <a:solidFill>
                        <a:srgbClr val="D8D2C8"/>
                      </a:solidFill>
                      <a:prstDash val="solid"/>
                      <a:round/>
                      <a:headEnd type="none" w="med" len="med"/>
                      <a:tailEnd type="none" w="med" len="med"/>
                    </a:lnL>
                    <a:lnR w="9525" cap="flat" cmpd="sng" algn="ctr">
                      <a:solidFill>
                        <a:srgbClr val="D8D2C8"/>
                      </a:solidFill>
                      <a:prstDash val="solid"/>
                      <a:round/>
                      <a:headEnd type="none" w="med" len="med"/>
                      <a:tailEnd type="none" w="med" len="med"/>
                    </a:lnR>
                    <a:lnT w="9525" cap="flat" cmpd="sng" algn="ctr">
                      <a:solidFill>
                        <a:srgbClr val="D8D2C8"/>
                      </a:solidFill>
                      <a:prstDash val="solid"/>
                      <a:round/>
                      <a:headEnd type="none" w="med" len="med"/>
                      <a:tailEnd type="none" w="med" len="med"/>
                    </a:lnT>
                    <a:lnB w="9525" cap="flat" cmpd="sng" algn="ctr">
                      <a:solidFill>
                        <a:srgbClr val="D8D2C8"/>
                      </a:solidFill>
                      <a:prstDash val="solid"/>
                      <a:round/>
                      <a:headEnd type="none" w="med" len="med"/>
                      <a:tailEnd type="none" w="med" len="med"/>
                    </a:lnB>
                    <a:solidFill>
                      <a:srgbClr val="F4EFEA"/>
                    </a:solidFill>
                  </a:tcPr>
                </a:tc>
                <a:extLst>
                  <a:ext uri="{0D108BD9-81ED-4DB2-BD59-A6C34878D82A}">
                    <a16:rowId xmlns:a16="http://schemas.microsoft.com/office/drawing/2014/main" val="10003"/>
                  </a:ext>
                </a:extLst>
              </a:tr>
            </a:tbl>
          </a:graphicData>
        </a:graphic>
      </p:graphicFrame>
      <p:sp>
        <p:nvSpPr>
          <p:cNvPr id="5" name="Shape 2"/>
          <p:cNvSpPr/>
          <p:nvPr/>
        </p:nvSpPr>
        <p:spPr>
          <a:xfrm>
            <a:off x="548640" y="3703320"/>
            <a:ext cx="5394960" cy="1051560"/>
          </a:xfrm>
          <a:prstGeom prst="roundRect">
            <a:avLst>
              <a:gd name="adj" fmla="val 6957"/>
            </a:avLst>
          </a:prstGeom>
          <a:solidFill>
            <a:srgbClr val="F4EFEA"/>
          </a:solidFill>
          <a:ln w="9525">
            <a:solidFill>
              <a:srgbClr val="F4EFEA"/>
            </a:solidFill>
            <a:prstDash val="solid"/>
          </a:ln>
        </p:spPr>
      </p:sp>
      <p:sp>
        <p:nvSpPr>
          <p:cNvPr id="6" name="Text 3"/>
          <p:cNvSpPr txBox="1"/>
          <p:nvPr/>
        </p:nvSpPr>
        <p:spPr>
          <a:xfrm>
            <a:off x="777240" y="3840480"/>
            <a:ext cx="4937760" cy="777240"/>
          </a:xfrm>
          <a:prstGeom prst="rect">
            <a:avLst/>
          </a:prstGeom>
          <a:noFill/>
          <a:ln/>
        </p:spPr>
        <p:txBody>
          <a:bodyPr wrap="square" lIns="0" tIns="0" rIns="0" bIns="0" rtlCol="0" anchor="ctr"/>
          <a:lstStyle/>
          <a:p>
            <a:pPr marL="0" indent="0">
              <a:buNone/>
            </a:pPr>
            <a:r>
              <a:rPr lang="en-US" sz="1700" b="1" dirty="0">
                <a:solidFill>
                  <a:srgbClr val="C15B33"/>
                </a:solidFill>
                <a:latin typeface="Cambria" pitchFamily="34" charset="0"/>
                <a:ea typeface="Cambria" pitchFamily="34" charset="-122"/>
                <a:cs typeface="Cambria" pitchFamily="34" charset="-120"/>
              </a:rPr>
              <a:t>255 линий · 1010 км · 2 случайных на всю площадь</a:t>
            </a:r>
            <a:endParaRPr lang="en-US" sz="1700" dirty="0"/>
          </a:p>
        </p:txBody>
      </p:sp>
      <p:sp>
        <p:nvSpPr>
          <p:cNvPr id="7" name="Shape 4"/>
          <p:cNvSpPr/>
          <p:nvPr/>
        </p:nvSpPr>
        <p:spPr>
          <a:xfrm>
            <a:off x="6263640" y="3703320"/>
            <a:ext cx="5349240" cy="1051560"/>
          </a:xfrm>
          <a:prstGeom prst="roundRect">
            <a:avLst>
              <a:gd name="adj" fmla="val 6957"/>
            </a:avLst>
          </a:prstGeom>
          <a:solidFill>
            <a:srgbClr val="EAF0F3"/>
          </a:solidFill>
          <a:ln w="9525">
            <a:solidFill>
              <a:srgbClr val="EAF0F3"/>
            </a:solidFill>
            <a:prstDash val="solid"/>
          </a:ln>
        </p:spPr>
      </p:sp>
      <p:sp>
        <p:nvSpPr>
          <p:cNvPr id="8" name="Text 5"/>
          <p:cNvSpPr txBox="1"/>
          <p:nvPr/>
        </p:nvSpPr>
        <p:spPr>
          <a:xfrm>
            <a:off x="6492240" y="3822192"/>
            <a:ext cx="4892040" cy="822960"/>
          </a:xfrm>
          <a:prstGeom prst="rect">
            <a:avLst/>
          </a:prstGeom>
          <a:noFill/>
          <a:ln/>
        </p:spPr>
        <p:txBody>
          <a:bodyPr wrap="square" lIns="0" tIns="0" rIns="0" bIns="0" rtlCol="0" anchor="ctr"/>
          <a:lstStyle/>
          <a:p>
            <a:pPr marL="0" indent="0">
              <a:lnSpc>
                <a:spcPct val="110000"/>
              </a:lnSpc>
              <a:buNone/>
            </a:pPr>
            <a:r>
              <a:rPr lang="en-US" sz="1250" dirty="0">
                <a:solidFill>
                  <a:srgbClr val="1B2A32"/>
                </a:solidFill>
                <a:latin typeface="Calibri" pitchFamily="34" charset="0"/>
                <a:ea typeface="Calibri" pitchFamily="34" charset="-122"/>
                <a:cs typeface="Calibri" pitchFamily="34" charset="-120"/>
              </a:rPr>
              <a:t>Согласие приборов до поштучного отбора: взаимное покрытие 0.422 при случайном уровне 0.250.</a:t>
            </a:r>
            <a:endParaRPr lang="en-US" sz="1250" dirty="0"/>
          </a:p>
        </p:txBody>
      </p:sp>
      <p:sp>
        <p:nvSpPr>
          <p:cNvPr id="9" name="Text 6"/>
          <p:cNvSpPr txBox="1"/>
          <p:nvPr/>
        </p:nvSpPr>
        <p:spPr>
          <a:xfrm>
            <a:off x="548640" y="4983480"/>
            <a:ext cx="11064240" cy="411480"/>
          </a:xfrm>
          <a:prstGeom prst="rect">
            <a:avLst/>
          </a:prstGeom>
          <a:noFill/>
          <a:ln/>
        </p:spPr>
        <p:txBody>
          <a:bodyPr wrap="square" lIns="0" tIns="0" rIns="0" bIns="0" rtlCol="0" anchor="ctr"/>
          <a:lstStyle/>
          <a:p>
            <a:pPr marL="0" indent="0">
              <a:buNone/>
            </a:pPr>
            <a:r>
              <a:rPr lang="en-US" sz="1400" dirty="0">
                <a:solidFill>
                  <a:srgbClr val="1B2A32"/>
                </a:solidFill>
                <a:latin typeface="Calibri" pitchFamily="34" charset="0"/>
                <a:ea typeface="Calibri" pitchFamily="34" charset="-122"/>
                <a:cs typeface="Calibri" pitchFamily="34" charset="-120"/>
              </a:rPr>
              <a:t>Розы азимутов оптики и радара скоррелированы на 0.977, главные направления совпадают: 37° и 37°.</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marL="0" indent="0">
              <a:buNone/>
            </a:pPr>
            <a:r>
              <a:rPr lang="en-US" sz="3200" b="1" dirty="0">
                <a:solidFill>
                  <a:srgbClr val="1B2A32"/>
                </a:solidFill>
                <a:latin typeface="Cambria" pitchFamily="34" charset="0"/>
                <a:ea typeface="Cambria" pitchFamily="34" charset="-122"/>
                <a:cs typeface="Cambria" pitchFamily="34" charset="-120"/>
              </a:rPr>
              <a:t>Плотность задаёт пользователь, а не метод</a:t>
            </a:r>
            <a:endParaRPr lang="en-US" sz="3200" dirty="0"/>
          </a:p>
        </p:txBody>
      </p:sp>
      <p:sp>
        <p:nvSpPr>
          <p:cNvPr id="3" name="Text 1"/>
          <p:cNvSpPr txBox="1"/>
          <p:nvPr/>
        </p:nvSpPr>
        <p:spPr>
          <a:xfrm>
            <a:off x="548640" y="987552"/>
            <a:ext cx="11064240" cy="365760"/>
          </a:xfrm>
          <a:prstGeom prst="rect">
            <a:avLst/>
          </a:prstGeom>
          <a:noFill/>
          <a:ln/>
        </p:spPr>
        <p:txBody>
          <a:bodyPr wrap="square" lIns="0" tIns="0" rIns="0" bIns="0" rtlCol="0" anchor="ctr"/>
          <a:lstStyle/>
          <a:p>
            <a:pPr marL="0" indent="0">
              <a:buNone/>
            </a:pPr>
            <a:r>
              <a:rPr lang="en-US" sz="1400" i="1" dirty="0">
                <a:solidFill>
                  <a:srgbClr val="6E7F88"/>
                </a:solidFill>
                <a:latin typeface="Calibri" pitchFamily="34" charset="0"/>
                <a:ea typeface="Calibri" pitchFamily="34" charset="-122"/>
                <a:cs typeface="Calibri" pitchFamily="34" charset="-120"/>
              </a:rPr>
              <a:t>Пороги можно ослаблять, пока подтверждение вторым прибором держится выше случайного уровня</a:t>
            </a:r>
            <a:endParaRPr lang="en-US" sz="1400" dirty="0"/>
          </a:p>
        </p:txBody>
      </p:sp>
      <p:graphicFrame>
        <p:nvGraphicFramePr>
          <p:cNvPr id="4" name="Chart 0"/>
          <p:cNvGraphicFramePr/>
          <p:nvPr/>
        </p:nvGraphicFramePr>
        <p:xfrm>
          <a:off x="548640" y="1645920"/>
          <a:ext cx="7040880" cy="3931920"/>
        </p:xfrm>
        <a:graphic>
          <a:graphicData uri="http://schemas.openxmlformats.org/drawingml/2006/chart">
            <c:chart xmlns:c="http://schemas.openxmlformats.org/drawingml/2006/chart" xmlns:r="http://schemas.openxmlformats.org/officeDocument/2006/relationships" r:id="rId3"/>
          </a:graphicData>
        </a:graphic>
      </p:graphicFrame>
      <p:sp>
        <p:nvSpPr>
          <p:cNvPr id="5" name="Shape 2"/>
          <p:cNvSpPr/>
          <p:nvPr/>
        </p:nvSpPr>
        <p:spPr>
          <a:xfrm>
            <a:off x="7909560" y="1691640"/>
            <a:ext cx="3749040" cy="1143000"/>
          </a:xfrm>
          <a:prstGeom prst="roundRect">
            <a:avLst>
              <a:gd name="adj" fmla="val 6400"/>
            </a:avLst>
          </a:prstGeom>
          <a:solidFill>
            <a:srgbClr val="FBFAF8"/>
          </a:solidFill>
          <a:ln w="9525">
            <a:solidFill>
              <a:srgbClr val="FBFAF8"/>
            </a:solidFill>
            <a:prstDash val="solid"/>
          </a:ln>
        </p:spPr>
      </p:sp>
      <p:sp>
        <p:nvSpPr>
          <p:cNvPr id="6" name="Text 3"/>
          <p:cNvSpPr txBox="1"/>
          <p:nvPr/>
        </p:nvSpPr>
        <p:spPr>
          <a:xfrm>
            <a:off x="8138160" y="1801368"/>
            <a:ext cx="3291840" cy="274320"/>
          </a:xfrm>
          <a:prstGeom prst="rect">
            <a:avLst/>
          </a:prstGeom>
          <a:noFill/>
          <a:ln/>
        </p:spPr>
        <p:txBody>
          <a:bodyPr wrap="square" lIns="0" tIns="0" rIns="0" bIns="0" rtlCol="0" anchor="ctr"/>
          <a:lstStyle/>
          <a:p>
            <a:pPr marL="0" indent="0">
              <a:buNone/>
            </a:pPr>
            <a:r>
              <a:rPr lang="en-US" sz="1400" b="1" dirty="0">
                <a:solidFill>
                  <a:srgbClr val="1B2A32"/>
                </a:solidFill>
                <a:latin typeface="Calibri" pitchFamily="34" charset="0"/>
                <a:ea typeface="Calibri" pitchFamily="34" charset="-122"/>
                <a:cs typeface="Calibri" pitchFamily="34" charset="-120"/>
              </a:rPr>
              <a:t>Стоп-правило</a:t>
            </a:r>
            <a:endParaRPr lang="en-US" sz="1400" dirty="0"/>
          </a:p>
        </p:txBody>
      </p:sp>
      <p:sp>
        <p:nvSpPr>
          <p:cNvPr id="7" name="Text 4"/>
          <p:cNvSpPr txBox="1"/>
          <p:nvPr/>
        </p:nvSpPr>
        <p:spPr>
          <a:xfrm>
            <a:off x="8138160" y="2112264"/>
            <a:ext cx="3291840" cy="658368"/>
          </a:xfrm>
          <a:prstGeom prst="rect">
            <a:avLst/>
          </a:prstGeom>
          <a:noFill/>
          <a:ln/>
        </p:spPr>
        <p:txBody>
          <a:bodyPr wrap="square" lIns="0" tIns="0" rIns="0" bIns="0" rtlCol="0" anchor="ctr"/>
          <a:lstStyle/>
          <a:p>
            <a:pPr marL="0" indent="0">
              <a:lnSpc>
                <a:spcPct val="110000"/>
              </a:lnSpc>
              <a:buNone/>
            </a:pPr>
            <a:r>
              <a:rPr lang="en-US" sz="1150" dirty="0">
                <a:solidFill>
                  <a:srgbClr val="6E7F88"/>
                </a:solidFill>
                <a:latin typeface="Calibri" pitchFamily="34" charset="0"/>
                <a:ea typeface="Calibri" pitchFamily="34" charset="-122"/>
                <a:cs typeface="Calibri" pitchFamily="34" charset="-120"/>
              </a:rPr>
              <a:t>Ослаблять пороги можно ровно до тех пор, пока подтверждение вторым прибором держится выше случайного уровня.</a:t>
            </a:r>
            <a:endParaRPr lang="en-US" sz="1150" dirty="0"/>
          </a:p>
        </p:txBody>
      </p:sp>
      <p:sp>
        <p:nvSpPr>
          <p:cNvPr id="8" name="Shape 5"/>
          <p:cNvSpPr/>
          <p:nvPr/>
        </p:nvSpPr>
        <p:spPr>
          <a:xfrm>
            <a:off x="7909560" y="3017520"/>
            <a:ext cx="3749040" cy="1143000"/>
          </a:xfrm>
          <a:prstGeom prst="roundRect">
            <a:avLst>
              <a:gd name="adj" fmla="val 6400"/>
            </a:avLst>
          </a:prstGeom>
          <a:solidFill>
            <a:srgbClr val="FBFAF8"/>
          </a:solidFill>
          <a:ln w="9525">
            <a:solidFill>
              <a:srgbClr val="FBFAF8"/>
            </a:solidFill>
            <a:prstDash val="solid"/>
          </a:ln>
        </p:spPr>
      </p:sp>
      <p:sp>
        <p:nvSpPr>
          <p:cNvPr id="9" name="Text 6"/>
          <p:cNvSpPr txBox="1"/>
          <p:nvPr/>
        </p:nvSpPr>
        <p:spPr>
          <a:xfrm>
            <a:off x="8138160" y="3127248"/>
            <a:ext cx="3291840" cy="274320"/>
          </a:xfrm>
          <a:prstGeom prst="rect">
            <a:avLst/>
          </a:prstGeom>
          <a:noFill/>
          <a:ln/>
        </p:spPr>
        <p:txBody>
          <a:bodyPr wrap="square" lIns="0" tIns="0" rIns="0" bIns="0" rtlCol="0" anchor="ctr"/>
          <a:lstStyle/>
          <a:p>
            <a:pPr marL="0" indent="0">
              <a:buNone/>
            </a:pPr>
            <a:r>
              <a:rPr lang="en-US" sz="1400" b="1" dirty="0">
                <a:solidFill>
                  <a:srgbClr val="1B2A32"/>
                </a:solidFill>
                <a:latin typeface="Calibri" pitchFamily="34" charset="0"/>
                <a:ea typeface="Calibri" pitchFamily="34" charset="-122"/>
                <a:cs typeface="Calibri" pitchFamily="34" charset="-120"/>
              </a:rPr>
              <a:t>Обрыва нет</a:t>
            </a:r>
            <a:endParaRPr lang="en-US" sz="1400" dirty="0"/>
          </a:p>
        </p:txBody>
      </p:sp>
      <p:sp>
        <p:nvSpPr>
          <p:cNvPr id="10" name="Text 7"/>
          <p:cNvSpPr txBox="1"/>
          <p:nvPr/>
        </p:nvSpPr>
        <p:spPr>
          <a:xfrm>
            <a:off x="8138160" y="3438144"/>
            <a:ext cx="3291840" cy="658368"/>
          </a:xfrm>
          <a:prstGeom prst="rect">
            <a:avLst/>
          </a:prstGeom>
          <a:noFill/>
          <a:ln/>
        </p:spPr>
        <p:txBody>
          <a:bodyPr wrap="square" lIns="0" tIns="0" rIns="0" bIns="0" rtlCol="0" anchor="ctr"/>
          <a:lstStyle/>
          <a:p>
            <a:pPr marL="0" indent="0">
              <a:lnSpc>
                <a:spcPct val="110000"/>
              </a:lnSpc>
              <a:buNone/>
            </a:pPr>
            <a:r>
              <a:rPr lang="en-US" sz="1150" dirty="0">
                <a:solidFill>
                  <a:srgbClr val="6E7F88"/>
                </a:solidFill>
                <a:latin typeface="Calibri" pitchFamily="34" charset="0"/>
                <a:ea typeface="Calibri" pitchFamily="34" charset="-122"/>
                <a:cs typeface="Calibri" pitchFamily="34" charset="-120"/>
              </a:rPr>
              <a:t>Мелкие линии подтверждаются так же, как крупные, просто с меньшим запасом: от ×4.7 на «редко» до ×1.7 на «предельно».</a:t>
            </a:r>
            <a:endParaRPr lang="en-US" sz="1150" dirty="0"/>
          </a:p>
        </p:txBody>
      </p:sp>
      <p:sp>
        <p:nvSpPr>
          <p:cNvPr id="11" name="Shape 8"/>
          <p:cNvSpPr/>
          <p:nvPr/>
        </p:nvSpPr>
        <p:spPr>
          <a:xfrm>
            <a:off x="7909560" y="4343400"/>
            <a:ext cx="3749040" cy="1143000"/>
          </a:xfrm>
          <a:prstGeom prst="roundRect">
            <a:avLst>
              <a:gd name="adj" fmla="val 6400"/>
            </a:avLst>
          </a:prstGeom>
          <a:solidFill>
            <a:srgbClr val="F4EFEA"/>
          </a:solidFill>
          <a:ln w="9525">
            <a:solidFill>
              <a:srgbClr val="F4EFEA"/>
            </a:solidFill>
            <a:prstDash val="solid"/>
          </a:ln>
        </p:spPr>
      </p:sp>
      <p:sp>
        <p:nvSpPr>
          <p:cNvPr id="12" name="Text 9"/>
          <p:cNvSpPr txBox="1"/>
          <p:nvPr/>
        </p:nvSpPr>
        <p:spPr>
          <a:xfrm>
            <a:off x="8138160" y="4453128"/>
            <a:ext cx="3291840" cy="274320"/>
          </a:xfrm>
          <a:prstGeom prst="rect">
            <a:avLst/>
          </a:prstGeom>
          <a:noFill/>
          <a:ln/>
        </p:spPr>
        <p:txBody>
          <a:bodyPr wrap="square" lIns="0" tIns="0" rIns="0" bIns="0" rtlCol="0" anchor="ctr"/>
          <a:lstStyle/>
          <a:p>
            <a:pPr marL="0" indent="0">
              <a:buNone/>
            </a:pPr>
            <a:r>
              <a:rPr lang="en-US" sz="1400" b="1" dirty="0">
                <a:solidFill>
                  <a:srgbClr val="C15B33"/>
                </a:solidFill>
                <a:latin typeface="Calibri" pitchFamily="34" charset="0"/>
                <a:ea typeface="Calibri" pitchFamily="34" charset="-122"/>
                <a:cs typeface="Calibri" pitchFamily="34" charset="-120"/>
              </a:rPr>
              <a:t>Итоговая карта</a:t>
            </a:r>
            <a:endParaRPr lang="en-US" sz="1400" dirty="0"/>
          </a:p>
        </p:txBody>
      </p:sp>
      <p:sp>
        <p:nvSpPr>
          <p:cNvPr id="13" name="Text 10"/>
          <p:cNvSpPr txBox="1"/>
          <p:nvPr/>
        </p:nvSpPr>
        <p:spPr>
          <a:xfrm>
            <a:off x="8138160" y="4764024"/>
            <a:ext cx="3291840" cy="658368"/>
          </a:xfrm>
          <a:prstGeom prst="rect">
            <a:avLst/>
          </a:prstGeom>
          <a:noFill/>
          <a:ln/>
        </p:spPr>
        <p:txBody>
          <a:bodyPr wrap="square" lIns="0" tIns="0" rIns="0" bIns="0" rtlCol="0" anchor="ctr"/>
          <a:lstStyle/>
          <a:p>
            <a:pPr marL="0" indent="0">
              <a:lnSpc>
                <a:spcPct val="110000"/>
              </a:lnSpc>
              <a:buNone/>
            </a:pPr>
            <a:r>
              <a:rPr lang="en-US" sz="1150" dirty="0">
                <a:solidFill>
                  <a:srgbClr val="6E7F88"/>
                </a:solidFill>
                <a:latin typeface="Calibri" pitchFamily="34" charset="0"/>
                <a:ea typeface="Calibri" pitchFamily="34" charset="-122"/>
                <a:cs typeface="Calibri" pitchFamily="34" charset="-120"/>
              </a:rPr>
              <a:t>Построена на ступени «предельно» — 1848 км трассировки, из которых отбор оставляет 1010 км.</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marL="0" indent="0">
              <a:buNone/>
            </a:pPr>
            <a:r>
              <a:rPr lang="en-US" sz="3200" b="1" dirty="0">
                <a:solidFill>
                  <a:srgbClr val="1B2A32"/>
                </a:solidFill>
                <a:latin typeface="Cambria" pitchFamily="34" charset="0"/>
                <a:ea typeface="Cambria" pitchFamily="34" charset="-122"/>
                <a:cs typeface="Cambria" pitchFamily="34" charset="-120"/>
              </a:rPr>
              <a:t>Перенос ранжирования между площадками</a:t>
            </a:r>
            <a:endParaRPr lang="en-US" sz="3200" dirty="0"/>
          </a:p>
        </p:txBody>
      </p:sp>
      <p:sp>
        <p:nvSpPr>
          <p:cNvPr id="3" name="Text 1"/>
          <p:cNvSpPr txBox="1"/>
          <p:nvPr/>
        </p:nvSpPr>
        <p:spPr>
          <a:xfrm>
            <a:off x="548640" y="987552"/>
            <a:ext cx="11064240" cy="365760"/>
          </a:xfrm>
          <a:prstGeom prst="rect">
            <a:avLst/>
          </a:prstGeom>
          <a:noFill/>
          <a:ln/>
        </p:spPr>
        <p:txBody>
          <a:bodyPr wrap="square" lIns="0" tIns="0" rIns="0" bIns="0" rtlCol="0" anchor="ctr"/>
          <a:lstStyle/>
          <a:p>
            <a:pPr marL="0" indent="0">
              <a:buNone/>
            </a:pPr>
            <a:r>
              <a:rPr lang="en-US" sz="1400" i="1" dirty="0">
                <a:solidFill>
                  <a:srgbClr val="6E7F88"/>
                </a:solidFill>
                <a:latin typeface="Calibri" pitchFamily="34" charset="0"/>
                <a:ea typeface="Calibri" pitchFamily="34" charset="-122"/>
                <a:cs typeface="Calibri" pitchFamily="34" charset="-120"/>
              </a:rPr>
              <a:t>Модель обучена на Неваде и Анабар не видела; метрика — площадь под ROC</a:t>
            </a:r>
            <a:endParaRPr lang="en-US" sz="1400" dirty="0"/>
          </a:p>
        </p:txBody>
      </p:sp>
      <p:pic>
        <p:nvPicPr>
          <p:cNvPr id="4" name="Image 0" descr="preencoded.png"/>
          <p:cNvPicPr>
            <a:picLocks noChangeAspect="1"/>
          </p:cNvPicPr>
          <p:nvPr/>
        </p:nvPicPr>
        <p:blipFill>
          <a:blip r:embed="rId3"/>
          <a:stretch>
            <a:fillRect/>
          </a:stretch>
        </p:blipFill>
        <p:spPr>
          <a:xfrm>
            <a:off x="502920" y="1554480"/>
            <a:ext cx="11155680" cy="3877056"/>
          </a:xfrm>
          <a:prstGeom prst="rect">
            <a:avLst/>
          </a:prstGeom>
        </p:spPr>
      </p:pic>
      <p:sp>
        <p:nvSpPr>
          <p:cNvPr id="5" name="Text 2"/>
          <p:cNvSpPr txBox="1"/>
          <p:nvPr/>
        </p:nvSpPr>
        <p:spPr>
          <a:xfrm>
            <a:off x="548640" y="5486400"/>
            <a:ext cx="11064240" cy="685800"/>
          </a:xfrm>
          <a:prstGeom prst="rect">
            <a:avLst/>
          </a:prstGeom>
          <a:noFill/>
          <a:ln/>
        </p:spPr>
        <p:txBody>
          <a:bodyPr wrap="square" lIns="0" tIns="0" rIns="0" bIns="0" rtlCol="0" anchor="ctr"/>
          <a:lstStyle/>
          <a:p>
            <a:pPr marL="0" indent="0">
              <a:lnSpc>
                <a:spcPct val="110000"/>
              </a:lnSpc>
              <a:buNone/>
            </a:pPr>
            <a:r>
              <a:rPr lang="en-US" sz="1250" dirty="0">
                <a:solidFill>
                  <a:srgbClr val="1B2A32"/>
                </a:solidFill>
                <a:latin typeface="Calibri" pitchFamily="34" charset="0"/>
                <a:ea typeface="Calibri" pitchFamily="34" charset="-122"/>
                <a:cs typeface="Calibri" pitchFamily="34" charset="-120"/>
              </a:rPr>
              <a:t>Признаки линии — длина, прямолинейность, контраст к локальному фону, однородность силы вдоль линии — безразмерны, в отличие от спектра ячейки. Спектральная подпись линеамента у каждой площадки своя и не переносится (0.65–1.38, ни одна конфигурация не берёт порог).</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548640" y="320040"/>
            <a:ext cx="11064240" cy="685800"/>
          </a:xfrm>
          <a:prstGeom prst="rect">
            <a:avLst/>
          </a:prstGeom>
          <a:noFill/>
          <a:ln/>
        </p:spPr>
        <p:txBody>
          <a:bodyPr wrap="square" lIns="0" tIns="0" rIns="0" bIns="0" rtlCol="0" anchor="ctr"/>
          <a:lstStyle/>
          <a:p>
            <a:pPr marL="0" indent="0">
              <a:buNone/>
            </a:pPr>
            <a:r>
              <a:rPr lang="en-US" sz="3200" b="1" dirty="0">
                <a:solidFill>
                  <a:srgbClr val="1B2A32"/>
                </a:solidFill>
                <a:latin typeface="Cambria" pitchFamily="34" charset="0"/>
                <a:ea typeface="Cambria" pitchFamily="34" charset="-122"/>
                <a:cs typeface="Cambria" pitchFamily="34" charset="-120"/>
              </a:rPr>
              <a:t>Сопоставление с независимыми картами</a:t>
            </a:r>
            <a:endParaRPr lang="en-US" sz="3200" dirty="0"/>
          </a:p>
        </p:txBody>
      </p:sp>
      <p:sp>
        <p:nvSpPr>
          <p:cNvPr id="3" name="Text 1"/>
          <p:cNvSpPr txBox="1"/>
          <p:nvPr/>
        </p:nvSpPr>
        <p:spPr>
          <a:xfrm>
            <a:off x="548640" y="987552"/>
            <a:ext cx="11064240" cy="365760"/>
          </a:xfrm>
          <a:prstGeom prst="rect">
            <a:avLst/>
          </a:prstGeom>
          <a:noFill/>
          <a:ln/>
        </p:spPr>
        <p:txBody>
          <a:bodyPr wrap="square" lIns="0" tIns="0" rIns="0" bIns="0" rtlCol="0" anchor="ctr"/>
          <a:lstStyle/>
          <a:p>
            <a:pPr marL="0" indent="0">
              <a:buNone/>
            </a:pPr>
            <a:r>
              <a:rPr lang="en-US" sz="1400" i="1" dirty="0">
                <a:solidFill>
                  <a:srgbClr val="6E7F88"/>
                </a:solidFill>
                <a:latin typeface="Calibri" pitchFamily="34" charset="0"/>
                <a:ea typeface="Calibri" pitchFamily="34" charset="-122"/>
                <a:cs typeface="Calibri" pitchFamily="34" charset="-120"/>
              </a:rPr>
              <a:t>Отдельный шаг после построения карты — не критерий её качества</a:t>
            </a:r>
            <a:endParaRPr lang="en-US" sz="1400" dirty="0"/>
          </a:p>
        </p:txBody>
      </p:sp>
      <p:sp>
        <p:nvSpPr>
          <p:cNvPr id="4" name="Shape 2"/>
          <p:cNvSpPr/>
          <p:nvPr/>
        </p:nvSpPr>
        <p:spPr>
          <a:xfrm>
            <a:off x="548640" y="1691640"/>
            <a:ext cx="5394960" cy="1965960"/>
          </a:xfrm>
          <a:prstGeom prst="roundRect">
            <a:avLst>
              <a:gd name="adj" fmla="val 3721"/>
            </a:avLst>
          </a:prstGeom>
          <a:solidFill>
            <a:srgbClr val="F4EFEA"/>
          </a:solidFill>
          <a:ln w="9525">
            <a:solidFill>
              <a:srgbClr val="F4EFEA"/>
            </a:solidFill>
            <a:prstDash val="solid"/>
          </a:ln>
        </p:spPr>
      </p:sp>
      <p:sp>
        <p:nvSpPr>
          <p:cNvPr id="5" name="Text 3"/>
          <p:cNvSpPr txBox="1"/>
          <p:nvPr/>
        </p:nvSpPr>
        <p:spPr>
          <a:xfrm>
            <a:off x="822960" y="1856232"/>
            <a:ext cx="4846320" cy="320040"/>
          </a:xfrm>
          <a:prstGeom prst="rect">
            <a:avLst/>
          </a:prstGeom>
          <a:noFill/>
          <a:ln/>
        </p:spPr>
        <p:txBody>
          <a:bodyPr wrap="square" lIns="0" tIns="0" rIns="0" bIns="0" rtlCol="0" anchor="ctr"/>
          <a:lstStyle/>
          <a:p>
            <a:pPr marL="0" indent="0">
              <a:buNone/>
            </a:pPr>
            <a:r>
              <a:rPr lang="en-US" sz="1500" b="1" dirty="0">
                <a:solidFill>
                  <a:srgbClr val="C15B33"/>
                </a:solidFill>
                <a:latin typeface="Calibri" pitchFamily="34" charset="0"/>
                <a:ea typeface="Calibri" pitchFamily="34" charset="-122"/>
                <a:cs typeface="Calibri" pitchFamily="34" charset="-120"/>
              </a:rPr>
              <a:t>С разломами геологической карты</a:t>
            </a:r>
            <a:endParaRPr lang="en-US" sz="1500" dirty="0"/>
          </a:p>
        </p:txBody>
      </p:sp>
      <p:sp>
        <p:nvSpPr>
          <p:cNvPr id="6" name="Text 4"/>
          <p:cNvSpPr txBox="1"/>
          <p:nvPr/>
        </p:nvSpPr>
        <p:spPr>
          <a:xfrm>
            <a:off x="822960" y="2212848"/>
            <a:ext cx="4846320" cy="1325880"/>
          </a:xfrm>
          <a:prstGeom prst="rect">
            <a:avLst/>
          </a:prstGeom>
          <a:noFill/>
          <a:ln/>
        </p:spPr>
        <p:txBody>
          <a:bodyPr wrap="square" lIns="0" tIns="0" rIns="0" bIns="0" rtlCol="0" anchor="t"/>
          <a:lstStyle/>
          <a:p>
            <a:pPr marL="0" indent="0">
              <a:lnSpc>
                <a:spcPct val="112000"/>
              </a:lnSpc>
              <a:spcAft>
                <a:spcPts val="800"/>
              </a:spcAft>
              <a:buNone/>
            </a:pPr>
            <a:r>
              <a:rPr lang="en-US" sz="1250" dirty="0">
                <a:solidFill>
                  <a:srgbClr val="1B2A32"/>
                </a:solidFill>
                <a:latin typeface="Calibri" pitchFamily="34" charset="0"/>
                <a:ea typeface="Calibri" pitchFamily="34" charset="-122"/>
                <a:cs typeface="Calibri" pitchFamily="34" charset="-120"/>
              </a:rPr>
              <a:t>По положению: 9–11 % длины наших линий попадает в допуск 250 м от коридоров при фоне 8 %.</a:t>
            </a:r>
            <a:endParaRPr lang="en-US" sz="1250" dirty="0"/>
          </a:p>
          <a:p>
            <a:pPr marL="0" indent="0">
              <a:lnSpc>
                <a:spcPct val="112000"/>
              </a:lnSpc>
              <a:buNone/>
            </a:pPr>
            <a:r>
              <a:rPr lang="en-US" sz="1250" dirty="0">
                <a:solidFill>
                  <a:srgbClr val="1B2A32"/>
                </a:solidFill>
                <a:latin typeface="Calibri" pitchFamily="34" charset="0"/>
                <a:ea typeface="Calibri" pitchFamily="34" charset="-122"/>
                <a:cs typeface="Calibri" pitchFamily="34" charset="-120"/>
              </a:rPr>
              <a:t>По направлению: наша главная система северо-восточная (22–37°), у обводки зон — северо-западная (127°). Обе системы есть в обеих картах, различается преобладание.</a:t>
            </a:r>
            <a:endParaRPr lang="en-US" sz="1250" dirty="0"/>
          </a:p>
        </p:txBody>
      </p:sp>
      <p:sp>
        <p:nvSpPr>
          <p:cNvPr id="7" name="Shape 5"/>
          <p:cNvSpPr/>
          <p:nvPr/>
        </p:nvSpPr>
        <p:spPr>
          <a:xfrm>
            <a:off x="6263640" y="1691640"/>
            <a:ext cx="5394960" cy="1965960"/>
          </a:xfrm>
          <a:prstGeom prst="roundRect">
            <a:avLst>
              <a:gd name="adj" fmla="val 3721"/>
            </a:avLst>
          </a:prstGeom>
          <a:solidFill>
            <a:srgbClr val="EAF0F3"/>
          </a:solidFill>
          <a:ln w="9525">
            <a:solidFill>
              <a:srgbClr val="EAF0F3"/>
            </a:solidFill>
            <a:prstDash val="solid"/>
          </a:ln>
        </p:spPr>
      </p:sp>
      <p:sp>
        <p:nvSpPr>
          <p:cNvPr id="8" name="Text 6"/>
          <p:cNvSpPr txBox="1"/>
          <p:nvPr/>
        </p:nvSpPr>
        <p:spPr>
          <a:xfrm>
            <a:off x="6537960" y="1856232"/>
            <a:ext cx="4846320" cy="320040"/>
          </a:xfrm>
          <a:prstGeom prst="rect">
            <a:avLst/>
          </a:prstGeom>
          <a:noFill/>
          <a:ln/>
        </p:spPr>
        <p:txBody>
          <a:bodyPr wrap="square" lIns="0" tIns="0" rIns="0" bIns="0" rtlCol="0" anchor="ctr"/>
          <a:lstStyle/>
          <a:p>
            <a:pPr marL="0" indent="0">
              <a:buNone/>
            </a:pPr>
            <a:r>
              <a:rPr lang="en-US" sz="1500" b="1" dirty="0">
                <a:solidFill>
                  <a:srgbClr val="3E6E8E"/>
                </a:solidFill>
                <a:latin typeface="Calibri" pitchFamily="34" charset="0"/>
                <a:ea typeface="Calibri" pitchFamily="34" charset="-122"/>
                <a:cs typeface="Calibri" pitchFamily="34" charset="-120"/>
              </a:rPr>
              <a:t>С рельефными линеаментами проекта</a:t>
            </a:r>
            <a:endParaRPr lang="en-US" sz="1500" dirty="0"/>
          </a:p>
        </p:txBody>
      </p:sp>
      <p:sp>
        <p:nvSpPr>
          <p:cNvPr id="9" name="Text 7"/>
          <p:cNvSpPr txBox="1"/>
          <p:nvPr/>
        </p:nvSpPr>
        <p:spPr>
          <a:xfrm>
            <a:off x="6537960" y="2212848"/>
            <a:ext cx="4846320" cy="1325880"/>
          </a:xfrm>
          <a:prstGeom prst="rect">
            <a:avLst/>
          </a:prstGeom>
          <a:noFill/>
          <a:ln/>
        </p:spPr>
        <p:txBody>
          <a:bodyPr wrap="square" lIns="0" tIns="0" rIns="0" bIns="0" rtlCol="0" anchor="t"/>
          <a:lstStyle/>
          <a:p>
            <a:pPr marL="0" indent="0">
              <a:lnSpc>
                <a:spcPct val="112000"/>
              </a:lnSpc>
              <a:spcAft>
                <a:spcPts val="800"/>
              </a:spcAft>
              <a:buNone/>
            </a:pPr>
            <a:r>
              <a:rPr lang="en-US" sz="1250" dirty="0">
                <a:solidFill>
                  <a:srgbClr val="6E7F88"/>
                </a:solidFill>
                <a:latin typeface="Calibri" pitchFamily="34" charset="0"/>
                <a:ea typeface="Calibri" pitchFamily="34" charset="-122"/>
                <a:cs typeface="Calibri" pitchFamily="34" charset="-120"/>
              </a:rPr>
              <a:t>src/lineaments.py: восьмиазимутная отмывка → Кэнни → Хаф; 3087 отрезков, 5004 км по листу.</a:t>
            </a:r>
            <a:endParaRPr lang="en-US" sz="1250" dirty="0"/>
          </a:p>
          <a:p>
            <a:pPr marL="0" indent="0">
              <a:lnSpc>
                <a:spcPct val="112000"/>
              </a:lnSpc>
              <a:buNone/>
            </a:pPr>
            <a:r>
              <a:rPr lang="en-US" sz="1250" dirty="0">
                <a:solidFill>
                  <a:srgbClr val="1B2A32"/>
                </a:solidFill>
                <a:latin typeface="Calibri" pitchFamily="34" charset="0"/>
                <a:ea typeface="Calibri" pitchFamily="34" charset="-122"/>
                <a:cs typeface="Calibri" pitchFamily="34" charset="-120"/>
              </a:rPr>
              <a:t>Наши рядом с рельефными: 0.455 против 0.356 ± 0.069 — ×1.28 (1.4 σ).</a:t>
            </a:r>
            <a:endParaRPr lang="en-US" sz="1250" dirty="0"/>
          </a:p>
          <a:p>
            <a:pPr marL="0" indent="0">
              <a:lnSpc>
                <a:spcPct val="112000"/>
              </a:lnSpc>
              <a:buNone/>
            </a:pPr>
            <a:r>
              <a:rPr lang="en-US" sz="1250" dirty="0">
                <a:solidFill>
                  <a:srgbClr val="1B2A32"/>
                </a:solidFill>
                <a:latin typeface="Calibri" pitchFamily="34" charset="0"/>
                <a:ea typeface="Calibri" pitchFamily="34" charset="-122"/>
                <a:cs typeface="Calibri" pitchFamily="34" charset="-120"/>
              </a:rPr>
              <a:t>Рельефные покрыты нашими: 0.311 против 0.231 ± 0.061 — ×1.35 (1.3 σ).</a:t>
            </a:r>
            <a:endParaRPr lang="en-US" sz="1250" dirty="0"/>
          </a:p>
        </p:txBody>
      </p:sp>
      <p:sp>
        <p:nvSpPr>
          <p:cNvPr id="10" name="Shape 8"/>
          <p:cNvSpPr/>
          <p:nvPr/>
        </p:nvSpPr>
        <p:spPr>
          <a:xfrm>
            <a:off x="548640" y="3931920"/>
            <a:ext cx="11109960" cy="1691640"/>
          </a:xfrm>
          <a:prstGeom prst="roundRect">
            <a:avLst>
              <a:gd name="adj" fmla="val 4324"/>
            </a:avLst>
          </a:prstGeom>
          <a:solidFill>
            <a:srgbClr val="FBFAF8"/>
          </a:solidFill>
          <a:ln w="9525">
            <a:solidFill>
              <a:srgbClr val="FBFAF8"/>
            </a:solidFill>
            <a:prstDash val="solid"/>
          </a:ln>
        </p:spPr>
      </p:sp>
      <p:sp>
        <p:nvSpPr>
          <p:cNvPr id="11" name="Text 9"/>
          <p:cNvSpPr txBox="1"/>
          <p:nvPr/>
        </p:nvSpPr>
        <p:spPr>
          <a:xfrm>
            <a:off x="822960" y="4096512"/>
            <a:ext cx="10515600" cy="320040"/>
          </a:xfrm>
          <a:prstGeom prst="rect">
            <a:avLst/>
          </a:prstGeom>
          <a:noFill/>
          <a:ln/>
        </p:spPr>
        <p:txBody>
          <a:bodyPr wrap="square" lIns="0" tIns="0" rIns="0" bIns="0" rtlCol="0" anchor="ctr"/>
          <a:lstStyle/>
          <a:p>
            <a:pPr marL="0" indent="0">
              <a:buNone/>
            </a:pPr>
            <a:r>
              <a:rPr lang="en-US" sz="1500" b="1" dirty="0">
                <a:solidFill>
                  <a:srgbClr val="1B2A32"/>
                </a:solidFill>
                <a:latin typeface="Calibri" pitchFamily="34" charset="0"/>
                <a:ea typeface="Calibri" pitchFamily="34" charset="-122"/>
                <a:cs typeface="Calibri" pitchFamily="34" charset="-120"/>
              </a:rPr>
              <a:t>Как это читать</a:t>
            </a:r>
            <a:endParaRPr lang="en-US" sz="1500" dirty="0"/>
          </a:p>
        </p:txBody>
      </p:sp>
      <p:sp>
        <p:nvSpPr>
          <p:cNvPr id="12" name="Text 10"/>
          <p:cNvSpPr txBox="1"/>
          <p:nvPr/>
        </p:nvSpPr>
        <p:spPr>
          <a:xfrm>
            <a:off x="822960" y="4443984"/>
            <a:ext cx="10515600" cy="1005840"/>
          </a:xfrm>
          <a:prstGeom prst="rect">
            <a:avLst/>
          </a:prstGeom>
          <a:noFill/>
          <a:ln/>
        </p:spPr>
        <p:txBody>
          <a:bodyPr wrap="square" lIns="0" tIns="0" rIns="0" bIns="0" rtlCol="0" anchor="ctr"/>
          <a:lstStyle/>
          <a:p>
            <a:pPr marL="0" indent="0">
              <a:lnSpc>
                <a:spcPct val="115000"/>
              </a:lnSpc>
              <a:buNone/>
            </a:pPr>
            <a:r>
              <a:rPr lang="en-US" sz="1350" dirty="0">
                <a:solidFill>
                  <a:srgbClr val="1B2A32"/>
                </a:solidFill>
                <a:latin typeface="Calibri" pitchFamily="34" charset="0"/>
                <a:ea typeface="Calibri" pitchFamily="34" charset="-122"/>
                <a:cs typeface="Calibri" pitchFamily="34" charset="-120"/>
              </a:rPr>
              <a:t>Больше половины наших линий не имеет рельефного соответствия, две трети рельефных не покрыты нашими. Это снимает опасение, что мы просто переоткрываем рельеф — иначе согласие было бы в разы выше. Но и структурную природу линий это не подтверждает: 1.3–1.4 σ мало, чтобы утверждать что-либо в любую сторону.</a:t>
            </a:r>
            <a:endParaRPr lang="en-US" sz="13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16232B"/>
        </a:solidFill>
        <a:effectLst/>
      </p:bgPr>
    </p:bg>
    <p:spTree>
      <p:nvGrpSpPr>
        <p:cNvPr id="1" name=""/>
        <p:cNvGrpSpPr/>
        <p:nvPr/>
      </p:nvGrpSpPr>
      <p:grpSpPr>
        <a:xfrm>
          <a:off x="0" y="0"/>
          <a:ext cx="0" cy="0"/>
          <a:chOff x="0" y="0"/>
          <a:chExt cx="0" cy="0"/>
        </a:xfrm>
      </p:grpSpPr>
      <p:sp>
        <p:nvSpPr>
          <p:cNvPr id="2" name="Text 0"/>
          <p:cNvSpPr txBox="1"/>
          <p:nvPr/>
        </p:nvSpPr>
        <p:spPr>
          <a:xfrm>
            <a:off x="548640" y="411480"/>
            <a:ext cx="11064240" cy="68580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Что доказано и что нет</a:t>
            </a:r>
            <a:endParaRPr lang="en-US" sz="3200" dirty="0"/>
          </a:p>
        </p:txBody>
      </p:sp>
      <p:sp>
        <p:nvSpPr>
          <p:cNvPr id="3" name="Shape 1"/>
          <p:cNvSpPr/>
          <p:nvPr/>
        </p:nvSpPr>
        <p:spPr>
          <a:xfrm>
            <a:off x="548640" y="1371600"/>
            <a:ext cx="5394960" cy="3886200"/>
          </a:xfrm>
          <a:prstGeom prst="roundRect">
            <a:avLst>
              <a:gd name="adj" fmla="val 1882"/>
            </a:avLst>
          </a:prstGeom>
          <a:solidFill>
            <a:srgbClr val="1F3340"/>
          </a:solidFill>
          <a:ln w="12700">
            <a:solidFill>
              <a:srgbClr val="2C4A5A"/>
            </a:solidFill>
            <a:prstDash val="solid"/>
          </a:ln>
        </p:spPr>
      </p:sp>
      <p:sp>
        <p:nvSpPr>
          <p:cNvPr id="4" name="Text 2"/>
          <p:cNvSpPr txBox="1"/>
          <p:nvPr/>
        </p:nvSpPr>
        <p:spPr>
          <a:xfrm>
            <a:off x="822960" y="1554480"/>
            <a:ext cx="4846320" cy="365760"/>
          </a:xfrm>
          <a:prstGeom prst="rect">
            <a:avLst/>
          </a:prstGeom>
          <a:noFill/>
          <a:ln/>
        </p:spPr>
        <p:txBody>
          <a:bodyPr wrap="square" lIns="0" tIns="0" rIns="0" bIns="0" rtlCol="0" anchor="ctr"/>
          <a:lstStyle/>
          <a:p>
            <a:pPr marL="0" indent="0">
              <a:buNone/>
            </a:pPr>
            <a:r>
              <a:rPr lang="en-US" sz="1800" b="1" dirty="0">
                <a:solidFill>
                  <a:srgbClr val="8FD3B0"/>
                </a:solidFill>
                <a:latin typeface="Calibri" pitchFamily="34" charset="0"/>
                <a:ea typeface="Calibri" pitchFamily="34" charset="-122"/>
                <a:cs typeface="Calibri" pitchFamily="34" charset="-120"/>
              </a:rPr>
              <a:t>Доказано</a:t>
            </a:r>
            <a:endParaRPr lang="en-US" sz="1800" dirty="0"/>
          </a:p>
        </p:txBody>
      </p:sp>
      <p:sp>
        <p:nvSpPr>
          <p:cNvPr id="5" name="Text 3"/>
          <p:cNvSpPr txBox="1"/>
          <p:nvPr/>
        </p:nvSpPr>
        <p:spPr>
          <a:xfrm>
            <a:off x="822960" y="2011680"/>
            <a:ext cx="4846320" cy="3063240"/>
          </a:xfrm>
          <a:prstGeom prst="rect">
            <a:avLst/>
          </a:prstGeom>
          <a:noFill/>
          <a:ln/>
        </p:spPr>
        <p:txBody>
          <a:bodyPr wrap="square" lIns="0" tIns="0" rIns="0" bIns="0" rtlCol="0" anchor="t"/>
          <a:lstStyle/>
          <a:p>
            <a:pPr marL="342900" indent="-342900">
              <a:lnSpc>
                <a:spcPct val="115000"/>
              </a:lnSpc>
              <a:spcAft>
                <a:spcPts val="1200"/>
              </a:spcAft>
              <a:buSzPct val="100000"/>
              <a:buChar char="•"/>
            </a:pPr>
            <a:r>
              <a:rPr lang="en-US" sz="1300" dirty="0">
                <a:solidFill>
                  <a:srgbClr val="E4ECF0"/>
                </a:solidFill>
                <a:latin typeface="Calibri" pitchFamily="34" charset="0"/>
                <a:ea typeface="Calibri" pitchFamily="34" charset="-122"/>
                <a:cs typeface="Calibri" pitchFamily="34" charset="-120"/>
              </a:rPr>
              <a:t>Линии — настоящие элементы поверхности, а не артефакт одного датчика: два прибора с разной физикой видят их независимо, случайно проходит около 2 линий из 255.</a:t>
            </a:r>
            <a:endParaRPr lang="en-US" sz="1300" dirty="0"/>
          </a:p>
          <a:p>
            <a:pPr marL="342900" indent="-342900">
              <a:lnSpc>
                <a:spcPct val="115000"/>
              </a:lnSpc>
              <a:spcAft>
                <a:spcPts val="1200"/>
              </a:spcAft>
              <a:buSzPct val="100000"/>
              <a:buChar char="•"/>
            </a:pPr>
            <a:r>
              <a:rPr lang="en-US" sz="1300" dirty="0">
                <a:solidFill>
                  <a:srgbClr val="E4ECF0"/>
                </a:solidFill>
                <a:latin typeface="Calibri" pitchFamily="34" charset="0"/>
                <a:ea typeface="Calibri" pitchFamily="34" charset="-122"/>
                <a:cs typeface="Calibri" pitchFamily="34" charset="-120"/>
              </a:rPr>
              <a:t>Метод воспроизводим побайтно: обучения в построении карты нет. Обучаемая версия воспроизводилась между двумя подвыборками лишь на 0.18.</a:t>
            </a:r>
            <a:endParaRPr lang="en-US" sz="1300" dirty="0"/>
          </a:p>
          <a:p>
            <a:pPr marL="342900" indent="-342900">
              <a:lnSpc>
                <a:spcPct val="115000"/>
              </a:lnSpc>
              <a:buSzPct val="100000"/>
              <a:buChar char="•"/>
            </a:pPr>
            <a:r>
              <a:rPr lang="en-US" sz="1300" dirty="0">
                <a:solidFill>
                  <a:srgbClr val="E4ECF0"/>
                </a:solidFill>
                <a:latin typeface="Calibri" pitchFamily="34" charset="0"/>
                <a:ea typeface="Calibri" pitchFamily="34" charset="-122"/>
                <a:cs typeface="Calibri" pitchFamily="34" charset="-120"/>
              </a:rPr>
              <a:t>Ранжирование линий по уверенности переносится между площадками (p = 0.0001).</a:t>
            </a:r>
            <a:endParaRPr lang="en-US" sz="1300" dirty="0"/>
          </a:p>
        </p:txBody>
      </p:sp>
      <p:sp>
        <p:nvSpPr>
          <p:cNvPr id="6" name="Shape 4"/>
          <p:cNvSpPr/>
          <p:nvPr/>
        </p:nvSpPr>
        <p:spPr>
          <a:xfrm>
            <a:off x="6263640" y="1371600"/>
            <a:ext cx="5394960" cy="3886200"/>
          </a:xfrm>
          <a:prstGeom prst="roundRect">
            <a:avLst>
              <a:gd name="adj" fmla="val 1882"/>
            </a:avLst>
          </a:prstGeom>
          <a:solidFill>
            <a:srgbClr val="2A2320"/>
          </a:solidFill>
          <a:ln w="12700">
            <a:solidFill>
              <a:srgbClr val="4A382F"/>
            </a:solidFill>
            <a:prstDash val="solid"/>
          </a:ln>
        </p:spPr>
      </p:sp>
      <p:sp>
        <p:nvSpPr>
          <p:cNvPr id="7" name="Text 5"/>
          <p:cNvSpPr txBox="1"/>
          <p:nvPr/>
        </p:nvSpPr>
        <p:spPr>
          <a:xfrm>
            <a:off x="6537960" y="1554480"/>
            <a:ext cx="4846320" cy="365760"/>
          </a:xfrm>
          <a:prstGeom prst="rect">
            <a:avLst/>
          </a:prstGeom>
          <a:noFill/>
          <a:ln/>
        </p:spPr>
        <p:txBody>
          <a:bodyPr wrap="square" lIns="0" tIns="0" rIns="0" bIns="0" rtlCol="0" anchor="ctr"/>
          <a:lstStyle/>
          <a:p>
            <a:pPr marL="0" indent="0">
              <a:buNone/>
            </a:pPr>
            <a:r>
              <a:rPr lang="en-US" sz="1800" b="1" dirty="0">
                <a:solidFill>
                  <a:srgbClr val="E8A87C"/>
                </a:solidFill>
                <a:latin typeface="Calibri" pitchFamily="34" charset="0"/>
                <a:ea typeface="Calibri" pitchFamily="34" charset="-122"/>
                <a:cs typeface="Calibri" pitchFamily="34" charset="-120"/>
              </a:rPr>
              <a:t>Не доказано</a:t>
            </a:r>
            <a:endParaRPr lang="en-US" sz="1800" dirty="0"/>
          </a:p>
        </p:txBody>
      </p:sp>
      <p:sp>
        <p:nvSpPr>
          <p:cNvPr id="8" name="Text 6"/>
          <p:cNvSpPr txBox="1"/>
          <p:nvPr/>
        </p:nvSpPr>
        <p:spPr>
          <a:xfrm>
            <a:off x="6537960" y="2011680"/>
            <a:ext cx="4846320" cy="3063240"/>
          </a:xfrm>
          <a:prstGeom prst="rect">
            <a:avLst/>
          </a:prstGeom>
          <a:noFill/>
          <a:ln/>
        </p:spPr>
        <p:txBody>
          <a:bodyPr wrap="square" lIns="0" tIns="0" rIns="0" bIns="0" rtlCol="0" anchor="t"/>
          <a:lstStyle/>
          <a:p>
            <a:pPr marL="342900" indent="-342900">
              <a:lnSpc>
                <a:spcPct val="115000"/>
              </a:lnSpc>
              <a:spcAft>
                <a:spcPts val="1200"/>
              </a:spcAft>
              <a:buSzPct val="100000"/>
              <a:buChar char="•"/>
            </a:pPr>
            <a:r>
              <a:rPr lang="en-US" sz="1300" dirty="0">
                <a:solidFill>
                  <a:srgbClr val="F0E6DE"/>
                </a:solidFill>
                <a:latin typeface="Calibri" pitchFamily="34" charset="0"/>
                <a:ea typeface="Calibri" pitchFamily="34" charset="-122"/>
                <a:cs typeface="Calibri" pitchFamily="34" charset="-120"/>
              </a:rPr>
              <a:t>Что эти линии — разломы. Совпадение с картой разломов 1.36 от случайного уровня, и сама эта цель на Анабаре негодная: коридоры шириной 5–9 км.</a:t>
            </a:r>
            <a:endParaRPr lang="en-US" sz="1300" dirty="0"/>
          </a:p>
          <a:p>
            <a:pPr marL="342900" indent="-342900">
              <a:lnSpc>
                <a:spcPct val="115000"/>
              </a:lnSpc>
              <a:spcAft>
                <a:spcPts val="1200"/>
              </a:spcAft>
              <a:buSzPct val="100000"/>
              <a:buChar char="•"/>
            </a:pPr>
            <a:r>
              <a:rPr lang="en-US" sz="1300" dirty="0">
                <a:solidFill>
                  <a:srgbClr val="F0E6DE"/>
                </a:solidFill>
                <a:latin typeface="Calibri" pitchFamily="34" charset="0"/>
                <a:ea typeface="Calibri" pitchFamily="34" charset="-122"/>
                <a:cs typeface="Calibri" pitchFamily="34" charset="-120"/>
              </a:rPr>
              <a:t>Что они структурные, а не выражение рельефа. Обе съёмки на широте 71° ведут себя как отмывка; прямая сверка дала расхождение на уровне 1.3–1.4 σ.</a:t>
            </a:r>
            <a:endParaRPr lang="en-US" sz="1300" dirty="0"/>
          </a:p>
          <a:p>
            <a:pPr marL="342900" indent="-342900">
              <a:lnSpc>
                <a:spcPct val="115000"/>
              </a:lnSpc>
              <a:buSzPct val="100000"/>
              <a:buChar char="•"/>
            </a:pPr>
            <a:r>
              <a:rPr lang="en-US" sz="1300" dirty="0">
                <a:solidFill>
                  <a:srgbClr val="F0E6DE"/>
                </a:solidFill>
                <a:latin typeface="Calibri" pitchFamily="34" charset="0"/>
                <a:ea typeface="Calibri" pitchFamily="34" charset="-122"/>
                <a:cs typeface="Calibri" pitchFamily="34" charset="-120"/>
              </a:rPr>
              <a:t>Полнота. Неизвестно, какую долю существующих линеаментов метод находит.</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129</TotalTime>
  <Words>3513</Words>
  <Application>Microsoft Office PowerPoint</Application>
  <PresentationFormat>Широкоэкранный</PresentationFormat>
  <Paragraphs>192</Paragraphs>
  <Slides>12</Slides>
  <Notes>12</Notes>
  <HiddenSlides>0</HiddenSlides>
  <MMClips>0</MMClips>
  <ScaleCrop>false</ScaleCrop>
  <HeadingPairs>
    <vt:vector size="6" baseType="variant">
      <vt:variant>
        <vt:lpstr>Использованные шрифты</vt:lpstr>
      </vt:variant>
      <vt:variant>
        <vt:i4>3</vt:i4>
      </vt:variant>
      <vt:variant>
        <vt:lpstr>Тема</vt:lpstr>
      </vt:variant>
      <vt:variant>
        <vt:i4>1</vt:i4>
      </vt:variant>
      <vt:variant>
        <vt:lpstr>Заголовки слайдов</vt:lpstr>
      </vt:variant>
      <vt:variant>
        <vt:i4>12</vt:i4>
      </vt:variant>
    </vt:vector>
  </HeadingPairs>
  <TitlesOfParts>
    <vt:vector size="16" baseType="lpstr">
      <vt:lpstr>Arial</vt:lpstr>
      <vt:lpstr>Calibri</vt:lpstr>
      <vt:lpstr>Cambria</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Линеаменты по космоснимкам без обучения</dc:title>
  <dc:subject>PptxGenJS Presentation</dc:subject>
  <dc:creator>Артур</dc:creator>
  <cp:lastModifiedBy>Artur</cp:lastModifiedBy>
  <cp:revision>2</cp:revision>
  <dcterms:created xsi:type="dcterms:W3CDTF">2026-09-09T05:59:19Z</dcterms:created>
  <dcterms:modified xsi:type="dcterms:W3CDTF">2026-09-09T08:22:31Z</dcterms:modified>
</cp:coreProperties>
</file>