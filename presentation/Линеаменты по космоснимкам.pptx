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3871" autoAdjust="0"/>
  </p:normalViewPr>
  <p:slideViewPr>
    <p:cSldViewPr snapToGrid="0" snapToObjects="1">
      <p:cViewPr varScale="1">
        <p:scale>
          <a:sx n="53" d="100"/>
          <a:sy n="53" d="100"/>
        </p:scale>
        <p:origin x="18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02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день. Меня зовут [имя], я представляю работу по автоматическому выделению линеаментов по космоснимкам на листе R-48-XI,XII.</a:t>
            </a:r>
          </a:p>
          <a:p/>
          <a:p>
            <a:r>
              <a:t>Доклад займёт около получаса. Построю его так: сначала покажу результат, чтобы было понятно, о чём вообще речь, а потом разберу, как он получен — это основная часть. Весь счёт вынесен на слайды формулами: я буду идти по ним и говорить, что каждая величина означает, так что записывать ничего не нужно, всё останется в презентации.</a:t>
            </a:r>
          </a:p>
          <a:p/>
          <a:p>
            <a:r>
              <a:t>Останавливайте меня вопросами по ходу — каждый следующий шаг опирается на предыдущий, и если что-то пройдёт мимо, дальше будет труднее.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Начну с того, из чего мы всё это делаем.</a:t>
            </a:r>
          </a:p>
          <a:p/>
          <a:p>
            <a:r>
              <a:t>Исходные данные — композит из десяти каналов по листу. Оптика Sentinel-2: яркость и NDVI, показатель зелёности растительности. Радар Sentinel-1: каналы VV и VH. И шесть характеристик интерферометрической когерентности — это мера того, насколько похожи друг на друга два радарных снимка одной территории, снятые в разные даты: где поверхность устойчива, они похожи, где меняется — нет.</a:t>
            </a:r>
          </a:p>
          <a:p/>
          <a:p>
            <a:r>
              <a:t>Шаг растра сто метров, площадка восемьдесят шесть на семьдесят семь километров, это шестьсот шестьдесят две тысячи ячеек. Подчеркну: съёмки открытые, никаких закрытых источников метод не требует, и на соседние листы он переносится ровно с теми же данными.</a:t>
            </a:r>
          </a:p>
          <a:p/>
          <a:p>
            <a:r>
              <a:t>Задача — выделить протяжённые линейные элементы поверхности прямо из снимка.</a:t>
            </a:r>
          </a:p>
          <a:p/>
          <a:p>
            <a:r>
              <a:t>(Подробнее, если спросят: Каналы полностью: gray (яркость Sentinel-2), ndvi, VV и VH Sentinel-1 в децибелах, и шесть характеристик когерентности — зимняя на базе 12 дней, летние на базах 12, 24 и 48 дней и два параметра спада когерентности со временем. Композит собран по съёмкам сезона; прогоны 03–09.09.2026. Растр 770 × 860 ячеек; кадр повёрнут относительно прямоугольника растра, поэтому углы пустые — это важно для сглаживания на первом шаге.)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Сразу результат, а потом уже то, как он получен.</a:t>
            </a:r>
          </a:p>
          <a:p/>
          <a:p>
            <a:r>
              <a:t>По листу выделено двести пятьдесят пять линеаментов общей длиной тысяча десять километров. Каждая линия подтверждена дважды: её независимо видят оптика и радар. Это приборы с разной физикой и, что важнее, с разными источниками ошибок: оптике мешают облака, тени и освещённость склона, радару — спекл и геометрия съёмки. Общего у этих помех нет ничего, поэтому совпадение линий нельзя списать на артефакт датчика.</a:t>
            </a:r>
          </a:p>
          <a:p/>
          <a:p>
            <a:r>
              <a:t>Правая пара чисел — цена такого отбора, и она, на мой взгляд, самая важная на слайде. Случайно через фильтр прошло бы около двух линий из двухсот пятидесяти пяти. Отношение наблюдаемого к случайному — сто двадцать один.</a:t>
            </a:r>
          </a:p>
          <a:p/>
          <a:p>
            <a:r>
              <a:t>Внизу число про согласие приборов ещё до поштучного отбора: взаимное покрытие карт оптики и радара ноль целых четыреста двадцать два против ноль целых двухсот пятидесяти у случайного уровня.</a:t>
            </a:r>
          </a:p>
          <a:p/>
          <a:p>
            <a:r>
              <a:t>(Подробнее, если спросят: Разбивка по способам обработки: главные компоненты дают 613 прослеженных веток, из них подтверждено 153 при случайном уровне 0.9; автоэнкодер — 576 веток, подтверждено 148 при случайном уровне 1.2. Пересекаются они лишь наполовину, поэтому в карту идёт объединение: 255 линий, 1010 км, ожидаемо случайных 2.1. Плотность трассировки — «предельно», самая густая из пяти ступеней. Главное направление линий 37° — одно и то же у оптики и у радара.)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сама карта.</a:t>
            </a:r>
          </a:p>
          <a:p/>
          <a:p>
            <a:r>
              <a:t>Слева вся площадка, восемьдесят шесть на семьдесят семь километров. Справа фрагмент, обведённый рамкой, крупным планом — двадцать два на восемнадцать километров, чтобы было видно, как линии ложатся на местность.</a:t>
            </a:r>
          </a:p>
          <a:p/>
          <a:p>
            <a:r>
              <a:t>Каждая линия здесь прошла отбор двумя приборами. Видно, что они не разбросаны равномерно: есть участки, где линии собираются в системы, и есть спокойные области, где их почти нет.</a:t>
            </a:r>
          </a:p>
          <a:p/>
          <a:p>
            <a:r>
              <a:t>Геологическую интерпретацию мы на себя не берём — это ваша часть, и здесь я рассчитываю на вашу оценку. Дальше расскажу, как эта карта получена.</a:t>
            </a:r>
          </a:p>
          <a:p/>
          <a:p>
            <a:r>
              <a:t>(Подробнее, если спросят: Линии подаются в виде растра и списка веток; по каждой ветке есть длина, прямолинейность, азимут, средняя и максимальная сила границы, доля длины, подтверждённая каждым прибором. Отдать можно любую ступень плотности — от 43 линий до 620, см. слайд про плотность. Фрагмент в рамке — тот же, на котором показаны все схемы метода дальше.)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как это устроено. Метод состоит из пяти шагов.</a:t>
            </a:r>
          </a:p>
          <a:p/>
          <a:p>
            <a:r>
              <a:t>Первые три считают поле линейности: чем описать ячейку, как сжать это описание и как по нему найти границу между участками с разной сигнатурой. Четвёртый переводит непрерывное поле в список отрезков. Пятый — тот самый отбор по двум приборам, результат которого вы только что видели.</a:t>
            </a:r>
          </a:p>
          <a:p/>
          <a:p>
            <a:r>
              <a:t>Одно свойство хочу отметить сразу, оно проходит через весь метод: все пять шагов детерминированы. Обучения на разметке в построении карты нет вовсе, каждый шаг — функция входа. Один и тот же композит всегда даёт одну и ту же карту, до последней линии, и это не зависит ни от случайной инициализации, ни от того, кто запускает расчёт.</a:t>
            </a:r>
          </a:p>
          <a:p/>
          <a:p>
            <a:r>
              <a:t>Разбираю по шагам.</a:t>
            </a:r>
          </a:p>
          <a:p/>
          <a:p>
            <a:r>
              <a:t>(Подробнее, если спросят: Время счёта: около трёх минут на площадку на обычном компьютере, без видеокарты. Из них поле границ — 4–5 секунд на каждый из трёх наборов каналов, автоэнкодер — около двух минут, остальное трассировка и проверка подтверждения. Весь код — эксперименты openlin_* в репозитории проекта; входные данные — только композит, ничего из геологических карт в построение не входит.)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Первый шаг отвечает на вопрос, чем вообще описывать ячейку.</a:t>
            </a:r>
          </a:p>
          <a:p/>
          <a:p>
            <a:r>
              <a:t>Значение в самой ячейке о линии не говорит ничего: линия — это свойство окружения, а не точки. Одна и та же яркость может быть и на склоне уступа, и посреди ровного болота. Поэтому вместо «что измерено здесь» мы считаем «как устроена местность вокруг».</a:t>
            </a:r>
          </a:p>
          <a:p/>
          <a:p>
            <a:r>
              <a:t>На слайде один и тот же фрагмент Анабара. Слева яркость как есть. На двух правых панелях тот же снимок, а поверх него полупрозрачно наложена посчитанная величина: в середине вытянутость текстуры в окрестности пятисот метров, справа — величина, которая отличает светлый гребень от тёмной борозды.</a:t>
            </a:r>
          </a:p>
          <a:p/>
          <a:p>
            <a:r>
              <a:t>Наложение сделано специально: видно, что новые величины не живут своей жизнью, а ложатся ровно на те формы местности, которые на левой панели приходится выискивать глазами.</a:t>
            </a:r>
          </a:p>
          <a:p/>
          <a:p>
            <a:r>
              <a:t>(Подробнее, если спросят: Величины считаются по каждому из десяти каналов и на трёх масштабах окрестности — 500 м, 1 км, 2 км. Нижняя граница 500 м выбрана как ближайшая к полуширине разметки (150 м) с запасом на ошибку положения линии; верхняя 2 км — предел, дальше окно шире типичного расстояния между соседними линеаментами и начинает их смешивать. На картинке показан масштаб 500 м по каналу яркости.)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Посмотрим, как это считается. Здесь четыре строки, и они идут ровно в том порядке, в каком выполняется расчёт.</a:t>
            </a:r>
          </a:p>
          <a:p/>
          <a:p>
            <a:r>
              <a:t>Первая строка — сглаживание, самая безобидная на вид и при этом важная. Оно нормировано на маску кадра: кадр снимка повёрнут относительно прямоугольника растра, углы пустые, и обычный фильтр затянул бы эту пустоту внутрь и нарисовал ложную линию вдоль всего контура снимка. Поэтому отдельно сглаживается величина, отдельно маска, и одно делится на другое. Эта конструкция встретится нам ещё раз, на третьем шаге.</a:t>
            </a:r>
          </a:p>
          <a:p/>
          <a:p>
            <a:r>
              <a:t>Вторая строка — градиент, то есть направление наибольшего роста яркости.</a:t>
            </a:r>
          </a:p>
          <a:p/>
          <a:p>
            <a:r>
              <a:t>Третья строка — главное место всего шага. Усредняются не сами градиенты, а их попарные произведения. Причина вот в чём: у прямой борозды левый и правый край дают встречные стрелки, при обычном усреднении они взаимно уничтожаются, и линия исчезает ровно там, где она есть. Произведение же от разворота стрелки на сто восемьдесят градусов не меняется, поэтому встречные градиенты складываются. Эти три числа и называют структурным тензором.</a:t>
            </a:r>
          </a:p>
          <a:p/>
          <a:p>
            <a:r>
              <a:t>Четвёртая строка — собственные числа: длины осей эллипса, который эти три числа задают.</a:t>
            </a:r>
          </a:p>
          <a:p/>
          <a:p>
            <a:r>
              <a:t>(Подробнее, если спросят: Внутренний масштаб производной — 1.5 ячейки, то есть около 150 м: меньше одной ячейки считать бессмысленно (меряется шум датчика и спекл), больше двух — теряются сами узкие линеаменты ещё до тензора. Нормированная свёртка означает буквально следующее: числитель — сглаженное произведение величины на маску, знаменатель — сглаженная маска, у края кадра он около 0.5, и деление возвращает честное среднее по имеющейся половине окна. Собственные числа матрицы 2×2 берутся по явной формуле через след и дискриминант — на 662 200 ячеек это существенно быстрее численного разложения.)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Эллипс — самый удобный способ увидеть, что именно меряет тензор. Под каждым случаем здесь настоящий участок листа, шесть на шесть километров; они не нарисованы, а выбраны автоматически по самим величинам.</a:t>
            </a:r>
          </a:p>
          <a:p/>
          <a:p>
            <a:r>
              <a:t>Слева плато: перепадов почти нет, эллипс вырождается в точку. В середине уступ с бороздами — все градиенты смотрят в одну сторону, эллипс сильно вытянут, и его длинная ось показывает направление этих борозд. Справа пёстрая текстура: перепады сильные, но направления равномерны, и эллипс близок к кругу.</a:t>
            </a:r>
          </a:p>
          <a:p/>
          <a:p>
            <a:r>
              <a:t>Обратите внимание на разницу между левым и правым случаем. Контраст там отличается в разы, а направленной структуры нет ни там, ни там. Именно поэтому вытянутость и контрастность считаются как две отдельные величины: одна отвечает за «есть ли направление», другая — за «сильные ли перепады».</a:t>
            </a:r>
          </a:p>
          <a:p/>
          <a:p>
            <a:r>
              <a:t>(Подробнее, если спросят: Как выбраны участки: обе величины усредняются по окну 60 × 60 ячеек (6 км), затем берётся ячейка с крайним значением. Плато — минимум контрастности; уступ — максимум вытянутости среди мест с контрастностью выше медианы; пёстрая текстура — минимум вытянутости среди верхней четверти по контрастности. Края кадра исключены, чтобы окошко целиком лежало внутри снимка.)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 эллипса получаются четыре величины, пятая считается отдельно. Пробегусь по строкам.</a:t>
            </a:r>
          </a:p>
          <a:p/>
          <a:p>
            <a:r>
              <a:t>Первая: вытянутость — отношение разности осей к их сумме. Она меняется строго от нуля до единицы и не зависит от того, насколько сильный в этом месте контраст. Рядом контрастность — логарифм суммы осей; логарифм здесь потому, что величина меняется на порядки, и без него почти все значения слиплись бы у нуля.</a:t>
            </a:r>
          </a:p>
          <a:p/>
          <a:p>
            <a:r>
              <a:t>Вторая строка: направление длинной оси. Хранится оно не углом, а косинусом и синусом удвоенного угла. Удвоенного — потому что линия с азимутом пять градусов и линия с азимутом сто восемьдесят пять это одна и та же линия, а при обычном усреднении углов они дали бы бессмыслицу.</a:t>
            </a:r>
          </a:p>
          <a:p/>
          <a:p>
            <a:r>
              <a:t>Третья строка: знаковый гребень. Знак отличает тёмную борозду от светлого хребта, и мы его специально сохраняем: линеамент на снимке бывает и светлее, и темнее фона — смотря, задернован он или обнажён.</a:t>
            </a:r>
          </a:p>
          <a:p/>
          <a:p>
            <a:r>
              <a:t>Четвёртая строка: приведение всех величин к общему виду, по медиане и межквартильному размаху. Медиана и размах, а не среднее и дисперсия, — потому что в композите остаются облачные выбросы, и они утянули бы среднее.</a:t>
            </a:r>
          </a:p>
          <a:p/>
          <a:p>
            <a:r>
              <a:t>(Подробнее, если спросят: Пятая величина считается из матрицы вторых производных на вдвое меньшем масштабе, чем тензор: борозда уже, чем текстурный домен, и на том же окне её бы размазало. Берётся собственное число, наибольшее по модулю, со своим знаком. Межквартильный размах — расстояние между нижней и верхней четвертью выборки. Приведение к общему виду нужно, чтобы следующий шаг не выбрал направление просто самой крупной по числам величины.)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Короткий итог первого шага, прежде чем идти дальше.</a:t>
            </a:r>
          </a:p>
          <a:p/>
          <a:p>
            <a:r>
              <a:t>Каждая из пяти величин считается по каждому из десяти каналов и на каждом из трёх масштабов окрестности. Получается сто пятьдесят новых величин, плюс десять исходных каналов — сто шестьдесят чисел в каждой ячейке вместо одного. На всю площадку это сто шесть миллионов чисел.</a:t>
            </a:r>
          </a:p>
          <a:p/>
          <a:p>
            <a:r>
              <a:t>Что изменилось по сути: раньше ячейка отвечала на вопрос «что здесь измерено», теперь — «как устроена местность вокруг». Никакой разметки при этом не используется, всё посчитано прямо из снимка.</a:t>
            </a:r>
          </a:p>
          <a:p/>
          <a:p>
            <a:r>
              <a:t>Дальше это описание нужно сжать — и об этом второй шаг.</a:t>
            </a:r>
          </a:p>
          <a:p/>
          <a:p>
            <a:r>
              <a:t>(Подробнее, если спросят: Носитель признака на масштабе 2 км — около 6 км (три сигмы гауссова окна). Это существенно при блочной проверке: окрестность проверочной ячейки не должна собираться из обучающих полос, поэтому признаки считаются с маской, ограниченной своей частью разбиения. В построении карты обучения нет, и там это ограничение не нужно, но в проверке переноса ранжирования — используется.)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 шестьдесят признаков дальше не подаются как есть, и вот почему.</a:t>
            </a:r>
          </a:p>
          <a:p/>
          <a:p>
            <a:r>
              <a:t>Они сильно дублируют друг друга. Вытянутость на пятистах метрах и на километре в большинстве мест — почти одно и то же; летние когерентности на разных базах идут почти параллельно. Если мерить различие участков по всем ста шестидесяти, эти повторы получат вес в несколько раз больше своей информативности просто потому, что их много.</a:t>
            </a:r>
          </a:p>
          <a:p/>
          <a:p>
            <a:r>
              <a:t>На графике — доля разброса, которую объясняет каждая компонента. После восьмой кривая выходит на пологий хвост: первые восемь забирают основную часть, остальные добавляют по чуть-чуть. Их и оставляем.</a:t>
            </a:r>
          </a:p>
          <a:p/>
          <a:p>
            <a:r>
              <a:t>Выигрыш здесь не только в чистоте, но и в скорости: следующий шаг делает около двухсот свёрток растра, и в восьми каналах это секунды, а не минуты.</a:t>
            </a:r>
          </a:p>
          <a:p/>
          <a:p>
            <a:r>
              <a:t>(Подробнее, если спросят: Три причины сжатия: дублирование признаков; накопление шума (каждый признак несёт свою долю, и при сложении многих шум растёт быстрее сигнала); стоимость счёта — со 160 каналами оператор границы считался бы почти две минуты на прогон, а прогонов минимум шесть на площадку. Разложение обучается на 50 000 случайных ячеек — формы облака этого хватает, — и затем применяется ко всем ячейкам.)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Формально это выглядит так; здесь три строки.</a:t>
            </a:r>
          </a:p>
          <a:p/>
          <a:p>
            <a:r>
              <a:t>Первая — ковариация признаков и её разложение. Представьте каждую ячейку точкой в пространстве со ста шестьюдесятью осями; все шестьсот шестьдесят две тысячи точек образуют облако, и оно не круглое — вытянуто в одних направлениях, сплюснуто в других, как раз потому что признаки связаны. Метод находит направления наибольшей вытянутости и упорядочивает их. Разметка здесь не используется никак: это описание формы облака, а не поиск линий.</a:t>
            </a:r>
          </a:p>
          <a:p/>
          <a:p>
            <a:r>
              <a:t>Вторая строка — само сжатие, и в нём есть деталь, на которую стоит обратить внимание: множитель лямбда в минус одной второй, отбеливание. Он делит каждую компоненту на её собственный разброс. Без него почти всё расстояние между участками определялось бы первой компонентой, а это обычно общая яркость — и оператор мерил бы перепад яркости, называясь границей только на словах.</a:t>
            </a:r>
          </a:p>
          <a:p/>
          <a:p>
            <a:r>
              <a:t>Третья строка объясняет, что мы за это получаем: после отбеливания обычное евклидово расстояние в восьми координатах равно расстоянию Махаланобиса в исходных ста шестидесяти. Практический смысл в том, что сила границы дальше будет измеряться в сигмах — в числе типичных разбросов, а не в условных единицах.</a:t>
            </a:r>
          </a:p>
          <a:p/>
          <a:p>
            <a:r>
              <a:t>(Подробнее, если спросят: Расстояние Махаланобиса — расстояние с поправкой на то, что признаки связаны и имеют разный разброс: направление, вдоль которого данные и так гуляют широко, весит меньше. Компонент берётся 8; первые 8 объясняют основную часть разброса (число на графике предыдущего слайда). Отбеливание — стандартный режим PCA, whiten=True, зерно фиксировано, поэтому результат воспроизводится побайтно.)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Так выглядят первые две компоненты на том же фрагменте.</a:t>
            </a:r>
          </a:p>
          <a:p/>
          <a:p>
            <a:r>
              <a:t>Каждая — линейная смесь ста шестидесяти признаков, и каждая показывает уже не яркость, а тип поверхности. Хорошо видно, что площадка разбивается на области с разной сигнатурой: внутри области значение держится, на переходе меняется.</a:t>
            </a:r>
          </a:p>
          <a:p/>
          <a:p>
            <a:r>
              <a:t>Именно эти переходы и ищет следующий шаг — не яркие места, а места, где меняется тип поверхности.</a:t>
            </a:r>
          </a:p>
          <a:p/>
          <a:p>
            <a:r>
              <a:t>(Подробнее, если спросят: Компоненты показаны после отбеливания, поэтому шкала у обеих одинаковая и картинки сравнимы между собой. Знак компоненты произволен (метод определяет направление оси, а не её сторону), поэтому «светлое» и «тёмное» здесь смысла не несут — важны границы между областями.)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Сжатие делается ещё и вторым, полностью независимым способом, и это не прихоть — сейчас покажу, что он находит.</a:t>
            </a:r>
          </a:p>
          <a:p/>
          <a:p>
            <a:r>
              <a:t>Автоэнкодер — сеть из двух половин: первая сжимает вход в короткое описание, вторая пытается по нему восстановить исходное. Разметка не нужна, сеть учится на самом снимке.</a:t>
            </a:r>
          </a:p>
          <a:p/>
          <a:p>
            <a:r>
              <a:t>Ключевая деталь в первой строке: половина ячеек закрывается случайной маской. Если подавать снимок целиком, сеть решит задачу копированием, и в сжатом описании не останется ничего осмысленного. А скрытую ячейку можно восстановить только одним способом — поняв, какой тип поверхности вокруг. Вторая строка это закрепляет: ошибка считается только на скрытых ячейках, на видимых сеть побеждала бы копированием.</a:t>
            </a:r>
          </a:p>
          <a:p/>
          <a:p>
            <a:r>
              <a:t>Третья строка — про охват. Расширения свёрток дают рецептивное поле полтора километра, то есть тот же масштаб, на котором считались признаки окрестности. Понижения разрешения нет намеренно.</a:t>
            </a:r>
          </a:p>
          <a:p/>
          <a:p>
            <a:r>
              <a:t>Четвёртая строка — главное для нас: на выходе те же восемь чисел на ячейку, что у компонент. Значит, результат подставляется в оператор границы на то же самое место, и два способа сравниваются честно, при прочих равных.</a:t>
            </a:r>
          </a:p>
          <a:p/>
          <a:p>
            <a:r>
              <a:t>(Подробнее, если спросят: Устройство: три свёртки 3×3 с расширениями 1, 2 и 4 (окно берёт не соседние ячейки, а через одну и через три), 32 канала в скрытых слоях, 8 чисел в сжатом описании; декодер — две свёртки. Параметров около 115 тысяч, обучение 400 шагов на случайных окнах 128 × 128, примерно две минуты. Доля закрытых ячеек 0.5 — стандарт маскированных автоэнкодеров: меньше — задача решается копированием, больше — контекста не остаётся. Учить дольше не нужно: при впятеро большем числе шагов подтверждённых линий остаётся 109 вместо 148 — сеть становится лучшим восстановителем и худшим описателем контекста.)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 вот что выяснилось при сравнении.</a:t>
            </a:r>
          </a:p>
          <a:p/>
          <a:p>
            <a:r>
              <a:t>Главные компоненты дают шестьсот двадцать два километра подтверждённых линий, автоэнкодер — немного меньше. Но по положению они совпадают лишь на пятьдесят три — шестьдесят процентов длины: способы находят разные линии.</a:t>
            </a:r>
          </a:p>
          <a:p/>
          <a:p>
            <a:r>
              <a:t>Объяснение довольно простое. Линейное сжатие ловит перепад среднего — «слева одно, справа другое». Нелинейное видит ещё и смену типа текстуры при одинаковом среднем. Это два разных семейства линий, и оба настоящие: каждое проходит через одну и ту же проверку двумя приборами.</a:t>
            </a:r>
          </a:p>
          <a:p/>
          <a:p>
            <a:r>
              <a:t>Поэтому в итоговую карту идёт объединение — тысяча десять километров вместо шестисот двадцати.</a:t>
            </a:r>
          </a:p>
          <a:p/>
          <a:p>
            <a:r>
              <a:t>(Подробнее, если спросят: В числах: PCA — 613 прослеженных веток, 153 подтверждённых, 621.8 км; автоэнкодер — 576 веток, 148 подтверждённых; только у автоэнкодера — 82 ветки и 227 км, которых нет у PCA. Объединение: 255 линий, 1010 км. Пересечение меряется по длине с допуском 250 м, а не по числу веток: у двух списков ветки режутся в разных местах, и счёт по веткам занижал бы совпадение в разы.)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Третий шаг — ядро метода, здесь я задержусь подробнее.</a:t>
            </a:r>
          </a:p>
          <a:p/>
          <a:p>
            <a:r>
              <a:t>Исходная мысль такая: линеамент — это граница между участками с разной сигнатурой. Поэтому оператор устроен так. Через ячейку проводится воображаемая линия под некоторым углом, и по обе стороны от неё кладутся два окна: два километра вдоль линии, двести метров поперёк, сдвиг триста метров в каждую сторону.</a:t>
            </a:r>
          </a:p>
          <a:p/>
          <a:p>
            <a:r>
              <a:t>Каждый размер тут обоснован. Вдоль линии окно длинное, потому что линеамент протяжённый: усреднение вдоль него не размывает объект, а накапливает его и гасит помехи. Поперёк узкое, чтобы окно не перескочило через саму линию и не смешало то, что лежит по разные её стороны. Сдвиг разводит окна так, чтобы сравнивались соседние участки, а скачок между ними не размазывался.</a:t>
            </a:r>
          </a:p>
          <a:p/>
          <a:p>
            <a:r>
              <a:t>И сразу оговорю, чтобы не было путаницы: двести метров — это не размер ячейки. Сетка везде остаётся стометровой, двести метров — ширина окна усреднения, то есть две ячейки.</a:t>
            </a:r>
          </a:p>
          <a:p/>
          <a:p>
            <a:r>
              <a:t>(Подробнее, если спросят: Верхняя граница длины окна — 2 км: дальше линия перестаёт быть прямой. Ширина 200 м — компромисс: достаточно узко, чтобы не смешать стороны, и достаточно широко, чтобы усреднить спекл радара. Сдвиг 300 м: меньше — окна перекрываются и скачок размазывается; больше — сравниваются уже не соседние блоки, а участки, между которыми могло уместиться что-то третье. Между центрами окон получается 600 м.)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Формулы описывают ровно ту картинку, что была на прошлом слайде.</a:t>
            </a:r>
          </a:p>
          <a:p/>
          <a:p>
            <a:r>
              <a:t>Первая строка — два направления: вдоль предполагаемой линии и поперёк неё. Дальше всё считается в этих координатах.</a:t>
            </a:r>
          </a:p>
          <a:p/>
          <a:p>
            <a:r>
              <a:t>Вторая строка — само окно. Это не резкий прямоугольник, а вытянутая гауссиана: вес плавно спадает от центра, медленно вдоль линии и быстро поперёк. Резкие окна оставляли бы на карте ступеньки по своим краям, а плавные — нет. Знак плюс-минус — это те самые два окна, сдвинутые в разные стороны.</a:t>
            </a:r>
          </a:p>
          <a:p/>
          <a:p>
            <a:r>
              <a:t>Третья строка — размеры в метрах, мы их только что разобрали.</a:t>
            </a:r>
          </a:p>
          <a:p/>
          <a:p>
            <a:r>
              <a:t>Четвёртая — то, что в окне считается: средний портрет участка, по каждой из восьми координат. И снова, как на первом шаге, свёртка нормирована на маску кадра — иначе у края снимка окно наполовину попадало бы в пустоту.</a:t>
            </a:r>
          </a:p>
          <a:p/>
          <a:p>
            <a:r>
              <a:t>(Подробнее, если спросят: Приведённые размеры — это сигмы, то есть ширина колокола; реальный захват примерно втрое больше: около 6 км вдоль и 600 м поперёк. Само ядро — таблица весов 129 × 129 ячеек, внутри которой нарисован наклонённый узкий длинный эллипс, сдвинутый от центра. Каждое окно даёт 8 чисел — по одному на компоненту; это и есть «портрет участка».)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Направление линии заранее неизвестно, поэтому весь расчёт повторяется для двенадцати направлений с шагом пятнадцать градусов.</a:t>
            </a:r>
          </a:p>
          <a:p/>
          <a:p>
            <a:r>
              <a:t>На графике — отклик одной ячейки. Виден резкий максимум, и логика за ним простая: если участок действительно пересекает линия, то при совпадении предполагаемого направления с настоящим два окна лягут точно по разные её стороны, и различие между ними окажется наибольшим. Если линии нет, график будет пологим.</a:t>
            </a:r>
          </a:p>
          <a:p/>
          <a:p>
            <a:r>
              <a:t>Максимум даёт сразу две величины: само значение — это сила границы, а направление, на котором он достигнут, — азимут линии. То есть азимут мы не задаём и не подбираем отдельно, он выпадает из того же перебора.</a:t>
            </a:r>
          </a:p>
          <a:p/>
          <a:p>
            <a:r>
              <a:t>(Подробнее, если спросят: Больше 165° перебирать не нужно: линия под 190° — это та же линия, что под 10°. Шаг 15° выбран как компромисс: на сети с двумя-тремя выраженными системами этого хватает, а стоимость счёта линейна по числу направлений. Ячейка для графика выбрана как максимум поля силы внутри показанного фрагмента.)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строки, и первая из них — определение той самой силы.</a:t>
            </a:r>
          </a:p>
          <a:p/>
          <a:p>
            <a:r>
              <a:t>Сила границы — это длина разности двух восьмимерных портретов. Смысл здесь не «слева ярче, чем справа», а «портреты участков различаются вот настолько по совокупности всех признаков сразу». Два участка могут совпадать по яркости и при этом различаться по текстуре, по когерентности, по направленности — расстояние это учтёт. И, как я говорил на втором шаге, после отбеливания эта величина выражена в сигмах, то есть её можно осмысленно сравнивать между площадками.</a:t>
            </a:r>
          </a:p>
          <a:p/>
          <a:p>
            <a:r>
              <a:t>Вторая строка — максимум по направлениям и азимут как место максимума.</a:t>
            </a:r>
          </a:p>
          <a:p/>
          <a:p>
            <a:r>
              <a:t>Третья строка — про счёт. Двенадцать направлений, два окна на каждое, восемь компонент — получается двести шестнадцать свёрток растра. Считать их в лоб было бы долго, поэтому свёртки идут через быстрое преобразование Фурье, и всё поле готово за четыре-пять секунд.</a:t>
            </a:r>
          </a:p>
          <a:p/>
          <a:p>
            <a:r>
              <a:t>(Подробнее, если спросят: Прямое применение ядра 129 × 129 к каждой из 662 200 ячеек — это миллиарды умножений; преобразование Фурье сводит это к секундам. Поле силы считается трижды: по оптике, по радару и по обоим наборам вместе — это и даёт три списка линий для пятого шага.)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результат третьего шага на том же фрагменте.</a:t>
            </a:r>
          </a:p>
          <a:p/>
          <a:p>
            <a:r>
              <a:t>Тёмное — там, где участки по разные стороны различаются сильнее всего. Шкала справа в сигмах.</a:t>
            </a:r>
          </a:p>
          <a:p/>
          <a:p>
            <a:r>
              <a:t>Обратите внимание: линейные элементы уже отчётливо видны, но это ещё не линии. Они имеют ширину, местами рвутся, местами ветвятся, и никакого списка отрезков отсюда пока не получить. Превращение этого поля в список и есть четвёртый шаг.</a:t>
            </a:r>
          </a:p>
          <a:p/>
          <a:p>
            <a:r>
              <a:t>(Подробнее, если спросят: Поле определено только внутри кадра снимка; вне маски значения не считаются, чтобы пустые углы не попадали в квантили при трассировке. Типичные значения силы на этой площадке — доли сигмы до нескольких сигм; абсолютный уровень между площадками различается, поэтому пороги следующего шага задаются не абсолютным значением, а долей площади.)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Четвёртый шаг — пять операций подряд, и каждая снимает свой класс ложных линий. Разложу их на двух слайдах, всё на одном и том же фрагменте, чтобы было видно, что происходит.</a:t>
            </a:r>
          </a:p>
          <a:p/>
          <a:p>
            <a:r>
              <a:t>Первая операция — сглаживание, оно убирает пиксельный шум поля.</a:t>
            </a:r>
          </a:p>
          <a:p/>
          <a:p>
            <a:r>
              <a:t>Вторая — подавление немаксимумов поперёк линии. Широкая полоса превращается в гребень толщиной в одну ячейку: остаётся только «хребет» полосы.</a:t>
            </a:r>
          </a:p>
          <a:p/>
          <a:p>
            <a:r>
              <a:t>Третья — два порога вместо одного. По верхнему берётся ядро линии, по нижнему — её продолжение, но только то, которое связано с ядром. Зачем так: один порог рвал бы линию там, где поле просело на одной ячейке, и длинная линия рассыпалась бы на обрубки, каждый из которых потом не прошёл бы отсев по длине.</a:t>
            </a:r>
          </a:p>
          <a:p/>
          <a:p>
            <a:r>
              <a:t>(Подробнее, если спросят: Сглаживание с сигмой 75 м на самой густой ступени плотности (у более редких ступеней она больше — до 300 м). Направление поперёк линии берётся из вторых производных сглаженного поля: вдоль линии кривизна почти нулевая, поперёк — наибольшая по модулю и отрицательная. Значения соседей берутся интерполяцией, потому что направление произвольное и точно в центр соседней ячейки не попадает.)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строки, разберу их по порядку.</a:t>
            </a:r>
          </a:p>
          <a:p/>
          <a:p>
            <a:r>
              <a:t>Первая — как находится направление поперёк линии: это направление наибольшей кривизны поля силы. Вдоль линии поле меняется медленно, поперёк — резко, и вторые производные это ловят.</a:t>
            </a:r>
          </a:p>
          <a:p/>
          <a:p>
            <a:r>
              <a:t>Вторая строка — само правило: ячейка остаётся, если её значение не меньше, чем у двух соседей именно в этом направлении. Отсюда и название — подавление немаксимумов.</a:t>
            </a:r>
          </a:p>
          <a:p/>
          <a:p>
            <a:r>
              <a:t>Третья и четвёртая — гистерезис, то есть два порога. Обратите внимание, что пороги задаются не абсолютным значением силы, а квантилями площади: «верхние сорок пять процентов» и «верхние восемьдесят». Это сделано нарочно — так они переносятся между площадками, где общий уровень поля разный. И четвёртая строка добавляет условие связности: продолжение берётся, только если оно сцеплено с ядром.</a:t>
            </a:r>
          </a:p>
          <a:p/>
          <a:p>
            <a:r>
              <a:t>(Подробнее, если спросят: Термин «гистерезис» здесь тот же, что в детекторе краёв Кэнни: сильные места задают ядро, слабые достраиваются только рядом с ним. Числа 0.45 и 0.80 — доли площади для самой густой ступени; для более редких ступеней это 0.05/0.15, 0.15/0.35, 0.25/0.50 и 0.35/0.65. Связность считается по восьми соседям.)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Продолжаю.</a:t>
            </a:r>
          </a:p>
          <a:p/>
          <a:p>
            <a:r>
              <a:t>Четвёртая операция — скелетизация и состригание коротких отростков. Это не косметика, как может показаться: один шип длиной в три ячейки создаёт узел, а в узле линия разрезается, и длинная линия распадается пополам.</a:t>
            </a:r>
          </a:p>
          <a:p/>
          <a:p>
            <a:r>
              <a:t>Пятая — сшивка разрывов и отсев. Концы соединяются, только если они смотрят друг на друга; короткое и кривое отбрасывается.</a:t>
            </a:r>
          </a:p>
          <a:p/>
          <a:p>
            <a:r>
              <a:t>На правой панели видно, что осталось. На всей площадке это шестьсот тринадцать веток общей длиной тысяча восемьсот сорок восемь километров — и это ещё до отбора двумя приборами, то есть сырой список.</a:t>
            </a:r>
          </a:p>
          <a:p/>
          <a:p>
            <a:r>
              <a:t>(Подробнее, если спросят: Состригание — отростки короче 1 км, до трёх проходов; 1 км заметно меньше минимальной длины ветки, поэтому настоящая линия так не пострадает. После сшивки линии разрезаются в узлах, и каждая ветка проверяется по длине и прямолинейности. Пороги этого шага — не константы метода, а ручка плотности; про неё будет отдельный слайд.)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Каждая ветка после этого описывается парой чисел, и вот как они считаются.</a:t>
            </a:r>
          </a:p>
          <a:p/>
          <a:p>
            <a:r>
              <a:t>Первая строка — главная ось ветки и её размах вдоль этой оси. Размах и есть длина линии: не число ячеек, а расстояние между крайними точками вдоль собственного направления ветки.</a:t>
            </a:r>
          </a:p>
          <a:p/>
          <a:p>
            <a:r>
              <a:t>Вторая строка — длина пути по самой ветке, с одной поправкой: диагональный шаг длиннее ортогонального в корень из двух. Без этой поправки у диагональных линий получалась бы ерунда.</a:t>
            </a:r>
          </a:p>
          <a:p/>
          <a:p>
            <a:r>
              <a:t>Третья строка — прямолинейность, отношение размаха к пути. У идеально прямой линии единица, у извилистой заметно меньше. Здесь же порог по длине.</a:t>
            </a:r>
          </a:p>
          <a:p/>
          <a:p>
            <a:r>
              <a:t>Четвёртая — правило сшивки: разрыв не длиннее двух километров и направления расходятся не больше чем на двадцать градусов. Подчеркну, что сшивка не смягчает порог длины — она восстанавливает связность того, что и так одна линия.</a:t>
            </a:r>
          </a:p>
          <a:p/>
          <a:p>
            <a:r>
              <a:t>(Подробнее, если спросят: Главная ось — первый сингулярный вектор координат ячеек ветки, то есть направление наибольшего разброса. Пороги 400 м и 0.45 — для самой густой ступени; на самой редкой это 3 км и 0.80. Без поправки на диагонали прямолинейность у диагональных веток вылезала выше единицы — путь недооценивался в 1.41 раза.)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Пятый шаг — тот самый отбор, о котором я говорил в начале.</a:t>
            </a:r>
          </a:p>
          <a:p/>
          <a:p>
            <a:r>
              <a:t>Всё, что я описал, прогоняется трижды: только по оптике, только по радару и по обоим наборам вместе. Третий прогон даёт рабочий список линий, а первые два работают свидетелями — их дело не давать линии, а подтверждать или не подтверждать чужие.</a:t>
            </a:r>
          </a:p>
          <a:p/>
          <a:p>
            <a:r>
              <a:t>На слайде видно, как это выглядит на местности. Слева линии, которые видит оптика, в середине — радар, справа то, что осталось после пересечения. Часть линий совпадает у обоих приборов, часть есть только у одного — именно она и отсеивается.</a:t>
            </a:r>
          </a:p>
          <a:p/>
          <a:p>
            <a:r>
              <a:t>(Подробнее, если спросят: Оптика — 2 канала и 32 признака; радар — 8 каналов и 128 признаков; вместе — 10 каналов и 160 признаков. Каждый прогон проходит все шаги полностью и независимо, вплоть до своих квантилей при трассировке. Списки: оптика 650 веток, радар 642, вместе 620.)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Подтверждение проверяется поячеечно, и здесь четыре строки.</a:t>
            </a:r>
          </a:p>
          <a:p/>
          <a:p>
            <a:r>
              <a:t>Первая: рядом с ячейкой нашей линии должна быть линия второго прибора — не дальше двухсот пятидесяти метров. Это принятый в проекте допуск сверки положения, две с половиной ячейки.</a:t>
            </a:r>
          </a:p>
          <a:p/>
          <a:p>
            <a:r>
              <a:t>Вторая: она должна идти в ту же сторону, с точностью до двадцати градусов. Условие на первый взгляд лишнее, но без него подтверждением засчитывалось бы любое пересечение, а в густой карте две линии под прямым углом пересекаются постоянно.</a:t>
            </a:r>
          </a:p>
          <a:p/>
          <a:p>
            <a:r>
              <a:t>Третья строка: считается доля длины ветки, на которой оба условия выполнены сразу.</a:t>
            </a:r>
          </a:p>
          <a:p/>
          <a:p>
            <a:r>
              <a:t>Четвёртая — само правило отбора: эта доля должна быть не меньше половины, и нужны оба прибора по отдельности, а не любой из них. Логика простая: случайное совпадение обычно задевает линию куском, а общий линеамент виден второму прибору на всём протяжении.</a:t>
            </a:r>
          </a:p>
          <a:p/>
          <a:p>
            <a:r>
              <a:t>(Подробнее, если спросят: Технически близость считается преобразованием расстояния: операция разом даёт для каждой ячейки растра расстояние до ближайшей ячейки чужой карты, после чего ответ для любой точки берётся мгновенно. Для проверки направления заранее строится азимутное поле свидетеля — растр, где в каждой ячейке линии записано направление её ветки. Разница углов берётся по модулю 180°. Числа: радар подтверждает 393 ветки, оптика 222, оба вместе — 153 из 613.)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что даёт отбор в числах. Шкала здесь логарифмическая, иначе последний столбик не был бы виден.</a:t>
            </a:r>
          </a:p>
          <a:p/>
          <a:p>
            <a:r>
              <a:t>Прослежено шестьсот тринадцать веток. Радар подтверждает триста девяносто три, оптика — двести двадцать две, оба вместе — сто пятьдесят три. То есть отбор отбрасывает три четверти сырого списка.</a:t>
            </a:r>
          </a:p>
          <a:p/>
          <a:p>
            <a:r>
              <a:t>Но главный тут последний столбик. Это сколько веток прошло бы тот же фильтр случайно — меньше одной. А наблюдаем мы сто пятьдесят три. Как именно считается эта величина, на следующем слайде.</a:t>
            </a:r>
          </a:p>
          <a:p/>
          <a:p>
            <a:r>
              <a:t>(Подробнее, если спросят: Разница между «радар подтверждает 393» и «оба подтверждают 153» объясняется тем, что рабочий список построен на объединённом наборе каналов: линия из него почти всегда видна хотя бы одному прибору — она из его же данных и получена. Свидетельством является только независимое подтверждение обоими. Числа приведены для главных компонент; у автоэнкодера 576 веток и 148 подтверждённых.)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 вот как считается случайный уровень — на мой взгляд, это самая важная формула во всём докладе.</a:t>
            </a:r>
          </a:p>
          <a:p/>
          <a:p>
            <a:r>
              <a:t>Первая строка: карту прибора-свидетеля сдвигают на случайное расстояние, причём уехавшее за правый край возвращается с левого — как если бы карта была намотана на бублик. Такой сдвиг сохраняет всё: число линий, их длины, направления, густоту. Меняется только привязка к местности. Поэтому вопрос ставится ровно так, как надо: лучше ли эти линии подтверждают друг друга здесь, чем те же самые линии, положенные в случайное место.</a:t>
            </a:r>
          </a:p>
          <a:p/>
          <a:p>
            <a:r>
              <a:t>Вторая строка: сколько веток проходит фильтр при таком сдвиге. Получается ноль целых девять десятых, усреднённо по двадцати пяти сдвигам.</a:t>
            </a:r>
          </a:p>
          <a:p/>
          <a:p>
            <a:r>
              <a:t>Третья строка — отношение наблюдаемого к случайному. Сто семьдесят четыре.</a:t>
            </a:r>
          </a:p>
          <a:p/>
          <a:p>
            <a:r>
              <a:t>(Подробнее, если спросят: Почему именно сдвиг, а не перемешивание ячеек: перемешивание разрушило бы структуру, линии перестали бы быть линиями, и сравнение с такой заведомо худшей картиной ничего не доказывало бы. Сдвиг сохраняет всю геометрию и рвёт только привязку к местности. Оба свидетеля сдвигаются независимо. Для объединённой карты случайный уровень 2.1 линии на 255 наблюдаемых.)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Важный практический момент: сколько линий выдавать — это запрос пользователя, а не свойство метода. Пороги четвёртого шага можно ослаблять и получать больше линий, в том числе более мелких.</a:t>
            </a:r>
          </a:p>
          <a:p/>
          <a:p>
            <a:r>
              <a:t>Вопрос только в том, до каких пор. И ответ даёт тот же критерий двух приборов — он работает как стоп-правило.</a:t>
            </a:r>
          </a:p>
          <a:p/>
          <a:p>
            <a:r>
              <a:t>На графике пять ступеней: от сорока трёх линий при запасе четыре и семь десятых до шестисот с небольшим при запасе один и семь. Запас падает, это ожидаемо, но обрыва нет ни на одной ступени: мелкие линии подтверждаются вторым прибором так же, как крупные, просто с меньшим запасом.</a:t>
            </a:r>
          </a:p>
          <a:p/>
          <a:p>
            <a:r>
              <a:t>Итоговая карта построена на самой густой ступени. Это осознанный выбор с известной ценой, а не подгонка под то, как карта выглядит.</a:t>
            </a:r>
          </a:p>
          <a:p/>
          <a:p>
            <a:r>
              <a:t>(Подробнее, если спросят: Пять ступеней и их параметры (сглаживание, два квантиля, минимальная длина, минимальная прямолинейность): редко — 300 м, 0.05/0.15, 3 км, 0.80; средне — 200 м, 0.15/0.35, 1.5 км, 0.70; густо — 150 м, 0.25/0.50, 1 км, 0.60; очень густо — 100 м, 0.35/0.65, 600 м, 0.50; предельно — 75 м, 0.45/0.80, 400 м, 0.45. Числа линий: 43, 204, 334, 497, 620; запас 4.7, 2.8, 2.3, 1.9, 1.7.)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Запас считается так; здесь две строки.</a:t>
            </a:r>
          </a:p>
          <a:p/>
          <a:p>
            <a:r>
              <a:t>Первая — взаимное покрытие: какая доля длины карты оптики лежит в допуске от карты радара и какая доля карты радара лежит в допуске от карты оптики, усреднённо. Обе стороны берутся не для симметрии ради симметрии: односторонняя величина растёт просто от того, что вторая карта стала гуще, и ею легко себя обмануть.</a:t>
            </a:r>
          </a:p>
          <a:p/>
          <a:p>
            <a:r>
              <a:t>Вторая строка — сам запас: наблюдаемое покрытие, делённое на верхнюю границу случайного. Случайный уровень считается тем же тороидальным сдвигом, что и на прошлом слайде. Уплотнять можно, пока это отношение уверенно больше единицы.</a:t>
            </a:r>
          </a:p>
          <a:p/>
          <a:p>
            <a:r>
              <a:t>(Подробнее, если спросят: Верхняя граница случайного — 95-й процентиль по 200 сдвигам. При сдвиге маски преобразование расстояния не пересчитывается заново: у циклического сдвига оно равно сдвинутому преобразованию, и это экономит основную часть времени. Допуск тот же, 250 м.)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Одна надстройка, о которой стоит сказать отдельно, потому что она пригодится там, где данных меньше.</a:t>
            </a:r>
          </a:p>
          <a:p/>
          <a:p>
            <a:r>
              <a:t>Подтверждение требует двух съёмок. Там, где есть только одна, его не сделать. Поэтому мы обучили модель предсказывать подтверждение по геометрии самой линии: длина, прямолинейность, сила границы вдоль линии и над локальным фоном, однородность этой силы, согласие направления линии с направлением поля, изломы, плотность соседних линий. Все эти величины относительные и безразмерные — в этом и была ставка.</a:t>
            </a:r>
          </a:p>
          <a:p/>
          <a:p>
            <a:r>
              <a:t>Проверка построена жёстко: модель обучается на одной площадке и применяется к другой, которую она не видела ни в каком виде.</a:t>
            </a:r>
          </a:p>
          <a:p/>
          <a:p>
            <a:r>
              <a:t>Результат на графике — около ноль целых семидесяти шести в обе стороны, против ноль целых семисот у простой сортировки по длине и ноль целых пяти у случайного порядка. Практический смысл прямой: на площадке с одной съёмкой линии можно отдавать упорядоченными по уверенности.</a:t>
            </a:r>
          </a:p>
          <a:p/>
          <a:p>
            <a:r>
              <a:t>(Подробнее, если спросят: Девять признаков линии: длина, прямолинейность, средняя и максимальная сила границы, сила над локальным фоном (среднее по линии минус среднее в окне 2 км, делённое на локальный разброс), однородность силы вдоль линии, согласие с направлением поля, изломов на километр, плотность соседних линий. Метка — подтверждение обоими приборами, на каждой площадке получена независимо и одинаково. Вторая площадка — Невада. Числа: ANFIS 0.757 и 0.758, логистическая регрессия 0.745 и 0.770, градиентный бустинг 0.735 и 0.687.)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строки, и первая — сама метрика.</a:t>
            </a:r>
          </a:p>
          <a:p/>
          <a:p>
            <a:r>
              <a:t>Площадь под ROC-кривой читается проще, чем звучит: это вероятность того, что случайно взятая подтверждённая линия получит более высокий ранг, чем случайно взятая неподтверждённая. Половина — случайный порядок, единица — идеальный.</a:t>
            </a:r>
          </a:p>
          <a:p/>
          <a:p>
            <a:r>
              <a:t>Вторая строка — как меряется значимость. Метки на проверочной площадке перемешиваются десять тысяч раз, и смотрится, как часто случайная перестановка даёт результат не хуже наблюдаемого.</a:t>
            </a:r>
          </a:p>
          <a:p/>
          <a:p>
            <a:r>
              <a:t>Третья строка — итог: ни одна из десяти тысяч перестановок до наблюдаемого значения не дотянула. И это с запасом проходит порог, поправленный на всё семейство наших проверок, а не на одну.</a:t>
            </a:r>
          </a:p>
          <a:p/>
          <a:p>
            <a:r>
              <a:t>(Подробнее, если спросят: Порог 0.000222 получен делением 0.05 на число проверок в семействе. Такая поправка нужна, чтобы «пробуем, пока что-нибудь не выстрелит» не давало ложного результата. Отдельно проверялась достижимость порога: при 10 000 перестановок минимально возможное p равно 1/10001, то есть порог в принципе достижим — при меньшем числе перестановок он был бы недостижим ни при каком результате.)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Коротко, что есть на сегодня.</a:t>
            </a:r>
          </a:p>
          <a:p/>
          <a:p>
            <a:r>
              <a:t>Первое — карта: двести пятьдесят пять линий, тысяча десять километров по листу, каждая подтверждена двумя независимыми съёмками, случайных среди них около двух.</a:t>
            </a:r>
          </a:p>
          <a:p/>
          <a:p>
            <a:r>
              <a:t>Второе — воспроизводимость: обучения в построении карты нет, тот же вход всегда даёт тот же результат. Метод переносится на соседние листы как есть, нужен только композит из тех же открытых каналов.</a:t>
            </a:r>
          </a:p>
          <a:p/>
          <a:p>
            <a:r>
              <a:t>Третье — ранжирование: там, где доступна только одна съёмка, линии можно отдавать упорядоченными по уверенности, и это проверено переносом между площадками.</a:t>
            </a:r>
          </a:p>
          <a:p/>
          <a:p>
            <a:r>
              <a:t>Следующий шаг, о котором я хотел бы договориться: разметка фрагмента двадцать на двадцать километров вашим специалистом. Порядка ста линий достаточно, чтобы откалибровать порог отбора под вашу манеру выделения; вся машинерия для этого уже написана и проверена.</a:t>
            </a:r>
          </a:p>
          <a:p/>
          <a:p>
            <a:r>
              <a:t>Спасибо. Готов ответить на вопросы.</a:t>
            </a:r>
          </a:p>
          <a:p/>
          <a:p>
            <a:r>
              <a:t>(Подробнее, если спросят: Что мы готовы отдать: растр и векторный список линий с их признаками, любую ступень плотности вместе с её запасом над случайным уровнем, поле силы границы и поле азимутов, а также код прогона. Разметка фрагмента нужна в виде линий в любом привычном формате; 100 линий на 20 × 20 км хватает, чтобы посчитать точность и полноту относительно эксперта и выбрать ступень плотности под задачу.)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402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B2A32"/>
                </a:solidFill>
                <a:latin typeface="Cambria"/>
              </a:rPr>
              <a:t>Линеаменты по космоснимкам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1012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6E7F88"/>
                </a:solidFill>
                <a:latin typeface="Calibri"/>
              </a:rPr>
              <a:t>Метод, формулы, результат по листу R-48-XI,XII (Анабарский щит)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064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F88"/>
                </a:solidFill>
                <a:latin typeface="Calibri"/>
              </a:rPr>
              <a:t>ФГБУ «ВНИГНИ», Отделение геоинформатики (ГИС Интегро)</a:t>
            </a:r>
          </a:p>
          <a:p>
            <a:pPr algn="l"/>
            <a:r>
              <a:rPr sz="1500" b="0">
                <a:solidFill>
                  <a:srgbClr val="6E7F88"/>
                </a:solidFill>
                <a:latin typeface="Calibri"/>
              </a:rPr>
              <a:t>Открытые съёмки Sentinel-1 / Sentinel-2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Что дано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Композит открытых съёмок Sentinel-1 и Sentinel-2 по листу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каналов съёмки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3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7963" y="2838297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15B33"/>
                </a:solidFill>
                <a:latin typeface="Cambria"/>
              </a:rPr>
              <a:t>100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843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шаг растра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893161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86 × 77 км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площадка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051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051" y="2838297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15B33"/>
                </a:solidFill>
                <a:latin typeface="Cambria"/>
              </a:rPr>
              <a:t>662 200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0931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ячеек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F88"/>
                </a:solidFill>
                <a:latin typeface="Calibri"/>
              </a:rPr>
              <a:t>Оптика: яркость и NDVI. Радар: VV, VH и шесть мер интерферометрической когерентности.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Результат по Анабару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Каждая линия подтверждена оптикой и радаром независимо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подтверждённых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3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7963" y="2838297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15B33"/>
                </a:solidFill>
                <a:latin typeface="Cambria"/>
              </a:rPr>
              <a:t>1010 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843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суммарная длина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ожидаемо случайных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051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051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×121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0931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чистота отбора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F88"/>
                </a:solidFill>
                <a:latin typeface="Calibri"/>
              </a:rPr>
              <a:t>Взаимное покрытие карт оптики и радара 0.422 против 0.250 у случайного уровня.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Итоговая карта линеаментов Анабара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Слева вся площадка, справа фрагмент в рамке крупным планом</a:t>
            </a:r>
          </a:p>
        </p:txBody>
      </p:sp>
      <p:pic>
        <p:nvPicPr>
          <p:cNvPr id="4" name="Picture 3" descr="p_fin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6" y="1572768"/>
            <a:ext cx="10554462" cy="4690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Метод: пять шагов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Каждый шаг — детерминированная функция входа: повторный прогон даёт тот же результат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768998" cy="182880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33472"/>
            <a:ext cx="17689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310128"/>
            <a:ext cx="15495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признаки</a:t>
            </a:r>
          </a:p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окрестности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2268" y="31546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7134" y="2468880"/>
            <a:ext cx="1768998" cy="182880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134" y="2633472"/>
            <a:ext cx="17689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862" y="3310128"/>
            <a:ext cx="15495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сжатие</a:t>
            </a:r>
          </a:p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160 →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482" y="31546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1348" y="2468880"/>
            <a:ext cx="1768998" cy="182880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1348" y="2633472"/>
            <a:ext cx="17689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076" y="3310128"/>
            <a:ext cx="15495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оператор</a:t>
            </a:r>
          </a:p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границы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697" y="31546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5562" y="2468880"/>
            <a:ext cx="1768998" cy="182880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5562" y="2633472"/>
            <a:ext cx="17689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5290" y="3310128"/>
            <a:ext cx="15495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трассировка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4911" y="31546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19776" y="2468880"/>
            <a:ext cx="1768998" cy="182880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9776" y="2633472"/>
            <a:ext cx="17689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15B33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9504" y="3310128"/>
            <a:ext cx="154954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отбор по</a:t>
            </a:r>
          </a:p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подтверждению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F88"/>
                </a:solidFill>
                <a:latin typeface="Calibri"/>
              </a:rPr>
              <a:t>Шаги 1–3 считают поле линейности, шаг 4 переводит его в отрезки, шаг 5 отбирает подтверждённые.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1. Ячейка описывается окрестностью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Один и тот же фрагмент: яркость и две величины, посчитанные по окрестности 500 м</a:t>
            </a:r>
          </a:p>
        </p:txBody>
      </p:sp>
      <p:pic>
        <p:nvPicPr>
          <p:cNvPr id="4" name="Picture 3" descr="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724977"/>
            <a:ext cx="11185855" cy="46607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1. Формулы: структурный тензор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Усредняются произведения градиентов — иначе встречные градиенты по краям борозды гасят друг друга</a:t>
            </a:r>
          </a:p>
        </p:txBody>
      </p:sp>
      <p:pic>
        <p:nvPicPr>
          <p:cNvPr id="4" name="Picture 3" descr="f_t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08" y="1664208"/>
            <a:ext cx="9199678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1. Что означает эллипс направлений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Три случая и настоящие участки листа под каждый из них</a:t>
            </a:r>
          </a:p>
        </p:txBody>
      </p:sp>
      <p:pic>
        <p:nvPicPr>
          <p:cNvPr id="4" name="Picture 3" descr="p_elli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3" y="1664208"/>
            <a:ext cx="1115872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1. Формулы: пять величин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Считаются на трёх масштабах окрестности: 500 м, 1 км, 2 км</a:t>
            </a:r>
          </a:p>
        </p:txBody>
      </p:sp>
      <p:pic>
        <p:nvPicPr>
          <p:cNvPr id="4" name="Picture 3" descr="f_f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350" y="1664207"/>
            <a:ext cx="8422994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Что есть после шага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Вместо одного числа в ячейке — описание её окрестности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каналов съёмки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3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7963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843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масштаба окрестности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величин на канал и масштаб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051" y="2377440"/>
            <a:ext cx="2590723" cy="2103120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051" y="2761488"/>
            <a:ext cx="259072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15B33"/>
                </a:solidFill>
                <a:latin typeface="Cambria"/>
              </a:rPr>
              <a:t>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0931" y="3730752"/>
            <a:ext cx="22249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B2A32"/>
                </a:solidFill>
                <a:latin typeface="Calibri"/>
              </a:rPr>
              <a:t>чисел в каждой ячейке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F88"/>
                </a:solidFill>
                <a:latin typeface="Calibri"/>
              </a:rPr>
              <a:t>106 миллионов чисел на площадку, и всё это посчитано прямо из снимка: никакой разметки на этом шаге нет.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2. Восьми компонент хватает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Доля разброса, объяснённая каждой компонентой</a:t>
            </a:r>
          </a:p>
        </p:txBody>
      </p:sp>
      <p:pic>
        <p:nvPicPr>
          <p:cNvPr id="4" name="Picture 3" descr="p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" y="1664208"/>
            <a:ext cx="1099931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32"/>
                </a:solidFill>
                <a:latin typeface="Cambria"/>
              </a:rPr>
              <a:t>Шаг 2. Формулы: главные компоненты и отбеливание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После отбеливания расстояние между участками измеряется в сигмах</a:t>
            </a:r>
          </a:p>
        </p:txBody>
      </p:sp>
      <p:pic>
        <p:nvPicPr>
          <p:cNvPr id="4" name="Picture 3" descr="f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73660"/>
            <a:ext cx="11185855" cy="43634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2. Компоненты как карты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Первые две из восьми на том же фрагменте</a:t>
            </a:r>
          </a:p>
        </p:txBody>
      </p:sp>
      <p:pic>
        <p:nvPicPr>
          <p:cNvPr id="4" name="Picture 3" descr="p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70" y="1664208"/>
            <a:ext cx="9925553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2. Формулы: свёрточный автоэнкодер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Второй способ сжатия: обучается на самом снимке, разметка не нужна</a:t>
            </a:r>
          </a:p>
        </p:txBody>
      </p:sp>
      <p:pic>
        <p:nvPicPr>
          <p:cNvPr id="4" name="Picture 3" descr="f_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63" y="1664208"/>
            <a:ext cx="9265968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2. Оба способа идут в карту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Списки линий пересекаются лишь наполовину, поэтому берётся объединение</a:t>
            </a:r>
          </a:p>
        </p:txBody>
      </p:sp>
      <p:pic>
        <p:nvPicPr>
          <p:cNvPr id="4" name="Picture 3" descr="p_two_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664208"/>
            <a:ext cx="10042855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3. Два окна по разные стороны линии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Сравниваются средние портреты участков, а не яркость</a:t>
            </a:r>
          </a:p>
        </p:txBody>
      </p:sp>
      <p:pic>
        <p:nvPicPr>
          <p:cNvPr id="4" name="Picture 3" descr="p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14" y="1664208"/>
            <a:ext cx="10576266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3. Формулы: геометрия окон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Вдоль линии окно длинное, поперёк — узкое</a:t>
            </a:r>
          </a:p>
        </p:txBody>
      </p:sp>
      <p:pic>
        <p:nvPicPr>
          <p:cNvPr id="4" name="Picture 3" descr="f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93" y="1664208"/>
            <a:ext cx="875430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3. Перебор двенадцати направлений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Отклик одной ячейки: максимум даёт силу границы и азимут</a:t>
            </a:r>
          </a:p>
        </p:txBody>
      </p:sp>
      <p:pic>
        <p:nvPicPr>
          <p:cNvPr id="4" name="Picture 3" descr="p_ang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04" y="1664208"/>
            <a:ext cx="10521086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3. Формулы: сила границы и азимут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Расстояние между восьмимерными портретами участков</a:t>
            </a:r>
          </a:p>
        </p:txBody>
      </p:sp>
      <p:pic>
        <p:nvPicPr>
          <p:cNvPr id="4" name="Picture 3" descr="f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19882"/>
            <a:ext cx="11185855" cy="42709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3. Готовое поле силы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Тот же фрагмент Анабара</a:t>
            </a:r>
          </a:p>
        </p:txBody>
      </p:sp>
      <p:pic>
        <p:nvPicPr>
          <p:cNvPr id="4" name="Picture 3" descr="p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87" y="1664207"/>
            <a:ext cx="7970520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4. От поля к линиям: этапы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Сглаживание, гребень, два порога</a:t>
            </a:r>
          </a:p>
        </p:txBody>
      </p:sp>
      <p:pic>
        <p:nvPicPr>
          <p:cNvPr id="4" name="Picture 3" descr="p_trac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09718"/>
            <a:ext cx="11185855" cy="44912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4. Формулы: гребень и гистерезис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Немаксимумы подавляются поперёк линии, пороги задаются квантилями площади</a:t>
            </a:r>
          </a:p>
        </p:txBody>
      </p:sp>
      <p:pic>
        <p:nvPicPr>
          <p:cNvPr id="4" name="Picture 3" descr="f_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90" y="1664208"/>
            <a:ext cx="10696113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4. От поля к линиям: этапы 4–5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Скелет, сшивка разрывов и отсев</a:t>
            </a:r>
          </a:p>
        </p:txBody>
      </p:sp>
      <p:pic>
        <p:nvPicPr>
          <p:cNvPr id="4" name="Picture 3" descr="p_trac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61" y="1664208"/>
            <a:ext cx="8301371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4. Формулы: геометрия ветки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Длина, прямолинейность и правило сшивки</a:t>
            </a:r>
          </a:p>
        </p:txBody>
      </p:sp>
      <p:pic>
        <p:nvPicPr>
          <p:cNvPr id="4" name="Picture 3" descr="f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08" y="1664208"/>
            <a:ext cx="9620278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5. Что видит каждый прибор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Три независимых прогона: только оптика, только радар, пересечение</a:t>
            </a:r>
          </a:p>
        </p:txBody>
      </p:sp>
      <p:pic>
        <p:nvPicPr>
          <p:cNvPr id="4" name="Picture 3" descr="p_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09718"/>
            <a:ext cx="11185855" cy="44912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5. Формулы: правило подтверждения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Рядом, в том же направлении и не меньше чем на половине длины</a:t>
            </a:r>
          </a:p>
        </p:txBody>
      </p:sp>
      <p:pic>
        <p:nvPicPr>
          <p:cNvPr id="4" name="Picture 3" descr="f_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03" y="1664208"/>
            <a:ext cx="9612288" cy="47823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5. Цена отбора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Сколько линий остаётся на каждом условии</a:t>
            </a:r>
          </a:p>
        </p:txBody>
      </p:sp>
      <p:pic>
        <p:nvPicPr>
          <p:cNvPr id="4" name="Picture 3" descr="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" y="1664208"/>
            <a:ext cx="1099931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Шаг 5. Формулы: случайный уровень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Тороидальный сдвиг сохраняет геометрию карты и рвёт привязку к местности</a:t>
            </a:r>
          </a:p>
        </p:txBody>
      </p:sp>
      <p:pic>
        <p:nvPicPr>
          <p:cNvPr id="4" name="Picture 3" descr="f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150995"/>
            <a:ext cx="11185855" cy="38087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Плотность задаёт 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Пороги трассировки ослабляются, пока подтверждение держится выше случайного уровня</a:t>
            </a:r>
          </a:p>
        </p:txBody>
      </p:sp>
      <p:pic>
        <p:nvPicPr>
          <p:cNvPr id="4" name="Picture 3" descr="p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" y="1664208"/>
            <a:ext cx="1099931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Плотность: формула стоп-правила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Взаимное покрытие карт двух приборов и его запас над случайным</a:t>
            </a:r>
          </a:p>
        </p:txBody>
      </p:sp>
      <p:pic>
        <p:nvPicPr>
          <p:cNvPr id="4" name="Picture 3" descr="f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335885"/>
            <a:ext cx="11185855" cy="34389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32"/>
                </a:solidFill>
                <a:latin typeface="Cambria"/>
              </a:rPr>
              <a:t>Ранжирование линий переносится между площадками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Модель обучена на одной площадке и применена к другой, которую не видела</a:t>
            </a:r>
          </a:p>
        </p:txBody>
      </p:sp>
      <p:pic>
        <p:nvPicPr>
          <p:cNvPr id="4" name="Picture 3" descr="p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" y="1664208"/>
            <a:ext cx="10999317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Перенос: метрика и значимость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Девять признаков линии: длина, прямолинейность, сила над фоном, однородность, согласие с полем</a:t>
            </a:r>
          </a:p>
        </p:txBody>
      </p:sp>
      <p:pic>
        <p:nvPicPr>
          <p:cNvPr id="4" name="Picture 3" descr="f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933749"/>
            <a:ext cx="11185855" cy="4243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2"/>
                </a:solidFill>
                <a:latin typeface="Cambria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F88"/>
                </a:solidFill>
                <a:latin typeface="Calibri"/>
              </a:rPr>
              <a:t>Что метод даёт прямо сейчас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1185855" cy="120700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208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5B33"/>
                </a:solidFill>
                <a:latin typeface="Cambria"/>
              </a:rPr>
              <a:t>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96312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B2A32"/>
                </a:solidFill>
                <a:latin typeface="Calibri"/>
              </a:rPr>
              <a:t>255 линий, 1010 км, каждая подтверждена двумя независимыми съёмками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39"/>
            <a:ext cx="11185855" cy="120700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381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5B33"/>
                </a:solidFill>
                <a:latin typeface="Cambria"/>
              </a:rPr>
              <a:t>Воспроизводимость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13631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B2A32"/>
                </a:solidFill>
                <a:latin typeface="Calibri"/>
              </a:rPr>
              <a:t>обучения в построении карты нет: тот же вход даёт тот же результат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59"/>
            <a:ext cx="11185855" cy="1207008"/>
          </a:xfrm>
          <a:prstGeom prst="roundRect">
            <a:avLst/>
          </a:prstGeom>
          <a:solidFill>
            <a:srgbClr val="F4EFEA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554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5B33"/>
                </a:solidFill>
                <a:latin typeface="Cambria"/>
              </a:rPr>
              <a:t>Переносимость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30951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B2A32"/>
                </a:solidFill>
                <a:latin typeface="Calibri"/>
              </a:rPr>
              <a:t>ранжирование линий работает на площадке, где есть только одна съёмка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E7F88"/>
                </a:solidFill>
                <a:latin typeface="Calibri"/>
              </a:rPr>
              <a:t>Следующий шаг — разметка фрагмента 20 × 20 км геофизиком: она калибрует порог отбора под вашу манеру выделения.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3513</Words>
  <Application>Microsoft Office PowerPoint</Application>
  <PresentationFormat>Широкоэкранный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Линеаменты по космоснимкам без обучения</dc:title>
  <dc:subject>PptxGenJS Presentation</dc:subject>
  <dc:creator>Артур</dc:creator>
  <cp:lastModifiedBy>Artur</cp:lastModifiedBy>
  <cp:revision>2</cp:revision>
  <dcterms:created xsi:type="dcterms:W3CDTF">2026-09-09T05:59:19Z</dcterms:created>
  <dcterms:modified xsi:type="dcterms:W3CDTF">2026-09-09T08:22:31Z</dcterms:modified>
</cp:coreProperties>
</file>