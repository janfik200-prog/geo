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Доклад для геофизиков: тот же метод, что в общем докладе, но с математикой на каждом шаге — что считается, по какой формуле и откуда каждое число.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Результат: карта линеаментов листа. Красным — линии по зимнему снимку, синим — дополнительный слой по рельефу в секторе, где оптика слепа. Каждая красная линия найдена на двух независимых половинах съёмки. На суррогате с тем же спектром тот же тракт оставляет 21 линию против 1861.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Физика сигнала: при высоте солнца восемь–десять градусов тень в шесть–семь раз длиннее высоты уступа и попадает в масштаб сетки. Цена — слепой сектор вдоль азимута солнца, он измерен врезкой искусственных линий.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Тракт из шести этапов и то, что каждый получает и отдаёт. Обучаемых моделей нет: каждый этап — детерминированное правило. Дальше по этапам.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Этап первый. Каждая сцена приводится к нулевой медиане и единичному робастному разбросу, сцены сводятся медианой, вычитается фон на масштабе два километра нормированной свёрткой. Тем же способом собираются две половины.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Детектор, первая часть. Гессиан считается свёрткой со вторыми производными гауссиана на двух масштабах. Отклик — разность модулей собственных чисел, нормированная на сигма в квадрате: у полосы одно число велико, второе около нуля.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Отклик пересчитывается в сигмы местной окрестности: логарифм минус среднее, делить на СКО в окне два километра. Пороги гистерезиса — девяностый и девяносто седьмой процентили по листу. Важно: пороги относительные, поэтому сами по себе ничего не доказывают.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Утончение: ячейка остаётся, если меньшее собственное число отрицательно и значение не меньше двух соседей вдоль собственного вектора, то есть поперёк гребня. Длина обрывка — размах проекций на главную ось. Здесь же была ошибка с переставленными компонентами вектора, найденная врезкой.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Продление. От конца строится профиль отклика вдоль оси с допуском одна ячейка вбок, по нему идёт скользящее среднее на двести метров. Конец переносится на столько ячеек, сколько окон подряд выше нижнего порога детектора.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Сшивка, геометрия. Общее направление считается по удвоенным углам. Вектор между концами раскладывается на составляющую вдоль и поперёк. Четыре геометрических условия на схеме справа: единицей, двойкой и тройкой помечены направление, разрыв и сдвиг.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Пятое условие — отклик в промежутке: средний z вдоль отрезка должен быть выше девяносто пятого процентиля того же среднего у отрезков, перенесённых по тору. Предел сдвига сто двадцать семь метров взят из замера на парах с известным ответом: максимум разности долей верных и ложных соединений. Проценты завышены: сдвиг частично входит в саму разметку пар.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Пятый этап. Шов — место, где меняется число сцен в композите: там ступенька яркости. Линия убирается, если больше половины её длины лежит в ста метрах от шва и её азимут совпадает с направлением шва. Мостики между сдвинутыми кусками с карты снимаются.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Шестой этап, главный фильтр. Для линии считается доля ячеек не дальше шестидесяти метров от линий каждой половины; обе доли должны быть не меньше трёх десятых. На снимке это проходят пятьдесят девять процентов линий, на суррогате — три.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Слепой сектор закрывается сменой направления освещения: рельеф отмывается с северо-востока и юго-востока, детектор тот же. Берутся только линии в слепом секторе, найденные на обеих отмывках. Слой подаётся отдельно: основной результат строится без рельефа.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Выводы. Карта построена детерминированным трактом, каждая линия подтверждена второй съёмкой, набор прошёл четыре заранее объявленные проверки. Ограничения: слепой сектор вдоль солнца, мягкие границы широких участков, точность и полнота в процентах не измерены.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1.png"/><Relationship Id="rId4" Type="http://schemas.openxmlformats.org/officeDocument/2006/relationships/image" Target="../media/image22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5.png"/><Relationship Id="rId4" Type="http://schemas.openxmlformats.org/officeDocument/2006/relationships/image" Target="../media/image26.png"/><Relationship Id="rId5" Type="http://schemas.openxmlformats.org/officeDocument/2006/relationships/image" Target="../media/image2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0.png"/><Relationship Id="rId4" Type="http://schemas.openxmlformats.org/officeDocument/2006/relationships/image" Target="../media/image3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2.png"/><Relationship Id="rId4" Type="http://schemas.openxmlformats.org/officeDocument/2006/relationships/image" Target="../media/image3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83112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4600" b="1">
                <a:solidFill>
                  <a:srgbClr val="1B2A32"/>
                </a:solidFill>
                <a:latin typeface="Cambria"/>
              </a:rPr>
              <a:t>Линеаменты по зимнему космоснимку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3154680"/>
            <a:ext cx="11183112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2400" b="1">
                <a:solidFill>
                  <a:srgbClr val="C15B33"/>
                </a:solidFill>
                <a:latin typeface="Cambria"/>
              </a:rPr>
              <a:t>Метод и его математика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5806440"/>
            <a:ext cx="1118311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E7F88"/>
                </a:solidFill>
                <a:latin typeface="Calibri"/>
              </a:rPr>
              <a:t>ФГБУ «ВНИГНИ», Отделение геоинформатики (ГИС Интегро)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>
                <a:solidFill>
                  <a:srgbClr val="6E7F88"/>
                </a:solidFill>
                <a:latin typeface="Calibri"/>
              </a:rPr>
              <a:t>Лист R-48-XI,XII (Анабарский щит) · состояние на 14.10.2026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Задача и результат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Автоматическая карта линеаментов листа 77 × 86 км; на входе только космоснимки</a:t>
            </a:r>
          </a:p>
        </p:txBody>
      </p:sp>
      <p:pic>
        <p:nvPicPr>
          <p:cNvPr id="4" name="Picture 3" descr="map_both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513" y="1600200"/>
            <a:ext cx="5668092" cy="50749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92240" y="1691640"/>
            <a:ext cx="2459736" cy="17830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492240" y="1828800"/>
            <a:ext cx="24597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C15B33"/>
                </a:solidFill>
                <a:latin typeface="Cambria"/>
              </a:rPr>
              <a:t>1861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29400" y="2606040"/>
            <a:ext cx="21854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линия по снимку,
2381 км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26296" y="1691640"/>
            <a:ext cx="2459736" cy="17830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226296" y="1828800"/>
            <a:ext cx="245973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4000" b="1">
                <a:solidFill>
                  <a:srgbClr val="C15B33"/>
                </a:solidFill>
                <a:latin typeface="Cambria"/>
              </a:rPr>
              <a:t>563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63456" y="2606040"/>
            <a:ext cx="218541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Aft>
                <a:spcPts val="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линии по рельефу,
749 км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3749039"/>
            <a:ext cx="5193792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Линия принимается, если найдена на двух независимых половинах съёмки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Суррогат с тем же спектром мощности: 21 линия против 1861 (≈ 1 %)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Сдвиговый тест: p = 0.00025 при пороге 0.05 / 92; устойчивость 0.705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Геология, гравика и магнитка во вход не идут — только сверка после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Данные и геометрия освещения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Сигнал — тень уступа на снегу при низком солнце; отсюда и слепой сектор метода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1252728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4088" y="1783080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Длина тени уступа высотой H при высоте солнца h</a:t>
            </a:r>
          </a:p>
        </p:txBody>
      </p:sp>
      <p:pic>
        <p:nvPicPr>
          <p:cNvPr id="6" name="Picture 5" descr="shad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1277112" cy="685800"/>
          </a:xfrm>
          <a:prstGeom prst="rect">
            <a:avLst/>
          </a:prstGeom>
        </p:spPr>
      </p:pic>
      <p:pic>
        <p:nvPicPr>
          <p:cNvPr id="7" name="Picture 6" descr="_crop_map_optics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48492" y="3090672"/>
            <a:ext cx="3418214" cy="28529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Sentinel-2, канал B04, сетка Δ = 20 м; 12 зимних сцен, по три на плитку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h = 7.7–9.6°: L ≈ 6–7.4 H; уступ 5 м даёт тень ≈ 33 м ≈ 1.7 Δ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Летом, h ≈ 35°: L ≈ 1.4 H — тень уже ячейки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Азимут солнца 184° на всех сценах: тени складываются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Уступ вдоль лучей тени не даёт — слепой сектор ±15° у меридиана (измерен врезкой)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Слепой сектор закрывается отдельным слоем по рельефу — слайд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Схема тракта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Шесть этапов; обучаемых моделей нет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737360"/>
            <a:ext cx="3544824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58952" y="1965960"/>
            <a:ext cx="3032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100" b="1">
                <a:solidFill>
                  <a:srgbClr val="1B2A32"/>
                </a:solidFill>
                <a:latin typeface="Cambria"/>
              </a:rPr>
              <a:t>1. Композит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12 сцен Iₖ → снимок S и две половины S_A, S_B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737360"/>
            <a:ext cx="3544824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78096" y="1965960"/>
            <a:ext cx="3032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100" b="1">
                <a:solidFill>
                  <a:srgbClr val="1B2A32"/>
                </a:solidFill>
                <a:latin typeface="Cambria"/>
              </a:rPr>
              <a:t>2. Детектор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S → отклик R → z → гребни → около 10 000 обрывков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1208" y="1737360"/>
            <a:ext cx="3544824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97240" y="1965960"/>
            <a:ext cx="3032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100" b="1">
                <a:solidFill>
                  <a:srgbClr val="1B2A32"/>
                </a:solidFill>
                <a:latin typeface="Cambria"/>
              </a:rPr>
              <a:t>3. Продление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концы обрывков вдоль оси, пока средний z выше порога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886200"/>
            <a:ext cx="3544824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58952" y="4114800"/>
            <a:ext cx="3032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100" b="1">
                <a:solidFill>
                  <a:srgbClr val="1B2A32"/>
                </a:solidFill>
                <a:latin typeface="Cambria"/>
              </a:rPr>
              <a:t>4. Сшивка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пары обрывков по геометрии и отклику → 3171 линия ≥ 500 м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2064" y="3886200"/>
            <a:ext cx="3544824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78096" y="4114800"/>
            <a:ext cx="3032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100" b="1">
                <a:solidFill>
                  <a:srgbClr val="1B2A32"/>
                </a:solidFill>
                <a:latin typeface="Cambria"/>
              </a:rPr>
              <a:t>5. Швы и мостики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убираются линии вдоль швов съёмки и дорисованные отрезки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1208" y="3886200"/>
            <a:ext cx="3544824" cy="19202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397240" y="4114800"/>
            <a:ext cx="303276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2100" b="1">
                <a:solidFill>
                  <a:srgbClr val="1B2A32"/>
                </a:solidFill>
                <a:latin typeface="Cambria"/>
              </a:rPr>
              <a:t>6. Подтверждение</a:t>
            </a:r>
          </a:p>
          <a:p>
            <a:pPr algn="l">
              <a:lnSpc>
                <a:spcPct val="120000"/>
              </a:lnSpc>
              <a:spcAft>
                <a:spcPts val="800"/>
              </a:spcAft>
            </a:pPr>
            <a:r>
              <a:rPr sz="1600" b="0">
                <a:solidFill>
                  <a:srgbClr val="1B2A32"/>
                </a:solidFill>
                <a:latin typeface="Calibri"/>
              </a:rPr>
              <a:t>доля линии в 60 м от линий обеих половин → 1861 линия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На выходе первого этапа — снимок, второго — около 10 тысяч обрывков, шестого — 1861 линия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1. Композит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Робастная нормировка сцен, медиана по сценам, вычитание плавного фона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86639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4088" y="1749917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Нормировка сцены k</a:t>
            </a:r>
          </a:p>
        </p:txBody>
      </p:sp>
      <p:pic>
        <p:nvPicPr>
          <p:cNvPr id="6" name="Picture 5" descr="n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4749"/>
            <a:ext cx="1886244" cy="50507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2704334"/>
            <a:ext cx="6309360" cy="637166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" y="2762611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Сведение сцен</a:t>
            </a:r>
          </a:p>
        </p:txBody>
      </p:sp>
      <p:pic>
        <p:nvPicPr>
          <p:cNvPr id="9" name="Picture 8" descr="com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2937444"/>
            <a:ext cx="2606941" cy="275846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3487804"/>
            <a:ext cx="6309360" cy="870275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4088" y="3546082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Вычитание фона с учётом маски</a:t>
            </a:r>
          </a:p>
        </p:txBody>
      </p:sp>
      <p:pic>
        <p:nvPicPr>
          <p:cNvPr id="12" name="Picture 11" descr="det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3720914"/>
            <a:ext cx="3687016" cy="508955"/>
          </a:xfrm>
          <a:prstGeom prst="rect">
            <a:avLst/>
          </a:prstGeom>
        </p:spPr>
      </p:pic>
      <p:pic>
        <p:nvPicPr>
          <p:cNvPr id="13" name="Picture 12" descr="geo_1_snim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45660" y="4504384"/>
            <a:ext cx="4023879" cy="1439215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med, IQR — медиана и межквартильный размах по годным ячейкам сцены; IQR / 1.349 — робастная оценка σ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n(x) — число сцен с данными в ячейке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M — маска годных ячеек; G — гауссиан, σ_d = 50 Δ = 1 км (масштаб 2 км)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Деление на G∗M — нормированная свёртка: края и пропуски не искажают фон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Половины: сцены плитки через одну; S_A — 8 сцен, S_B — 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На выходе: S, S_A, S_B на сетке 20 м; окно 5 × 5 км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2. Детектор: отклик на узкую полосу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Собственные числа гессиана на двух масштабах; разность их модулей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956054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4088" y="1783080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Гессиан: свёртка со вторыми производными гауссиана</a:t>
            </a:r>
          </a:p>
        </p:txBody>
      </p:sp>
      <p:pic>
        <p:nvPicPr>
          <p:cNvPr id="6" name="Picture 5" descr="h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5852160" cy="38912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2793998"/>
            <a:ext cx="6309360" cy="1408176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" y="2885438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Собственные числа</a:t>
            </a:r>
          </a:p>
        </p:txBody>
      </p:sp>
      <p:pic>
        <p:nvPicPr>
          <p:cNvPr id="9" name="Picture 8" descr="ei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59758"/>
            <a:ext cx="5181600" cy="84124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348478"/>
            <a:ext cx="6309360" cy="1066799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4088" y="4439918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Отклик</a:t>
            </a:r>
          </a:p>
        </p:txBody>
      </p:sp>
      <p:pic>
        <p:nvPicPr>
          <p:cNvPr id="12" name="Picture 11" descr="res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714238"/>
            <a:ext cx="4029455" cy="49987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Перед этим S приводится к шкале med = 0, IQR / 1.349 = 1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σ в ячейках: 20 и 40 м — под ширину тени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σ² — нормировка по масштабу: отклики на разных σ сравнимы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Разность модулей гасит изотропные пятна (|λ₁| ≈ |λ₂|) и оставляет полосы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Модули: тёмная и светлая полосы равноправны; направление не задаётся</a:t>
            </a:r>
          </a:p>
        </p:txBody>
      </p:sp>
      <p:pic>
        <p:nvPicPr>
          <p:cNvPr id="15" name="Picture 14" descr="_crop_stages.jp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3018" y="4389120"/>
            <a:ext cx="1652314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2. Локальная нормировка и пороги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Отклик в сигмах своей окрестности; два порога с 8-связностью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116088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4088" y="1769726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Локальная нормировка логарифма отклика</a:t>
            </a:r>
          </a:p>
        </p:txBody>
      </p:sp>
      <p:pic>
        <p:nvPicPr>
          <p:cNvPr id="6" name="Picture 5" descr="z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03984"/>
            <a:ext cx="4758048" cy="676746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2998824"/>
            <a:ext cx="6309360" cy="817301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" y="3076910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Пороги гистерезиса — квантили z по всему листу</a:t>
            </a:r>
          </a:p>
        </p:txBody>
      </p:sp>
      <p:pic>
        <p:nvPicPr>
          <p:cNvPr id="9" name="Picture 8" descr="hy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311169"/>
            <a:ext cx="3427981" cy="333167"/>
          </a:xfrm>
          <a:prstGeom prst="rect">
            <a:avLst/>
          </a:prstGeom>
        </p:spPr>
      </p:pic>
      <p:pic>
        <p:nvPicPr>
          <p:cNvPr id="10" name="Picture 9" descr="geo_2_z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040" y="3962430"/>
            <a:ext cx="5539119" cy="19811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ε = Q₀.₀₁(R) — защита логарифма от нуля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m_W, s_W — среднее и СКО ln(R + ε) в окне 100 × 100 ячеек, только по маске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Логарифм: у R тяжёлый хвост, без него m и s задавала бы пара сильнейших линий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Гребень остаётся, если его 8-связная компонента на уровне T_lo содержит ячейку выше T_hi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Пороги относительные: по силе z снимок от шума не отличается — доказывают проверки, а не пороги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Отклик z; фиолетовый — z ≥ T_lo, жёлтый — z ≥ T_hi; синие — обрывки; окно 5 × 5 км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2. Утончение и измерение обрывка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Подавление немаксимумов поперёк гребня; длина — по главной оси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882099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4088" y="1783080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Гребень: локальный максимум поперёк линии</a:t>
            </a:r>
          </a:p>
        </p:txBody>
      </p:sp>
      <p:pic>
        <p:nvPicPr>
          <p:cNvPr id="6" name="Picture 5" descr="nm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5852160" cy="315171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2720043"/>
            <a:ext cx="6309360" cy="1075944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" y="2811483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Длина обрывка — размах проекций на главную ось</a:t>
            </a:r>
          </a:p>
        </p:txBody>
      </p:sp>
      <p:pic>
        <p:nvPicPr>
          <p:cNvPr id="9" name="Picture 8" descr="l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085803"/>
            <a:ext cx="5410200" cy="509016"/>
          </a:xfrm>
          <a:prstGeom prst="rect">
            <a:avLst/>
          </a:prstGeom>
        </p:spPr>
      </p:pic>
      <p:pic>
        <p:nvPicPr>
          <p:cNvPr id="10" name="Picture 9" descr="_crop_stages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99884" y="3942291"/>
            <a:ext cx="2115430" cy="20013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ẑ — z, сглаженный гауссианом σ = 1; H — его гессиан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v — собственный вектор λ_min: направление поперёк гребня; ẑ в точках x ± v/|v| — билинейной интерполяцией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Скелет; отростки ≤ 60 м срезаются; в узлах куски соединяются при повороте ≤ 35°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Разрывы ≤ 80 м закрываются, если все ячейки между концами выше T_lo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a — первый сингулярный вектор облака ячеек; ℓ ≥ 200 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До 23.09 компоненты v были переставлены: линии вдоль осей растра терялись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3. Продление концов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Ход вдоль оси обрывка, пока скользящее среднее отклика выше нижнего порога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1069257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4088" y="1759466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Скользящее среднее отклика вдоль хода</a:t>
            </a:r>
          </a:p>
        </p:txBody>
      </p:sp>
      <p:pic>
        <p:nvPicPr>
          <p:cNvPr id="6" name="Picture 5" descr="ex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62945"/>
            <a:ext cx="4340886" cy="64873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2907201"/>
            <a:ext cx="6309360" cy="74246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" y="2975027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Длина продления, ячеек</a:t>
            </a:r>
          </a:p>
        </p:txBody>
      </p:sp>
      <p:pic>
        <p:nvPicPr>
          <p:cNvPr id="9" name="Picture 8" descr="extru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178507"/>
            <a:ext cx="4340886" cy="321936"/>
          </a:xfrm>
          <a:prstGeom prst="rect">
            <a:avLst/>
          </a:prstGeom>
        </p:spPr>
      </p:pic>
      <p:pic>
        <p:nvPicPr>
          <p:cNvPr id="10" name="Picture 9" descr="geo_3_ex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59782" y="3795965"/>
            <a:ext cx="4195635" cy="214763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e — конец обрывка; d — единичный вектор оси наружу; d⊥ — перпендикуляр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max по k: линия может уйти на ячейку в сторону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w = 10 ячеек = 200 м; предел 45 ячеек = 900 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T_lo — тот же порог, по которому детектор продолжает линию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Продлеваются только обрывки ℓ ≥ 500 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Итог: 2082 конца, +535 км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Синие — обрывки детектора, зелёные — продление; окно 3 × 3 км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4. Сшивка: геометрия пары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Разрыв вдоль и сдвиг поперёк общего направления двух обрывков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1246632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4088" y="1783080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Общее направление — среднее по удвоенным углам</a:t>
            </a:r>
          </a:p>
        </p:txBody>
      </p:sp>
      <p:pic>
        <p:nvPicPr>
          <p:cNvPr id="6" name="Picture 5" descr="d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5711952" cy="679704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3084575"/>
            <a:ext cx="6309360" cy="966216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" y="3176016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Разрыв вдоль и сдвиг поперёк</a:t>
            </a:r>
          </a:p>
        </p:txBody>
      </p:sp>
      <p:pic>
        <p:nvPicPr>
          <p:cNvPr id="9" name="Picture 8" descr="ga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450335"/>
            <a:ext cx="4005072" cy="399288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197096"/>
            <a:ext cx="6309360" cy="882934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704088" y="4288536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Геометрические условия пары</a:t>
            </a:r>
          </a:p>
        </p:txBody>
      </p:sp>
      <p:pic>
        <p:nvPicPr>
          <p:cNvPr id="12" name="Picture 11" descr="co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4562856"/>
            <a:ext cx="5852160" cy="31600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θ — азимут оси, 0–180°; удвоение углов снимает разрыв 0° / 180°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u вдоль θ̄, n поперёк; v — вектор между концами; o₁₂ — перекрытие проекций на u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1192 м и 20° — из геометрии пар на листе; 127 м — следующий слайд</a:t>
            </a:r>
          </a:p>
        </p:txBody>
      </p:sp>
      <p:pic>
        <p:nvPicPr>
          <p:cNvPr id="15" name="Picture 14" descr="link_schem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3854" y="3657600"/>
            <a:ext cx="3510642" cy="2286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4. Сшивка: опора мостика и предел сдвига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Порог отклика — из сдвигового нуля; предел сдвига — из пар с известным ответом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1101338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4088" y="1766054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Опора мостика: средний z вдоль отрезка против нуля</a:t>
            </a:r>
          </a:p>
        </p:txBody>
      </p:sp>
      <p:pic>
        <p:nvPicPr>
          <p:cNvPr id="6" name="Picture 5" descr="bri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89299"/>
            <a:ext cx="4058086" cy="639967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502920" y="2939282"/>
            <a:ext cx="6309360" cy="791277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04088" y="3013697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Предел бокового сдвига — максимум разности долей</a:t>
            </a:r>
          </a:p>
        </p:txBody>
      </p:sp>
      <p:pic>
        <p:nvPicPr>
          <p:cNvPr id="9" name="Picture 8" descr="youd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3236942"/>
            <a:ext cx="4325980" cy="329905"/>
          </a:xfrm>
          <a:prstGeom prst="rect">
            <a:avLst/>
          </a:prstGeom>
        </p:spPr>
      </p:pic>
      <p:pic>
        <p:nvPicPr>
          <p:cNvPr id="10" name="Picture 9" descr="geo_4_lin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29356" y="3876864"/>
            <a:ext cx="3856486" cy="2066735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P — ячейки отрезка между концами без двух у каждого конца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s_m — пять случайных торических сдвигов тех же отрезков по тому же снимку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Пары с ответом: обрывки одной половины съёмки, ответ — по другой; 973 разрыва одной линии и 1009 пар соседних линий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Медиана g⊥: 55 м у разрывов, 199 м у соседей; плато максимума 112–137 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При 127 м: TPR 73 %, FPR 18 %; при прежних 600 м: 84 % и 59 %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400" b="0">
                <a:solidFill>
                  <a:srgbClr val="1B2A32"/>
                </a:solidFill>
                <a:latin typeface="Calibri"/>
              </a:rPr>
              <a:t>— Пары соединяются от ближних к дальним; конец — один раз; сдвиги в цепочке одного знака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Синие — обрывки; мостики: зелёные — прямые, оранжевые — со сдвигом ≥ 60 м. Итог: 1320 стыков, 3171 линия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5. Швы съёмки и мостики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Убирается то, что создали съёмка и сам метод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1324742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4088" y="1783080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Линия убирается, если идёт вдоль шва</a:t>
            </a:r>
          </a:p>
        </p:txBody>
      </p:sp>
      <p:pic>
        <p:nvPicPr>
          <p:cNvPr id="6" name="Picture 5" descr="se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5852160" cy="757814"/>
          </a:xfrm>
          <a:prstGeom prst="rect">
            <a:avLst/>
          </a:prstGeom>
        </p:spPr>
      </p:pic>
      <p:pic>
        <p:nvPicPr>
          <p:cNvPr id="7" name="Picture 6" descr="geo_5_se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3036" y="3162686"/>
            <a:ext cx="5189127" cy="278091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Шов — ячейки, у соседа которых другое число сцен n(x), и край данных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d_s — расстояние до шва; θ_s — направление шва у середины линии (SVD ячеек шва)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Линия, пересекающая шов, остаётся: условие по направлению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Мостик сшивки при g⊥ ≥ 60 м снимается с карты и из подтверждения; цепочка остаётся одной линией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Итог: убрано 11 линий и 274 км мостиков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Жёлтый — шов съёмки, красная — убранная линия, синие — оставшиеся; окно 5 × 5 км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Этап 6. Подтверждение двумя половинами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Линия остаётся, если значительная часть её длины лежит рядом с линиями обеих половин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1277276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4088" y="1783080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Доля длины линии в допуске от линий половины h</a:t>
            </a:r>
          </a:p>
        </p:txBody>
      </p:sp>
      <p:pic>
        <p:nvPicPr>
          <p:cNvPr id="6" name="Picture 5" descr="con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5852160" cy="710348"/>
          </a:xfrm>
          <a:prstGeom prst="rect">
            <a:avLst/>
          </a:prstGeom>
        </p:spPr>
      </p:pic>
      <p:pic>
        <p:nvPicPr>
          <p:cNvPr id="7" name="Picture 6" descr="geo_6_conf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401079"/>
            <a:ext cx="6309360" cy="22566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d_h — карта расстояний до линий половины h ∈ {A, B}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Половины проходят только детектор (ℓ ≥ 500 м), без продления и сшивки: богатый эталон удешевляет подтверждение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60 м = 3 Δ; 0.3 — во второй половине линия часто видна кусками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— Снимок: 1861 из 3171 (58.7 %); суррогат: 21 из 729 (2.8 %)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Итог: красные — подтверждены обеими половинами, оранжевые — нет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Слепой сектор и слой по рельефу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Тот же детектор на отмывке рельефа с другим азимутом света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691640"/>
            <a:ext cx="6309360" cy="957072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04088" y="1783080"/>
            <a:ext cx="5907024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1">
                <a:solidFill>
                  <a:srgbClr val="C15B33"/>
                </a:solidFill>
                <a:latin typeface="Calibri"/>
              </a:rPr>
              <a:t>Отмывка: освещённость склона</a:t>
            </a:r>
          </a:p>
        </p:txBody>
      </p:sp>
      <p:pic>
        <p:nvPicPr>
          <p:cNvPr id="6" name="Picture 5" descr="h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2057400"/>
            <a:ext cx="4486656" cy="390144"/>
          </a:xfrm>
          <a:prstGeom prst="rect">
            <a:avLst/>
          </a:prstGeom>
        </p:spPr>
      </p:pic>
      <p:pic>
        <p:nvPicPr>
          <p:cNvPr id="7" name="Picture 6" descr="relief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3247644"/>
            <a:ext cx="6309360" cy="224332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32320" y="1737360"/>
            <a:ext cx="455371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1">
                <a:solidFill>
                  <a:srgbClr val="C15B33"/>
                </a:solidFill>
                <a:latin typeface="Calibri"/>
              </a:rPr>
              <a:t>Обозначения и числа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66543"/>
            <a:ext cx="4553712" cy="3840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1B2A32"/>
                </a:solidFill>
                <a:latin typeface="Calibri"/>
              </a:rPr>
              <a:t>— ζ = 90° − 9° — зенитный угол; s — уклон, a — экспозиция; α — азимут света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1B2A32"/>
                </a:solidFill>
                <a:latin typeface="Calibri"/>
              </a:rPr>
              <a:t>— Copernicus GLO-30 на сетке листа; α = 45° и 135°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1B2A32"/>
                </a:solidFill>
                <a:latin typeface="Calibri"/>
              </a:rPr>
              <a:t>— Оставляются линии в секторе ±15° от 184°, найденные на обеих отмывках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1B2A32"/>
                </a:solidFill>
                <a:latin typeface="Calibri"/>
              </a:rPr>
              <a:t>— 563 линии, 749 км; суррогат 0.7 %; p = 0.00025; устойчивость 0.728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1B2A32"/>
                </a:solidFill>
                <a:latin typeface="Calibri"/>
              </a:rPr>
              <a:t>— 308 линий оптика не видит совсем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350" b="0">
                <a:solidFill>
                  <a:srgbClr val="1B2A32"/>
                </a:solidFill>
                <a:latin typeface="Calibri"/>
              </a:rPr>
              <a:t>— α = 90° непригодна: 1003 линии против 701 у суррогата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Слой отдельный и помечен; построен с прежним пределом сдвига 600 м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831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400" b="1">
                <a:solidFill>
                  <a:srgbClr val="1B2A32"/>
                </a:solidFill>
                <a:latin typeface="Cambria"/>
              </a:rPr>
              <a:t>Выводы и ограничения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1097280"/>
            <a:ext cx="1118311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>
                <a:solidFill>
                  <a:srgbClr val="6E7F88"/>
                </a:solidFill>
                <a:latin typeface="Calibri"/>
              </a:rPr>
              <a:t>Что получено, чем подтверждено, чего метод не умеет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544824" cy="32918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2103120"/>
            <a:ext cx="299618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Что получено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1861 линия, 2381 км по зимнему снимку и 563 линии, 749 км по рельефу в слепом секторе. Тракт детерминированный, без обучения.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22064" y="1828800"/>
            <a:ext cx="3544824" cy="32918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96384" y="2103120"/>
            <a:ext cx="299618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Чем подтверждено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Суррогат: 21 линия против 1861. Сдвиговый тест: p = 0.00025 при пороге 0.05 / 92. Устойчивость 0.705. Длина против шума 37 %. Просмотр геолога по окнам.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41208" y="1828800"/>
            <a:ext cx="3544824" cy="3291840"/>
          </a:xfrm>
          <a:prstGeom prst="roundRect">
            <a:avLst>
              <a:gd name="adj" fmla="val 5000"/>
            </a:avLst>
          </a:prstGeom>
          <a:solidFill>
            <a:srgbClr val="F4EF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415528" y="2103120"/>
            <a:ext cx="2996184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900" b="1">
                <a:solidFill>
                  <a:srgbClr val="1B2A32"/>
                </a:solidFill>
                <a:latin typeface="Cambria"/>
              </a:rPr>
              <a:t>Ограничения</a:t>
            </a:r>
          </a:p>
          <a:p>
            <a:pPr algn="l">
              <a:lnSpc>
                <a:spcPct val="125000"/>
              </a:lnSpc>
              <a:spcAft>
                <a:spcPts val="800"/>
              </a:spcAft>
            </a:pPr>
            <a:r>
              <a:rPr sz="1500" b="0">
                <a:solidFill>
                  <a:srgbClr val="1B2A32"/>
                </a:solidFill>
                <a:latin typeface="Calibri"/>
              </a:rPr>
              <a:t>Слепой сектор ±15° у азимута солнца. Объекты шире 2 Δ и мягкие границы тона получают средний отклик. Точность и полнота не измерены.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144768"/>
            <a:ext cx="11183112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>
                <a:solidFill>
                  <a:srgbClr val="6E7F88"/>
                </a:solidFill>
                <a:latin typeface="Calibri"/>
              </a:rPr>
              <a:t>Дальше: слепая разметка для точности и полноты; векторный слой для ГИС; перенос на другой лист с замороженными порогами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