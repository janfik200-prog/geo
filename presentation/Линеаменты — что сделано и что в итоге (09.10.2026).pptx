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9" r:id="rId3"/>
    <p:sldId id="260" r:id="rId4"/>
    <p:sldId id="261" r:id="rId5"/>
    <p:sldId id="262" r:id="rId6"/>
    <p:sldId id="271" r:id="rId7"/>
    <p:sldId id="263" r:id="rId8"/>
    <p:sldId id="264" r:id="rId9"/>
    <p:sldId id="272" r:id="rId10"/>
    <p:sldId id="273" r:id="rId11"/>
    <p:sldId id="274" r:id="rId12"/>
    <p:sldId id="265" r:id="rId13"/>
    <p:sldId id="275" r:id="rId14"/>
    <p:sldId id="266" r:id="rId15"/>
    <p:sldId id="267" r:id="rId16"/>
    <p:sldId id="276" r:id="rId17"/>
    <p:sldId id="277" r:id="rId18"/>
    <p:sldId id="268" r:id="rId19"/>
    <p:sldId id="278" r:id="rId20"/>
    <p:sldId id="269" r:id="rId21"/>
    <p:sldId id="279" r:id="rId22"/>
    <p:sldId id="28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8753" autoAdjust="0"/>
  </p:normalViewPr>
  <p:slideViewPr>
    <p:cSldViewPr snapToGrid="0" snapToObjects="1">
      <p:cViewPr varScale="1">
        <p:scale>
          <a:sx n="65" d="100"/>
          <a:sy n="65" d="100"/>
        </p:scale>
        <p:origin x="23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8527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Доклад о состоянии ветки на 9 октября. Три части: что сделано, почему именно так, и что получилось — включая то, что не получилось.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взяли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зимние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снятые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низком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солнце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Зимой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солнце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восьми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десяти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градусах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горизонтом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невысокий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уступ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бросает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ровный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снег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длинную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узкую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ищем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Снег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закрывает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пестроту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растительности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почвы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чистый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рельеф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выбора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Солнце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зимних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юге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Уступ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вытянутый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вдоль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солнечных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лучей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севера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юг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Это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слепая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полоса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пятнадцать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градусов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стороны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меридиана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спутник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Sentinel-2,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красный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канал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B04,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сетка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 м.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Взято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каждую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четырёх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плиток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покрывающих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лист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Высота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солнца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7.7°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9.6°,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азимут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солнца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около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184°,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юг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высоте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солнца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уступ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высотой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 /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(h):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8.5°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6.7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высоты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уступа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уступ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5 м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бросает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около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33 м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полторы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сетки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Летом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солнце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35°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 м и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попадала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Слепая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полоса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±15°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измерена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врезалась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искусственная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разными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углами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проверялось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углах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детектор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перестаёт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находить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Прежде чем разбирать, как это сделано, — к чему пришли. Карта линеаментов всего листа: красным — линии, найденные по зимнему снимку. Каждая линия найдена дважды, на двух независимых съёмках.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Процесс делится на шесть этапов: от набора сцен до карты линий. Обучаемых моделей нет ни на одном: каждый этап — правило, которое можно объяснить. Дальше — подробно по каждому.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чистый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хорошо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видны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уступов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ещё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независимые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версии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двенадцать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зимних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Приводим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общей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шкале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яркости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среднюю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облако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помеха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попадает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вычитаем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плавный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медленнее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километров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Уходят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общий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наклон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освещения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крупные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светлые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тёмные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области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мелкие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детали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уступов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Параллельно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делим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собираем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листа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понадобятся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шестом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общая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шкала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normalize.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годным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яркости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med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межквартильный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размах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IQR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разность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75-м и 25-м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процентилями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Яркость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пересчитывается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яркость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− med) / (IQR / 1.349).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1.349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превращает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межквартильный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размах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оценку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отклонения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нормального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распределения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IQR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равен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1.349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сигмы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размах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взяты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обычного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отклонения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сдвигаются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нескольких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очень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ярких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очень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тёмных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середине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единичный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разброс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дымкой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другим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солнцем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перетягивает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сведение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складываются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стопку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сортируются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положению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трёх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облако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заметит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годной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хотя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трёх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вычитание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detrend.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сглаживается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гауссовым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фильтром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заменяется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взвешенным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средним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окрестности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убывает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расстоянием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колоколу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Ширина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колокола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сигма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соответствует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характерному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размеру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листа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дыры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искажали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сглаживается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нулями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пропусков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годных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делится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получается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годным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сглаженный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плавный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километра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выбраны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уступа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бывает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склон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километра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рельефа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уступ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build_halves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четырёх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плиток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упорядочиваются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дате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раздаются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третья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А,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попадают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плиток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покрывает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весь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лист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Из-за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трёх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плитку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получается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плюс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восемь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четыре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листа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усреднения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собираются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способом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общая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шкала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вычитание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яркости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делится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межквартильный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размах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поделённый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1.349.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годна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трёх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композита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нормированная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свёртка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сглаживается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произведение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делится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Нормировка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сцены</a:t>
            </a:r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Приведение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общей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шкале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сведением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Откуда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яркость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Iₖ.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нормированная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Ĩₖ,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1.3.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обозначение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Iₖ(x)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яркость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Ĩₖ(x)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нормировки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 Iₖ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яркости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годным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ячейкам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IQR(Iₖ)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межквартильный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размах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разность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75-го и 25-го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процентилей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1.349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отношение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IQR 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стандартному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отклонению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нормального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распределения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читается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яркости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делится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межквартильный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размах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поделённый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1.349.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сняты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дымке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солнце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нормировки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смешала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несравнимые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величины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1.349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превращает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IQR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оценку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отклонения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размах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СКО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несколько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очень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ярких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тёмных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наледь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облако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облака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сдвинули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обычные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оценки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нормировки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робастный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разброс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openlin_winter.py (normalize).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Сведение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</a:t>
            </a:r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Композит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изображение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нескольких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Откуда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нормированные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1.2.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композит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1.4.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обозначение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C(x)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композит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med_k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сценам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n(x)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читается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годна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трёх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гасит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помеху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трёх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попадает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уступов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одинаковом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азимуте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солнца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лежат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сохраняются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n(x) ≥ 3.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и B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собираются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способом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своих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в A — 8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 B — 4,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поэтому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листа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openlin_zone_lines_v3.py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build_halves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Вычитание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фона</a:t>
            </a:r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Композит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убран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плавный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мелкие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детали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уступов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Откуда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композит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1.3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S,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детектор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2).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операция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обозначение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S(x)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композит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фона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C(x)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композит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1.3)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годных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G_σd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гауссово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фона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σ_d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фона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читается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композита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нормированная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свёртка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сглаживается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произведение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делится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сглаженную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годным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листа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пропусков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занижается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контуру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возникает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ложной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выбран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теневая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полоса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заметно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склон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рельефа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уступ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уходил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σ_d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50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1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характерный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детектором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ещё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приводится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шкале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0, IQR/1.349 = 1»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листу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openlin_winter.py (detrend).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отличить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уступа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остального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пятен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склонов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узкая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вытянутая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узнаём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Детектор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смотрит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двадцать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сорок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ловит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тонкие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чуть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широкие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меряет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яркость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изгибается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направлениях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изгиб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резкий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поперёк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нулевой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вдоль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разница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сильным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слабым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изгибом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пятна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изгиб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одинаков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стороны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гаснет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полосы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Последний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сравнение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окрестностью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делится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обычный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километра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слабая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чёткая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ровном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теряется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рядом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контрастным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скальным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участком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светлее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похоже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подготовка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детектором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весь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ещё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приводится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шкале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разброс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единица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способом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standardize.)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изгиб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яркости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ridge_response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Представьте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яркость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рельеф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светлое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высоко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тёмное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низко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уступа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рельефе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узкая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канава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Наклон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рельефа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градиент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кривизна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насколько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быстро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наклон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канавы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наклон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вверх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поперёк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вдоль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канавы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наклон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вообще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практике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Напрямую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вычитанием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соседних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берут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усиливает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шум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сворачивается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гауссова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колокола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операция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одновременно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сглаживает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дифференцирует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колокол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шириной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сигма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выглядит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яма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двумя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валиками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бокам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Свёртка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ставится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каждую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умножаются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складываются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тёмная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полоса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бокам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светло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сумма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получается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получают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кривизна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севера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юг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столбцы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»,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запада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восток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смешанная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показывает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наискосок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образуют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таблицу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× 2,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называется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гессианом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Сигма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(20 м) и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(40 м).)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трёх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чисел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получить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изгиб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поперёк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и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изгиб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вдоль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перебора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таблицы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×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собственных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кривизна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наибольшая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перпендикулярном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наименьшая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λ =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/ 2 ±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 ((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−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/ 2)² + Hrc² ].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Плюс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минус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канавы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кривизна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поперёк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—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около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кривизна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вдоль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σ² × ( |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λ| − |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меньшее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λ| ).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Вычитание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убирает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пятна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круглого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пятна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одинаковы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разность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взяты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устраивает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тёмная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полоса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светлом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светлая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тёмном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Умножение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σ²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сравнивать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шире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получается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σ²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компенсирует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сравнение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окрестностью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local_norm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логарифм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 = ln(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ε),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ε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маленькая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равная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процентилю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листу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брать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логарифм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Логарифм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хвост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несколько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очень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сильных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иначе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определили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разброс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2: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квадратном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×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100 × 100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стандартное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отклонение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величины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годным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3: z = (L − m) / s.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Получается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сигм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обычного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своей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окрестности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весь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ещё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размытые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полосы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Сначала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утончение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Вокруг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образует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полосу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шириной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несколько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оставляем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соседей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поперёк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полосы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Получается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гребень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толщиной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порога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начинается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трёх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процентов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сильных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продолжается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десяти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процентов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сильных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Смысл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слабое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посреди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рвёт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одиночный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слабый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гребень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становится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чистка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короткие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боковые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отростки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срезаются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соседние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куски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соединяются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нигде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падает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порога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продолжения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последнее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измеряются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Кусочки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короче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двухсот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выходе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около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десяти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тысяч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утончение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_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ridge_nms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слегка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сглаживается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гауссовым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фильтром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сигмой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сглаженной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карты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снова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способом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свёрткой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производными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гауссова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колокола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находится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меньшее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собственное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гессиана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λmin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Hxx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)/2 −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 ((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Hxx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−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)/2)² + Hxy² ].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гребне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отрицательное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гребень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поверхность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выпукла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вверх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находится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соответствует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собственный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вектор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координаты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Hxy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λmin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−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Hxx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приводится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единичной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Это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поперёк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гребня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делается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вдоль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вектора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вперёд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назад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точках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карты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обычно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попадают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центрами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поэтому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билинейной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интерполяцией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взвешенным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средним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четырёх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ближайших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λmin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0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соседей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поперёк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исправленную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23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сентября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координаты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вектора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стояли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переставленными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45°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ничего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меняло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вдоль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сетки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севера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юг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запада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восток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поперёк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поворачивалось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90°,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сравнение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вдоль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гребня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поперёк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гребней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выбрасывалась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Измерено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врезкой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искусственных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покрытие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гребнем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азимуте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выросло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39 %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96 %.)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порога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hysteresis8.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годным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листа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hi — 97-й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процентиль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лежат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3 %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lo — 90-й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процентиль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10 %.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Берутся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гребня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z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находятся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связанными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соседи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стороне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углу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восьми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направлениям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хотя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z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Диагональная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связность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сторонам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тонкая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идущая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наискосок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распадалась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чистка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_pieces.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доводится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скелета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толщиной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ровно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скелета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соседей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сосед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конец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середина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узел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ветвления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отросток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кусок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конец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свободный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упирается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узел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трёх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60 м,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срезается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Это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повторяется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трёх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скелет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разрезается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узлах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куски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5: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узле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куски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продолжают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поворотом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35°,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снова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соединяются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проходит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сквозь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узел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боковая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ветка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куском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соединение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мелких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разрывов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link_gaps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куска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последним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пяти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выхода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кусков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соединяются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расстояние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80 м,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отрезок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продолжает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выхода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поворотом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35°,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отрезка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порога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перебираются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ближних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дальним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конец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Это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маленькая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внутренняя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сшивка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детектора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сшивка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четвёртом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_describe и _axis.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рассматриваются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облако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проводится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главная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прямая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вдоль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облако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вытянуто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сильнее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находится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сингулярным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разложением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координат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относительно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расстояние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крайними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проекциями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умноженное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 м.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прямой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изгибам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азимут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угол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севера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180°.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200 м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отбрасываются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трёх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различных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элементов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матрицы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H_rr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H_cc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H_rc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свёртка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соответствующей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гауссиана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Полусумма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диагональных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элементов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плюс-минус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корни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характеристического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уравнения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λ² −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H_rr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H_cc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λ +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H_rr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H_cc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− H_rc²) = 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симметричной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матрицы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× 2.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собственного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меньший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разность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умножается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квадрат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наибольшее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Гессиан</a:t>
            </a:r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Матрица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описание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кривизны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поверхности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яркости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Откуда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композит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ядра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2.2.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2.4.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обозначение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H_ij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(x; σ)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элемент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матрицы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σ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столбцы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композит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1.4)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читается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трёх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различных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элементов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матрицы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H_rr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H_cc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H_rc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свёртка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соответствующей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гауссиана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отвечает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вопрос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куда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растёт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яркость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здесь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изгиб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».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ложбины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равна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нулю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велика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поэтому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полоса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ищется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производным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σ = 1 и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openlin_iso.py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ridge_response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Собственные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числа</a:t>
            </a:r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Кривизны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поверхности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яркости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взаимно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перпендикулярных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главных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направлениях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Откуда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элемента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гессиана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2.3).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2.5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обозначение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λ₁, λ₂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собственные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матрицы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H_rr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H_cc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H_rc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элементы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гессиана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читается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Полусумма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диагональных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элементов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плюс-минус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корни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характеристического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уравнения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λ² −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H_rr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H_cc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λ +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H_rr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H_cc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− H_rc²) = 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симметричной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матрицы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× 2.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Главные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гессиан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находит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поэтому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перебирать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Явная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численного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разложения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из-за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объёма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собственные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листа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вещественны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матрица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симметрична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детектора</a:t>
            </a:r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насколько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окрестность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похожа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узкую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вытянутую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полосу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Откуда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собственные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2.4).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2.7.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обозначение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R(x)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детектора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∣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λ∣max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∣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λ∣min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меньший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собственных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чисел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σ²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нормировка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масштабу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max_σ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наибольшее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масштабам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читается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собственного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меньший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разность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умножается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квадрат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наибольшее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полосы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собственное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велико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поперёк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около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вдоль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разность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велика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изотропного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пятна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равны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разность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нулевая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берутся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тёмная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полоса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светлом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светлая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тёмном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равноправны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Множитель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σ²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сглаженного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сигнала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убывает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ростом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σ,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крупный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всегда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проигрывал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мелкому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 ≥ 0.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openlin_iso.py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ridge_response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Отклик</a:t>
            </a:r>
            <a:r>
              <a:rPr dirty="0"/>
              <a:t> </a:t>
            </a:r>
            <a:r>
              <a:rPr dirty="0" err="1"/>
              <a:t>пересчитывается</a:t>
            </a:r>
            <a:r>
              <a:rPr dirty="0"/>
              <a:t> в </a:t>
            </a:r>
            <a:r>
              <a:rPr dirty="0" err="1"/>
              <a:t>сигмы</a:t>
            </a:r>
            <a:r>
              <a:rPr dirty="0"/>
              <a:t> </a:t>
            </a:r>
            <a:r>
              <a:rPr dirty="0" err="1"/>
              <a:t>местной</a:t>
            </a:r>
            <a:r>
              <a:rPr dirty="0"/>
              <a:t> </a:t>
            </a:r>
            <a:r>
              <a:rPr dirty="0" err="1"/>
              <a:t>окрестности</a:t>
            </a:r>
            <a:r>
              <a:rPr lang="ru-RU" dirty="0"/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логарифма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окну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вокруг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делится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разброс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гребня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z ≥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T_lo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строятся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компоненты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компонента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сохраняется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хотя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z ≥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dirty="0" err="1"/>
              <a:t>Пороги</a:t>
            </a:r>
            <a:r>
              <a:rPr dirty="0"/>
              <a:t> </a:t>
            </a:r>
            <a:r>
              <a:rPr dirty="0" err="1"/>
              <a:t>гистерезиса</a:t>
            </a:r>
            <a:r>
              <a:rPr dirty="0"/>
              <a:t> — </a:t>
            </a:r>
            <a:r>
              <a:rPr dirty="0" err="1"/>
              <a:t>девяностый</a:t>
            </a:r>
            <a:r>
              <a:rPr dirty="0"/>
              <a:t> и </a:t>
            </a:r>
            <a:r>
              <a:rPr dirty="0" err="1"/>
              <a:t>девяносто</a:t>
            </a:r>
            <a:r>
              <a:rPr dirty="0"/>
              <a:t> </a:t>
            </a:r>
            <a:r>
              <a:rPr dirty="0" err="1"/>
              <a:t>седьмой</a:t>
            </a:r>
            <a:r>
              <a:rPr dirty="0"/>
              <a:t> </a:t>
            </a:r>
            <a:r>
              <a:rPr dirty="0" err="1"/>
              <a:t>процентили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листу</a:t>
            </a:r>
            <a:r>
              <a:rPr dirty="0"/>
              <a:t>. </a:t>
            </a:r>
            <a:r>
              <a:rPr dirty="0" err="1"/>
              <a:t>Важно</a:t>
            </a:r>
            <a:r>
              <a:rPr dirty="0"/>
              <a:t>: </a:t>
            </a:r>
            <a:r>
              <a:rPr dirty="0" err="1"/>
              <a:t>пороги</a:t>
            </a:r>
            <a:r>
              <a:rPr dirty="0"/>
              <a:t> </a:t>
            </a:r>
            <a:r>
              <a:rPr dirty="0" err="1"/>
              <a:t>относительные</a:t>
            </a:r>
            <a:r>
              <a:rPr dirty="0"/>
              <a:t>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сами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себе</a:t>
            </a:r>
            <a:r>
              <a:rPr dirty="0"/>
              <a:t> </a:t>
            </a:r>
            <a:r>
              <a:rPr dirty="0" err="1"/>
              <a:t>ничего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доказывают</a:t>
            </a:r>
            <a:r>
              <a:rPr dirty="0"/>
              <a:t>.</a:t>
            </a:r>
            <a:endParaRPr lang="ru-RU" dirty="0"/>
          </a:p>
          <a:p>
            <a:endParaRPr lang="ru-RU" dirty="0"/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Нормировка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окрестности</a:t>
            </a:r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пересчитанный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единицы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разброса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Откуда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2.5),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разброс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2.8).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работают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пороги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сшивка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подтверждение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обозначение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z(x)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нормированный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ln(R + ε)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логарифм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отклика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логарифма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нуля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m_W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s_W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СКО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логарифма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нормировки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читается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логарифма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окну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вокруг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делится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разброс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Контраст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листу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сильно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скальных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участках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везде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пологих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нормировки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выбрал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контрастные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участки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Логарифм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из-за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тяжёлого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хвоста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распределения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разброс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определяли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одна-две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сильные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Побочный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эффект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рядом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очень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контрастными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объектами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слабая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получает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заниженное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 = 2 ×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(100 × 100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ε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процентиль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листу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openlin_iso.py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local_norm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порога</a:t>
            </a:r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Правило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гребня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попадает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сильные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задают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ядро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слабые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достраиваются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рядом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Откуда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гребня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2.9)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куски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гребня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режутся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2.11).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обозначение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T_hi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верхний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ядро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T_lo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нижний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продолжение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Q_0.97, Q_0.90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квантили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годным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листа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читается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гребня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z ≥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T_lo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строятся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компоненты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компонента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сохраняется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хотя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z ≥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рвал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просел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Связность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восьми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направлениям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иначе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тонкая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диагональная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распадалась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Пороги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относительные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квантили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абсолютные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ничего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доказывают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суммарной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гребней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порога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суррогата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отличается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(9296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против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10416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3 % и 10 %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сильных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найдутся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любом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таким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спектром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Доказательство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Q_0.97(z),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T_lo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Q_0.90(z).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openlin_iso.py (hysteresis8).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Утончение</a:t>
            </a:r>
            <a:r>
              <a:rPr dirty="0"/>
              <a:t>: </a:t>
            </a:r>
            <a:r>
              <a:rPr dirty="0" err="1"/>
              <a:t>ячейка</a:t>
            </a:r>
            <a:r>
              <a:rPr dirty="0"/>
              <a:t> </a:t>
            </a:r>
            <a:r>
              <a:rPr dirty="0" err="1"/>
              <a:t>остаётся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меньшее</a:t>
            </a:r>
            <a:r>
              <a:rPr dirty="0"/>
              <a:t> </a:t>
            </a:r>
            <a:r>
              <a:rPr dirty="0" err="1"/>
              <a:t>собственное</a:t>
            </a:r>
            <a:r>
              <a:rPr dirty="0"/>
              <a:t> </a:t>
            </a:r>
            <a:r>
              <a:rPr dirty="0" err="1"/>
              <a:t>число</a:t>
            </a:r>
            <a:r>
              <a:rPr dirty="0"/>
              <a:t> </a:t>
            </a:r>
            <a:r>
              <a:rPr dirty="0" err="1"/>
              <a:t>отрицательно</a:t>
            </a:r>
            <a:r>
              <a:rPr dirty="0"/>
              <a:t> и </a:t>
            </a:r>
            <a:r>
              <a:rPr dirty="0" err="1"/>
              <a:t>значение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меньше</a:t>
            </a:r>
            <a:r>
              <a:rPr dirty="0"/>
              <a:t> </a:t>
            </a:r>
            <a:r>
              <a:rPr dirty="0" err="1"/>
              <a:t>двух</a:t>
            </a:r>
            <a:r>
              <a:rPr dirty="0"/>
              <a:t> </a:t>
            </a:r>
            <a:r>
              <a:rPr dirty="0" err="1"/>
              <a:t>соседей</a:t>
            </a:r>
            <a:r>
              <a:rPr dirty="0"/>
              <a:t> </a:t>
            </a:r>
            <a:r>
              <a:rPr dirty="0" err="1"/>
              <a:t>вдоль</a:t>
            </a:r>
            <a:r>
              <a:rPr dirty="0"/>
              <a:t> </a:t>
            </a:r>
            <a:r>
              <a:rPr dirty="0" err="1"/>
              <a:t>собственного</a:t>
            </a:r>
            <a:r>
              <a:rPr dirty="0"/>
              <a:t> </a:t>
            </a:r>
            <a:r>
              <a:rPr dirty="0" err="1"/>
              <a:t>вектора</a:t>
            </a:r>
            <a:r>
              <a:rPr dirty="0"/>
              <a:t>, </a:t>
            </a:r>
            <a:r>
              <a:rPr dirty="0" err="1"/>
              <a:t>то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поперёк</a:t>
            </a:r>
            <a:r>
              <a:rPr dirty="0"/>
              <a:t> </a:t>
            </a:r>
            <a:r>
              <a:rPr dirty="0" err="1"/>
              <a:t>гребня</a:t>
            </a:r>
            <a:r>
              <a:rPr dirty="0"/>
              <a:t>. </a:t>
            </a:r>
            <a:r>
              <a:rPr dirty="0" err="1"/>
              <a:t>Длина</a:t>
            </a:r>
            <a:r>
              <a:rPr dirty="0"/>
              <a:t> </a:t>
            </a:r>
            <a:r>
              <a:rPr dirty="0" err="1"/>
              <a:t>обрывка</a:t>
            </a:r>
            <a:r>
              <a:rPr dirty="0"/>
              <a:t> — </a:t>
            </a:r>
            <a:r>
              <a:rPr dirty="0" err="1"/>
              <a:t>размах</a:t>
            </a:r>
            <a:r>
              <a:rPr dirty="0"/>
              <a:t> </a:t>
            </a:r>
            <a:r>
              <a:rPr dirty="0" err="1"/>
              <a:t>проекций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главную</a:t>
            </a:r>
            <a:r>
              <a:rPr dirty="0"/>
              <a:t> </a:t>
            </a:r>
            <a:r>
              <a:rPr dirty="0" err="1"/>
              <a:t>ось</a:t>
            </a:r>
            <a:r>
              <a:rPr dirty="0"/>
              <a:t>. </a:t>
            </a:r>
            <a:r>
              <a:rPr dirty="0" err="1"/>
              <a:t>Здесь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была</a:t>
            </a:r>
            <a:r>
              <a:rPr dirty="0"/>
              <a:t> </a:t>
            </a:r>
            <a:r>
              <a:rPr dirty="0" err="1"/>
              <a:t>ошибка</a:t>
            </a:r>
            <a:r>
              <a:rPr dirty="0"/>
              <a:t> с </a:t>
            </a:r>
            <a:r>
              <a:rPr dirty="0" err="1"/>
              <a:t>переставленными</a:t>
            </a:r>
            <a:r>
              <a:rPr dirty="0"/>
              <a:t> </a:t>
            </a:r>
            <a:r>
              <a:rPr dirty="0" err="1"/>
              <a:t>компонентами</a:t>
            </a:r>
            <a:r>
              <a:rPr dirty="0"/>
              <a:t> </a:t>
            </a:r>
            <a:r>
              <a:rPr dirty="0" err="1"/>
              <a:t>вектора</a:t>
            </a:r>
            <a:r>
              <a:rPr dirty="0"/>
              <a:t>, </a:t>
            </a:r>
            <a:r>
              <a:rPr dirty="0" err="1"/>
              <a:t>найденная</a:t>
            </a:r>
            <a:r>
              <a:rPr dirty="0"/>
              <a:t> </a:t>
            </a:r>
            <a:r>
              <a:rPr dirty="0" err="1"/>
              <a:t>врезкой</a:t>
            </a:r>
            <a:r>
              <a:rPr dirty="0"/>
              <a:t>.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Утончение (подавление </a:t>
            </a:r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немаксимумов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это.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Правило, которое оставляет от полосы высокого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только её хребет толщиной в одну ячейку.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Откуда берётся.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Вход — поле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(формула 2.7), слегка сглаженное. Выход — маска гребня, которая идёт в формулу 2.10.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обозначение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ẑ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сглаженное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гауссианом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1 (нормированная свёртка по маске)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H_xx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H_xy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элементы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гессиана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ẑ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λ_min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меньшее собственное число гессиана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ẑ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собственный вектор при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λ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направление поперёк гребня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± v/∣v∣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две точки на расстоянии одной ячейки по обе стороны гребня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читается.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Ячейка остаётся, если поверхность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ẑ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ней выпукла вверх 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λ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0) и значение в ней не меньше, чем в двух соседних точках поперёк гребня.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так.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Вокруг линии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образует полосу в несколько ячеек; без утончения линию нельзя описать как отрезок. Направление поперёк берётся из гессиана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ẑ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это направление наибольшей кривизны. Точки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±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/|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не попадают в центры ячеек, поэтому значения в них берутся билинейной интерполяцией.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23.09.2026 компоненты вектора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коде были переставлены: для линий под 45° это ничего не меняло, а для линий вдоль осей растра направление сравнения поворачивалось на 90°, и около половины ячеек таких гребней терялось. Ошибка найдена врезкой искусственной линии: покрытие её гребнем при азимуте 7° выросло после исправления с 39 % до 96 %.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openlin_lines.py (_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ridge_nms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Длина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обрывка</a:t>
            </a:r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это.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Длина куска линии по прямой, от конца до конца.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Откуда берётся.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Вход — ячейки обрывка после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скелетизации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разрезки. Выход — длина ℓ, по которой идёт отбор обрывков и линий на всех следующих шагах.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обозначение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ℓ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обрывка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главная ось облака ячеек обрывка (первый правый сингулярный вектор матрицы центрированных координат)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p_i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проекция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-й ячейки на ось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x_i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x̄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координаты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-й ячейки и среднее по обрывку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Δ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сетки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читается.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Ячейки обрывка проецируются на его собственное направление; разница крайних проекций, умноженная на шаг сетки, — длина.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так.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Шумовые гребни образуют путаные сети, и по числу ячеек в связной сети снимок от суррогата не отличается (3299 против 3340 сетей длиннее 1 км на уровне 80 %), а по длине прямого куска отличается резко (985 против 7).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Перед измерением: маска гребней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скелетизируется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отростки до 3 ячеек (60 м) с одним свободным концом срезаются, до трёх проходов; скелет режется в узлах, и куски, продолжающие друг друга через узел с поворотом не больше 35°, соединяются обратно; концы ближе 80 м соединяются, если отрезок между ними продолжает оба конца с поворотом не больше 35° и во всех его ячейках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≥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Обрывки короче 200 м отбрасываются; на листе остаётся около 10 тысяч. Код: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openlin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iso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pieces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gaps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describe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openlin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axis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раньше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кончается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уступ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слабом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участке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проваливается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порога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детектор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бросает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возвращает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потерянные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Продлеваем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пятисот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короткого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кусочка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ненадёжно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выдумкой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делаем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двести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шёл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Смотрим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детектора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вдоль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вбок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могла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слегка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отклониться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порога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детектор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продолжает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конец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переносится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вперёд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повторяется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Останавливаемся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слабом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девятьсот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Продлено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2082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535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километров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extend_ends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walk.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1: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главная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крайних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хода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вдоль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наружу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середины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откладываются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900 м.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3: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трёх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соседних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перпендикуляру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ходу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трёх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выбирается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наибольшее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Получается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профиль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вдоль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хода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вышел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профиль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профилю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скользит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10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200 м, и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положении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lo, 90-й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процентиль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положений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подряд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начиная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дают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порога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конец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переносится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старого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проводится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прямой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отрезок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добавляются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пересчитываются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Продление</a:t>
            </a:r>
            <a:r>
              <a:rPr dirty="0"/>
              <a:t>.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конца</a:t>
            </a:r>
            <a:r>
              <a:rPr dirty="0"/>
              <a:t> </a:t>
            </a:r>
            <a:r>
              <a:rPr dirty="0" err="1"/>
              <a:t>строится</a:t>
            </a:r>
            <a:r>
              <a:rPr dirty="0"/>
              <a:t> </a:t>
            </a:r>
            <a:r>
              <a:rPr dirty="0" err="1"/>
              <a:t>профиль</a:t>
            </a:r>
            <a:r>
              <a:rPr dirty="0"/>
              <a:t> </a:t>
            </a:r>
            <a:r>
              <a:rPr dirty="0" err="1"/>
              <a:t>отклика</a:t>
            </a:r>
            <a:r>
              <a:rPr dirty="0"/>
              <a:t> </a:t>
            </a:r>
            <a:r>
              <a:rPr dirty="0" err="1"/>
              <a:t>вдоль</a:t>
            </a:r>
            <a:r>
              <a:rPr dirty="0"/>
              <a:t> </a:t>
            </a:r>
            <a:r>
              <a:rPr dirty="0" err="1"/>
              <a:t>оси</a:t>
            </a:r>
            <a:r>
              <a:rPr dirty="0"/>
              <a:t> с </a:t>
            </a:r>
            <a:r>
              <a:rPr dirty="0" err="1"/>
              <a:t>допуском</a:t>
            </a:r>
            <a:r>
              <a:rPr dirty="0"/>
              <a:t> </a:t>
            </a:r>
            <a:r>
              <a:rPr dirty="0" err="1"/>
              <a:t>одна</a:t>
            </a:r>
            <a:r>
              <a:rPr dirty="0"/>
              <a:t> </a:t>
            </a:r>
            <a:r>
              <a:rPr dirty="0" err="1"/>
              <a:t>ячейка</a:t>
            </a:r>
            <a:r>
              <a:rPr dirty="0"/>
              <a:t> </a:t>
            </a:r>
            <a:r>
              <a:rPr dirty="0" err="1"/>
              <a:t>вбок</a:t>
            </a:r>
            <a:r>
              <a:rPr dirty="0"/>
              <a:t>,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нему</a:t>
            </a:r>
            <a:r>
              <a:rPr dirty="0"/>
              <a:t> </a:t>
            </a:r>
            <a:r>
              <a:rPr dirty="0" err="1"/>
              <a:t>идёт</a:t>
            </a:r>
            <a:r>
              <a:rPr dirty="0"/>
              <a:t> </a:t>
            </a:r>
            <a:r>
              <a:rPr dirty="0" err="1"/>
              <a:t>скользящее</a:t>
            </a:r>
            <a:r>
              <a:rPr dirty="0"/>
              <a:t> </a:t>
            </a:r>
            <a:r>
              <a:rPr dirty="0" err="1"/>
              <a:t>среднее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двести</a:t>
            </a:r>
            <a:r>
              <a:rPr dirty="0"/>
              <a:t> </a:t>
            </a:r>
            <a:r>
              <a:rPr dirty="0" err="1"/>
              <a:t>метров</a:t>
            </a:r>
            <a:r>
              <a:rPr dirty="0"/>
              <a:t>. </a:t>
            </a:r>
            <a:r>
              <a:rPr dirty="0" err="1"/>
              <a:t>Конец</a:t>
            </a:r>
            <a:r>
              <a:rPr dirty="0"/>
              <a:t> </a:t>
            </a:r>
            <a:r>
              <a:rPr dirty="0" err="1"/>
              <a:t>переносится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столько</a:t>
            </a:r>
            <a:r>
              <a:rPr dirty="0"/>
              <a:t> </a:t>
            </a:r>
            <a:r>
              <a:rPr dirty="0" err="1"/>
              <a:t>ячеек</a:t>
            </a:r>
            <a:r>
              <a:rPr dirty="0"/>
              <a:t>, </a:t>
            </a:r>
            <a:r>
              <a:rPr dirty="0" err="1"/>
              <a:t>сколько</a:t>
            </a:r>
            <a:r>
              <a:rPr dirty="0"/>
              <a:t> </a:t>
            </a:r>
            <a:r>
              <a:rPr dirty="0" err="1"/>
              <a:t>окон</a:t>
            </a:r>
            <a:r>
              <a:rPr dirty="0"/>
              <a:t> </a:t>
            </a:r>
            <a:r>
              <a:rPr dirty="0" err="1"/>
              <a:t>подряд</a:t>
            </a:r>
            <a:r>
              <a:rPr dirty="0"/>
              <a:t> </a:t>
            </a:r>
            <a:r>
              <a:rPr dirty="0" err="1"/>
              <a:t>выше</a:t>
            </a:r>
            <a:r>
              <a:rPr dirty="0"/>
              <a:t> </a:t>
            </a:r>
            <a:r>
              <a:rPr dirty="0" err="1"/>
              <a:t>нижнего</a:t>
            </a:r>
            <a:r>
              <a:rPr dirty="0"/>
              <a:t> </a:t>
            </a:r>
            <a:r>
              <a:rPr dirty="0" err="1"/>
              <a:t>порога</a:t>
            </a:r>
            <a:r>
              <a:rPr dirty="0"/>
              <a:t> </a:t>
            </a:r>
            <a:r>
              <a:rPr dirty="0" err="1"/>
              <a:t>детектора</a:t>
            </a:r>
            <a:r>
              <a:rPr dirty="0"/>
              <a:t>.</a:t>
            </a:r>
            <a:endParaRPr lang="ru-RU" dirty="0"/>
          </a:p>
          <a:p>
            <a:endParaRPr lang="ru-RU" dirty="0"/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впереди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конца</a:t>
            </a:r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это.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Средний отклик на участке впереди конца обрывка.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Откуда берётся.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Вход — поле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(формула 2.7), конец и ось обрывка (формулы 2.11–2.12).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правило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остановки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3.2).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обозначение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конец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обрывка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единичный вектор оси, направленный наружу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d⊥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перпендикуляр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оси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номер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вдоль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хода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боковой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допуск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−1, 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+1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ширина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скользящего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окна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z̄_j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средний отклик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-м окне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читается.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каждом шаге вдоль хода берётся наибольшее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трёх ячеек (на оси и по одной вбок); по этим значениям идёт скользящее среднее шириной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так.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Допуск в одну ячейку вбок нужен потому, что ось обрывка определена с погрешностью и через несколько сотен метров ход уходит с линии. Среднее по окну, а не отдельные ячейки — чтобы одна провальная ячейка не останавливала продление, а одна яркая не тянула его в пустоту.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 = 10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200 м.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openlin_trace_extend.py (walk).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Правило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остановки</a:t>
            </a:r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это.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сколько ячеек переносится конец.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Откуда берётся.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Вход — средние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̄_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формулы 3.1 и нижний порог детектора (формула 2.10).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конец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обозначение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j*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сколько ячеек переносится конец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T_lo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нижний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детектора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предел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хода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ячейках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читается.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Конец переносится на столько ячеек, сколько окон подряд, начиная от конца обрывка, дают среднее выше нижнего порога, но не дальше предела хода.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так.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Порог тот же, что у детектора: продление не создаёт линию там, где детектор её не продолжил бы. Продлеваются только достаточно длинные обрывки — у короткого ось определена ненадёжно.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Продлеваются обрывки с ℓ ≥ 500 м; предел хода 45 ячеек (900 м) взят из замера длины продолжений. От старого конца к новому проводится прямой отрезок, длина и азимут пересчитываются. На листе продлено 2082 конца, прибавка 535 км. Код: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openlin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extend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уступ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детектор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видит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кусками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рядом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лежат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чужие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условия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соединить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соседние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соединяются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выполнены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пять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условий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Номера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схеме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соответствуют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списку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расходятся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двадцать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градусов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небольшой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разрыв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концами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вдоль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общего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километра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Третье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малый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сдвиг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вбок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смещены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поперёк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127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Это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главное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условие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отличает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разорванный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объект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соседних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Четвёртое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идут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Пятое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промежутке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концами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детектора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случайном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схеме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сверху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случай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когда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соединять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снизу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случая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когда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нельзя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меряются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разрыв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сдвиг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link_same_side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Кандидаты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200 м.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общее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Это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азимутов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обычное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нельзя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азимуты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175° и 5°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обычное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90°.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Поэтому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углы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удваиваются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синусы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косинусы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синусы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косинусы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усредняются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угол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делится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пополам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строятся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единичных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вектора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вдоль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общего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поперёк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вектор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Разрыв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вдоль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скалярного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произведения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 · u,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умноженный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 м;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сдвиг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вбок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v · n,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умноженный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 м.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Скалярное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произведение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проекции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вектора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условие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проецируются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общее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получается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отрезка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отрезки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перекрываются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60 м,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идут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рядом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другим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отвергается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условие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промежутке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концами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проводится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прямой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отрезок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стороны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отбрасываются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лежат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гребнях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завысили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оценку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остальным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потолка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набор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отрезков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пять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переносится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случайные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сдвигом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случайное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строкам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столбцам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заворачиванием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—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перенесённого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отрезка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Получается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распределение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бывает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отрезком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ничего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соединяет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95-й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процентиль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распределения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случайных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отрезков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условие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проходят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5 %.)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откуда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127 м. Это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единственное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сшивки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взятое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специального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замера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Сделаны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известным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берутся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съёмки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лежат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настоящий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разрыв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идущих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рядом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соседи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Набралось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1982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973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настоящих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разрыва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1009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соседей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Оказалось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различает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признак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боковой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сдвиг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настоящих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разрывов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55 м,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соседей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199 м.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Предел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127 м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разность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соединённых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настоящих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минус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склеенных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соседей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наибольшая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прежнем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пределе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600 м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соединялось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84 %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настоящих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разрывов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59 %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соседей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127 м — 73 % и 18 %.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проценты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завышены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сдвиг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частично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заложен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разметку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поэтому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называть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порядок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величины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откуда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20°.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Разрыв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1192 м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расхождение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взяты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замеров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геометрии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листе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сентябре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распределению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разрывов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соосными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обрывками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округлено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правил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сборки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могла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ветвиться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собраться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зигзагом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случайных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кусков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Порядок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простую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цепочку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Разрешённые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соединяются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очереди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ближних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дальним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сначала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коротким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разрывом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далёкие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конец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участвует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соединении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поэтому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разветвиться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цепочки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боковые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сдвиги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идут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сторону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лесенкой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Зигзаг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прыгает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вправо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влево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запрещён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Цепочка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последнего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идут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пятисот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Получилось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1320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стыков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3171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пятисот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устроено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разрешённые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сортируются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расстоянию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концами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списку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занят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принадлежат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цепочке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замкнуло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кольцо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противоречит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сторона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сдвига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стороне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записанной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цепочкой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порядке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цепочки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объединяются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цепочке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ведётся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структурой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непересекающихся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множеств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»: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ссылка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представителя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своей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цепочки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объединение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представителя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сторону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сдвига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боковой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сдвиг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60 м,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сторона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неопределённой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60 м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пределах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дрожания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запоминается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вправо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влево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общего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Цепочке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приписывается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сторона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стыка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стык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противоположным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знаком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добавляется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цепочки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объединения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цепочки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снова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рассматриваются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облако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проводится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главная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крайними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проекциями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включает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разрывы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обрывками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Сшивка</a:t>
            </a:r>
            <a:r>
              <a:rPr dirty="0"/>
              <a:t>, </a:t>
            </a:r>
            <a:r>
              <a:rPr dirty="0" err="1"/>
              <a:t>геометрия</a:t>
            </a:r>
            <a:r>
              <a:rPr dirty="0"/>
              <a:t>. </a:t>
            </a:r>
            <a:r>
              <a:rPr dirty="0" err="1"/>
              <a:t>Общее</a:t>
            </a:r>
            <a:r>
              <a:rPr dirty="0"/>
              <a:t> </a:t>
            </a:r>
            <a:r>
              <a:rPr dirty="0" err="1"/>
              <a:t>направление</a:t>
            </a:r>
            <a:r>
              <a:rPr dirty="0"/>
              <a:t> </a:t>
            </a:r>
            <a:r>
              <a:rPr dirty="0" err="1"/>
              <a:t>считается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удвоенным</a:t>
            </a:r>
            <a:r>
              <a:rPr dirty="0"/>
              <a:t> </a:t>
            </a:r>
            <a:r>
              <a:rPr dirty="0" err="1"/>
              <a:t>углам</a:t>
            </a:r>
            <a:r>
              <a:rPr dirty="0"/>
              <a:t>. </a:t>
            </a:r>
            <a:r>
              <a:rPr dirty="0" err="1"/>
              <a:t>Вектор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концами</a:t>
            </a:r>
            <a:r>
              <a:rPr dirty="0"/>
              <a:t> </a:t>
            </a:r>
            <a:r>
              <a:rPr dirty="0" err="1"/>
              <a:t>раскладывается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составляющую</a:t>
            </a:r>
            <a:r>
              <a:rPr dirty="0"/>
              <a:t> </a:t>
            </a:r>
            <a:r>
              <a:rPr dirty="0" err="1"/>
              <a:t>вдоль</a:t>
            </a:r>
            <a:r>
              <a:rPr dirty="0"/>
              <a:t> и </a:t>
            </a:r>
            <a:r>
              <a:rPr dirty="0" err="1"/>
              <a:t>поперёк</a:t>
            </a:r>
            <a:r>
              <a:rPr dirty="0"/>
              <a:t>. </a:t>
            </a:r>
            <a:r>
              <a:rPr dirty="0" err="1"/>
              <a:t>Четыре</a:t>
            </a:r>
            <a:r>
              <a:rPr dirty="0"/>
              <a:t> </a:t>
            </a:r>
            <a:r>
              <a:rPr dirty="0" err="1"/>
              <a:t>геометрических</a:t>
            </a:r>
            <a:r>
              <a:rPr dirty="0"/>
              <a:t> </a:t>
            </a:r>
            <a:r>
              <a:rPr dirty="0" err="1"/>
              <a:t>условия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схеме</a:t>
            </a:r>
            <a:r>
              <a:rPr dirty="0"/>
              <a:t> </a:t>
            </a:r>
            <a:r>
              <a:rPr dirty="0" err="1"/>
              <a:t>справа</a:t>
            </a:r>
            <a:r>
              <a:rPr dirty="0"/>
              <a:t>: </a:t>
            </a:r>
            <a:r>
              <a:rPr dirty="0" err="1"/>
              <a:t>единицей</a:t>
            </a:r>
            <a:r>
              <a:rPr dirty="0"/>
              <a:t>, </a:t>
            </a:r>
            <a:r>
              <a:rPr dirty="0" err="1"/>
              <a:t>двойкой</a:t>
            </a:r>
            <a:r>
              <a:rPr dirty="0"/>
              <a:t> и </a:t>
            </a:r>
            <a:r>
              <a:rPr dirty="0" err="1"/>
              <a:t>тройкой</a:t>
            </a:r>
            <a:r>
              <a:rPr dirty="0"/>
              <a:t> </a:t>
            </a:r>
            <a:r>
              <a:rPr dirty="0" err="1"/>
              <a:t>помечены</a:t>
            </a:r>
            <a:r>
              <a:rPr dirty="0"/>
              <a:t> </a:t>
            </a:r>
            <a:r>
              <a:rPr dirty="0" err="1"/>
              <a:t>направление</a:t>
            </a:r>
            <a:r>
              <a:rPr dirty="0"/>
              <a:t>, </a:t>
            </a:r>
            <a:r>
              <a:rPr dirty="0" err="1"/>
              <a:t>разрыв</a:t>
            </a:r>
            <a:r>
              <a:rPr dirty="0"/>
              <a:t> и </a:t>
            </a:r>
            <a:r>
              <a:rPr dirty="0" err="1"/>
              <a:t>сдвиг</a:t>
            </a:r>
            <a:r>
              <a:rPr dirty="0"/>
              <a:t>.</a:t>
            </a:r>
            <a:endParaRPr lang="ru-RU" dirty="0"/>
          </a:p>
          <a:p>
            <a:endParaRPr lang="ru-RU" dirty="0"/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Общее направление пары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это.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Среднее направление двух обрывков.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Откуда берётся.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Вход — азимуты двух обрывков (формула 2.12).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4.2.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обозначение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θ₁, θ₂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азимуты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обрывков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θ̄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общее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читается.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Углы удваиваются, складываются как векторы, и угол суммы делится пополам.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так.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Азимут линии определён по модулю 180°: 175° и 5° почти совпадают, а их арифметическое среднее дало бы 90° — перпендикуляр к обоим. После удвоения 350° и 10° — соседние направления, и векторная сумма даёт правильный ответ.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openlin_zone_lines_v3.py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link_same_side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Разрыв вдоль и сдвиг поперёк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это.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Расстояние между концами двух обрывков, разложенное на две части: вдоль общего направления и поперёк него.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Откуда берётся.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Вход — вектор между концами и векторы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(формула 4.2).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условия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4.4).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обозначение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вектор между концами двух обрывков, в ячейках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g_∥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разрыв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вдоль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g_⊥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боковой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сдвиг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читается.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Вектор между концами проецируется на направление вдоль и поперёк; модули проекций, умноженные на шаг сетки, — разрыв и сдвиг.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так.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Два обрывка одной линии разделены в основном вдоль, два соседних параллельных — в основном поперёк. Одно расстояние между концами этих случаев не различает, разложение — различает.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Пределы — в формуле 4.4.</a:t>
            </a:r>
          </a:p>
          <a:p>
            <a:endParaRPr lang="ru-RU" dirty="0"/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Геометрические условия пары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это.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Четыре условия, при которых пара обрывков может быть соединена.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Откуда берётся.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Вход — азимуты (формула 2.12), разрыв и сдвиг (формула 4.3), перекрытие проекций.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прошедшие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проверяются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отклику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4.5).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обозначение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∣θ₁ − θ₂∣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расхождение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180°)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g_∥, g_⊥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разрыв вдоль и сдвиг поперёк (формула 4.3)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o₁₂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длина перекрытия проекций двух обрывков на направление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читается.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Пара допускается, если направления расходятся не больше чем на 20°, разрыв не длиннее 1192 м, боковой сдвиг не больше 127 м и проекции обрывков перекрываются не больше чем на 60 м.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так.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Последнее условие означает, что обрывки идут друг за другом, а не бок о бок. Предел сдвига — главный разделитель продолжения и соседа (формула 4.6).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20° и 1192 м взяты из распределения геометрии пар соосных обрывков на листе; 127 м — из замера на парах с известным ответом (формула 4.6); 60 м = 3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Δ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Пятое</a:t>
            </a:r>
            <a:r>
              <a:rPr dirty="0"/>
              <a:t> </a:t>
            </a:r>
            <a:r>
              <a:rPr dirty="0" err="1"/>
              <a:t>условие</a:t>
            </a:r>
            <a:r>
              <a:rPr dirty="0"/>
              <a:t> — </a:t>
            </a:r>
            <a:r>
              <a:rPr dirty="0" err="1"/>
              <a:t>отклик</a:t>
            </a:r>
            <a:r>
              <a:rPr dirty="0"/>
              <a:t> в </a:t>
            </a:r>
            <a:r>
              <a:rPr dirty="0" err="1"/>
              <a:t>промежутке</a:t>
            </a:r>
            <a:r>
              <a:rPr dirty="0"/>
              <a:t>: </a:t>
            </a:r>
            <a:r>
              <a:rPr dirty="0" err="1"/>
              <a:t>средний</a:t>
            </a:r>
            <a:r>
              <a:rPr dirty="0"/>
              <a:t> z </a:t>
            </a:r>
            <a:r>
              <a:rPr dirty="0" err="1"/>
              <a:t>вдоль</a:t>
            </a:r>
            <a:r>
              <a:rPr dirty="0"/>
              <a:t> </a:t>
            </a:r>
            <a:r>
              <a:rPr dirty="0" err="1"/>
              <a:t>отрезка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выше</a:t>
            </a:r>
            <a:r>
              <a:rPr dirty="0"/>
              <a:t> </a:t>
            </a:r>
            <a:r>
              <a:rPr dirty="0" err="1"/>
              <a:t>девяносто</a:t>
            </a:r>
            <a:r>
              <a:rPr dirty="0"/>
              <a:t> </a:t>
            </a:r>
            <a:r>
              <a:rPr dirty="0" err="1"/>
              <a:t>пятого</a:t>
            </a:r>
            <a:r>
              <a:rPr dirty="0"/>
              <a:t> </a:t>
            </a:r>
            <a:r>
              <a:rPr dirty="0" err="1"/>
              <a:t>процентиля</a:t>
            </a:r>
            <a:r>
              <a:rPr dirty="0"/>
              <a:t> </a:t>
            </a:r>
            <a:r>
              <a:rPr dirty="0" err="1"/>
              <a:t>того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среднего</a:t>
            </a:r>
            <a:r>
              <a:rPr dirty="0"/>
              <a:t> у </a:t>
            </a:r>
            <a:r>
              <a:rPr dirty="0" err="1"/>
              <a:t>отрезков</a:t>
            </a:r>
            <a:r>
              <a:rPr dirty="0"/>
              <a:t>, </a:t>
            </a:r>
            <a:r>
              <a:rPr dirty="0" err="1"/>
              <a:t>перенесённых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тору</a:t>
            </a:r>
            <a:r>
              <a:rPr dirty="0"/>
              <a:t>. </a:t>
            </a:r>
            <a:r>
              <a:rPr dirty="0" err="1"/>
              <a:t>Предел</a:t>
            </a:r>
            <a:r>
              <a:rPr dirty="0"/>
              <a:t> </a:t>
            </a:r>
            <a:r>
              <a:rPr dirty="0" err="1"/>
              <a:t>сдвига</a:t>
            </a:r>
            <a:r>
              <a:rPr dirty="0"/>
              <a:t> </a:t>
            </a:r>
            <a:r>
              <a:rPr dirty="0" err="1"/>
              <a:t>сто</a:t>
            </a:r>
            <a:r>
              <a:rPr dirty="0"/>
              <a:t> </a:t>
            </a:r>
            <a:r>
              <a:rPr dirty="0" err="1"/>
              <a:t>двадцать</a:t>
            </a:r>
            <a:r>
              <a:rPr dirty="0"/>
              <a:t> </a:t>
            </a:r>
            <a:r>
              <a:rPr dirty="0" err="1"/>
              <a:t>семь</a:t>
            </a:r>
            <a:r>
              <a:rPr dirty="0"/>
              <a:t> </a:t>
            </a:r>
            <a:r>
              <a:rPr dirty="0" err="1"/>
              <a:t>метров</a:t>
            </a:r>
            <a:r>
              <a:rPr dirty="0"/>
              <a:t> </a:t>
            </a:r>
            <a:r>
              <a:rPr dirty="0" err="1"/>
              <a:t>взят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замера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парах</a:t>
            </a:r>
            <a:r>
              <a:rPr dirty="0"/>
              <a:t> с </a:t>
            </a:r>
            <a:r>
              <a:rPr dirty="0" err="1"/>
              <a:t>известным</a:t>
            </a:r>
            <a:r>
              <a:rPr dirty="0"/>
              <a:t> </a:t>
            </a:r>
            <a:r>
              <a:rPr dirty="0" err="1"/>
              <a:t>ответом</a:t>
            </a:r>
            <a:r>
              <a:rPr dirty="0"/>
              <a:t>: </a:t>
            </a:r>
            <a:r>
              <a:rPr dirty="0" err="1"/>
              <a:t>максимум</a:t>
            </a:r>
            <a:r>
              <a:rPr dirty="0"/>
              <a:t> </a:t>
            </a:r>
            <a:r>
              <a:rPr dirty="0" err="1"/>
              <a:t>разности</a:t>
            </a:r>
            <a:r>
              <a:rPr dirty="0"/>
              <a:t> </a:t>
            </a:r>
            <a:r>
              <a:rPr dirty="0" err="1"/>
              <a:t>долей</a:t>
            </a:r>
            <a:r>
              <a:rPr dirty="0"/>
              <a:t> </a:t>
            </a:r>
            <a:r>
              <a:rPr dirty="0" err="1"/>
              <a:t>верных</a:t>
            </a:r>
            <a:r>
              <a:rPr dirty="0"/>
              <a:t> и </a:t>
            </a:r>
            <a:r>
              <a:rPr dirty="0" err="1"/>
              <a:t>ложных</a:t>
            </a:r>
            <a:r>
              <a:rPr dirty="0"/>
              <a:t> </a:t>
            </a:r>
            <a:r>
              <a:rPr dirty="0" err="1"/>
              <a:t>соединений</a:t>
            </a:r>
            <a:r>
              <a:rPr dirty="0"/>
              <a:t>. </a:t>
            </a:r>
            <a:r>
              <a:rPr dirty="0" err="1"/>
              <a:t>Проценты</a:t>
            </a:r>
            <a:r>
              <a:rPr dirty="0"/>
              <a:t> </a:t>
            </a:r>
            <a:r>
              <a:rPr dirty="0" err="1"/>
              <a:t>завышены</a:t>
            </a:r>
            <a:r>
              <a:rPr dirty="0"/>
              <a:t>: </a:t>
            </a:r>
            <a:r>
              <a:rPr dirty="0" err="1"/>
              <a:t>сдвиг</a:t>
            </a:r>
            <a:r>
              <a:rPr dirty="0"/>
              <a:t> </a:t>
            </a:r>
            <a:r>
              <a:rPr dirty="0" err="1"/>
              <a:t>частично</a:t>
            </a:r>
            <a:r>
              <a:rPr dirty="0"/>
              <a:t> </a:t>
            </a:r>
            <a:r>
              <a:rPr dirty="0" err="1"/>
              <a:t>входит</a:t>
            </a:r>
            <a:r>
              <a:rPr dirty="0"/>
              <a:t> в </a:t>
            </a:r>
            <a:r>
              <a:rPr dirty="0" err="1"/>
              <a:t>саму</a:t>
            </a:r>
            <a:r>
              <a:rPr dirty="0"/>
              <a:t> </a:t>
            </a:r>
            <a:r>
              <a:rPr dirty="0" err="1"/>
              <a:t>разметку</a:t>
            </a:r>
            <a:r>
              <a:rPr dirty="0"/>
              <a:t> </a:t>
            </a:r>
            <a:r>
              <a:rPr dirty="0" err="1"/>
              <a:t>пар</a:t>
            </a:r>
            <a:r>
              <a:rPr dirty="0"/>
              <a:t>.</a:t>
            </a:r>
            <a:endParaRPr lang="ru-RU" dirty="0"/>
          </a:p>
          <a:p>
            <a:endParaRPr lang="ru-RU" dirty="0"/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Опора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мостика</a:t>
            </a:r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это.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Пятое условие: в промежутке между концами должен быть отклик выше случайного.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Откуда берётся.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Вход — поле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(формула 2.7) и прямой отрезок между концами пары.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прошедшие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пять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условий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идут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сборку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цепочек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обозначение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 прямого отрезка между концами, без двух ячеек у каждого конца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B(P)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средний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 этим ячейкам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s_m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случайный сдвиг отрезка по полю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заворачиванием через край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Q_0.95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95-й процентиль по сдвинутым отрезкам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читается.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Средний отклик под мостиком должен быть выше 95-го процентиля среднего отклика под такими же отрезками, перенесёнными в случайные места.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так.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Две ячейки у концов исключены: они лежат на самих гребнях и завысили бы оценку. Сдвинутый отрезок имеет ту же длину и ориентацию, но ничего не соединяет; распределение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 сдвигам — это то, каким бывает средний отклик «ни под чем». Порог по 95-му процентилю означает, что случайный отрезок проходит условие в 5 % случаев.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Пять переносов, сдвиг не меньше 200 ячеек.</a:t>
            </a:r>
          </a:p>
          <a:p>
            <a:endParaRPr lang="ru-RU" dirty="0"/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Откуда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предел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сдвига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127 м</a:t>
            </a:r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это.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Выбор предела бокового сдвига по парам обрывков с известным ответом.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Откуда берётся.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Вход — пары-близнецы, построенные по двум половинам съёмки.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Выход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предел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g_⊥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4.4.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обозначение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TPR(t)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доля верно соединённых разрывов при пределе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FPR(t)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доля ложно соединённых соседей при пределе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g_⊥*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предел, при котором разность наибольшая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читается.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Перебираются пределы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выбирается тот, при котором доля верно соединённых разрывов больше всего превышает долю ложно соединённых соседей.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так.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Пары с известным ответом строятся так: обрывки — из одной половины съёмки, ответ — из другой. Положительная пара — оба обрывка лежат на одной цельной линии другой половины: там разрыва нет, значит здесь он возник из-за шума. Отрицательная — обрывки на двух разных линиях другой половины, идущих рядом (проекции перекрываются больше чем на 60 м, расстояние между линиями не меньше 60 м). По 12 признакам пары подобраны логистическая регрессия и градиентный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бустинг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проверкой на отложенных блоках листа. Различение почти целиком дал один признак — боковой сдвиг; вклад остальных, включая отклик в промежутке, на порядок меньше. Поэтому вместо модели взят один порог.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973 положительных и 1009 отрицательных пар; медиана сдвига 55 м у разрывов и 199 м у соседей.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_⊥* = 127 м; максимум пологий: в диапазоне 112–137 м разность меняется меньше чем на 0.01. При 127 м соединяется 73 % разрывов и 18 % соседей; при прежнем пределе 600 м — 84 % и 59 %. Оговорка: проценты завышены — сдвиг частично входит в саму разметку (положительная пара по определению лежит в 60 м от одной линии), поэтому они годятся как оценка масштаба, а набор в целом судят независимые проверки шага 7. Сборка цепочек: пары сортируются по расстоянию между концами и перебираются от ближних; пара соединяется, если оба конца свободны, обрывки ещё не в одной цепочке и знак сдвига не противоречит знаку цепочки (при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_⊥ &lt; 60 м знак не проверяется). Длина цепочки меряется по формуле 2.11 по всем её ячейкам; дальше идут линии с ℓ ≥ 500 м. Результат: 1320 стыков, 3171 линия.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openlin_zone_lines_v3.py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link_same_side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openlin_twins.py, openlin_twins_fit.py.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граница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выглядит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идеально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прямая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съёмки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рельеф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мостик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сдвинутыми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кусками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догадка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находка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карте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должно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остаться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действительно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найдено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Сначала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швов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Это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покрывающих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границы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яркость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ступенькой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детектор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принимает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ступеньку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лежит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ближе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шву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вдоль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убирается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пересекает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мостики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Когда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сшивка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соединяет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обрывки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сдвинутые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вбок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шестьдесят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отрезок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найденный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объект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наша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догадка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отрезки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карты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Цепочка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Убрано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11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вдоль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швов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274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километра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мостиков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швов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сведении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сохраняется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покрывают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помечается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соседа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справа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снизу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швам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добавляются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листа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drop_seam_lines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расстояний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листа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расстояние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ближайшей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расстояние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100 м.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Берутся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рядом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серединой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проводится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главная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местное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убирается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азимут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отличается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азимута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20°.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пересекает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идёт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углом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сохраняется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короткая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лежит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рядом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швом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мостики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сшивки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стыка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запоминаются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прямого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отрезка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концами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стыка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боковой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сдвиг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60 м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записываются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список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пятом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вычитаются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остаётся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цепочкой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прежней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карте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расчёте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подтверждения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участвуют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найденные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куски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Мостики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сдвиге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60 м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прямое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продолжение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Пятый</a:t>
            </a:r>
            <a:r>
              <a:rPr dirty="0"/>
              <a:t> </a:t>
            </a:r>
            <a:r>
              <a:rPr dirty="0" err="1"/>
              <a:t>этап</a:t>
            </a:r>
            <a:r>
              <a:rPr dirty="0"/>
              <a:t>. </a:t>
            </a:r>
            <a:r>
              <a:rPr dirty="0" err="1"/>
              <a:t>Шов</a:t>
            </a:r>
            <a:r>
              <a:rPr dirty="0"/>
              <a:t> — </a:t>
            </a:r>
            <a:r>
              <a:rPr dirty="0" err="1"/>
              <a:t>место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меняется</a:t>
            </a:r>
            <a:r>
              <a:rPr dirty="0"/>
              <a:t> </a:t>
            </a:r>
            <a:r>
              <a:rPr dirty="0" err="1"/>
              <a:t>число</a:t>
            </a:r>
            <a:r>
              <a:rPr dirty="0"/>
              <a:t> </a:t>
            </a:r>
            <a:r>
              <a:rPr dirty="0" err="1"/>
              <a:t>сцен</a:t>
            </a:r>
            <a:r>
              <a:rPr dirty="0"/>
              <a:t> в </a:t>
            </a:r>
            <a:r>
              <a:rPr dirty="0" err="1"/>
              <a:t>композите</a:t>
            </a:r>
            <a:r>
              <a:rPr dirty="0"/>
              <a:t>: </a:t>
            </a:r>
            <a:r>
              <a:rPr dirty="0" err="1"/>
              <a:t>там</a:t>
            </a:r>
            <a:r>
              <a:rPr dirty="0"/>
              <a:t> </a:t>
            </a:r>
            <a:r>
              <a:rPr dirty="0" err="1"/>
              <a:t>ступенька</a:t>
            </a:r>
            <a:r>
              <a:rPr dirty="0"/>
              <a:t> </a:t>
            </a:r>
            <a:r>
              <a:rPr dirty="0" err="1"/>
              <a:t>яркости</a:t>
            </a:r>
            <a:r>
              <a:rPr dirty="0"/>
              <a:t>. </a:t>
            </a:r>
            <a:r>
              <a:rPr dirty="0" err="1"/>
              <a:t>Линия</a:t>
            </a:r>
            <a:r>
              <a:rPr dirty="0"/>
              <a:t> </a:t>
            </a:r>
            <a:r>
              <a:rPr dirty="0" err="1"/>
              <a:t>убирается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больше</a:t>
            </a:r>
            <a:r>
              <a:rPr dirty="0"/>
              <a:t> </a:t>
            </a:r>
            <a:r>
              <a:rPr dirty="0" err="1"/>
              <a:t>половины</a:t>
            </a:r>
            <a:r>
              <a:rPr dirty="0"/>
              <a:t> </a:t>
            </a:r>
            <a:r>
              <a:rPr dirty="0" err="1"/>
              <a:t>её</a:t>
            </a:r>
            <a:r>
              <a:rPr dirty="0"/>
              <a:t> </a:t>
            </a:r>
            <a:r>
              <a:rPr dirty="0" err="1"/>
              <a:t>длины</a:t>
            </a:r>
            <a:r>
              <a:rPr dirty="0"/>
              <a:t> </a:t>
            </a:r>
            <a:r>
              <a:rPr dirty="0" err="1"/>
              <a:t>лежит</a:t>
            </a:r>
            <a:r>
              <a:rPr dirty="0"/>
              <a:t> в </a:t>
            </a:r>
            <a:r>
              <a:rPr dirty="0" err="1"/>
              <a:t>ста</a:t>
            </a:r>
            <a:r>
              <a:rPr dirty="0"/>
              <a:t> </a:t>
            </a:r>
            <a:r>
              <a:rPr dirty="0" err="1"/>
              <a:t>метрах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шва</a:t>
            </a:r>
            <a:r>
              <a:rPr dirty="0"/>
              <a:t> и </a:t>
            </a:r>
            <a:r>
              <a:rPr dirty="0" err="1"/>
              <a:t>её</a:t>
            </a:r>
            <a:r>
              <a:rPr dirty="0"/>
              <a:t> </a:t>
            </a:r>
            <a:r>
              <a:rPr dirty="0" err="1"/>
              <a:t>азимут</a:t>
            </a:r>
            <a:r>
              <a:rPr dirty="0"/>
              <a:t> </a:t>
            </a:r>
            <a:r>
              <a:rPr dirty="0" err="1"/>
              <a:t>совпадает</a:t>
            </a:r>
            <a:r>
              <a:rPr dirty="0"/>
              <a:t> с </a:t>
            </a:r>
            <a:r>
              <a:rPr dirty="0" err="1"/>
              <a:t>направлением</a:t>
            </a:r>
            <a:r>
              <a:rPr dirty="0"/>
              <a:t> </a:t>
            </a:r>
            <a:r>
              <a:rPr dirty="0" err="1"/>
              <a:t>шва</a:t>
            </a:r>
            <a:r>
              <a:rPr dirty="0"/>
              <a:t>. </a:t>
            </a:r>
            <a:r>
              <a:rPr dirty="0" err="1"/>
              <a:t>Мостики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сдвинутыми</a:t>
            </a:r>
            <a:r>
              <a:rPr dirty="0"/>
              <a:t> </a:t>
            </a:r>
            <a:r>
              <a:rPr dirty="0" err="1"/>
              <a:t>кусками</a:t>
            </a:r>
            <a:r>
              <a:rPr dirty="0"/>
              <a:t> с </a:t>
            </a:r>
            <a:r>
              <a:rPr dirty="0" err="1"/>
              <a:t>карты</a:t>
            </a:r>
            <a:r>
              <a:rPr dirty="0"/>
              <a:t> </a:t>
            </a:r>
            <a:r>
              <a:rPr dirty="0" err="1"/>
              <a:t>снимаются</a:t>
            </a:r>
            <a:r>
              <a:rPr dirty="0"/>
              <a:t>.</a:t>
            </a:r>
            <a:endParaRPr lang="ru-RU" dirty="0"/>
          </a:p>
          <a:p>
            <a:endParaRPr lang="ru-RU" dirty="0"/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вдоль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шва</a:t>
            </a:r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это.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Условие, при котором линия считается следом шва съёмки и убирается.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Откуда берётся.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Вход — линии после сшивки и карта швов. Шов — ячейки, у правого или нижнего соседа которых другое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(формула 1.3), плюс край данных.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обозначение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d_s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евклидово расстояние от ячейки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ближайшей ячейки шва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θ_L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азимут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θ_s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местное направление шва: главная ось ячеек шва вблизи середины линии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читается.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Линия убирается, если не меньше половины её ячеек лежит в 100 м от шва и её направление отличается от направления шва не больше чем на 20°.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так.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Второе условие существенно: линия, которая шов пересекает или подходит к нему под углом, — не след шва и сохраняется.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100 м и доля 0.5 — по замеру на листе; 20° — та же терпимость, что у сшивки. Мостики: отрезок между обрывками, сдвинутыми вбок на 60 м и больше, детектором не найден — это достройка; его ячейки снимаются с карты и не участвуют в подтверждении, цепочка остаётся одной линией с прежней длиной. Мостики при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_⊥ &lt; 60 м (прямое продолжение) остаются. Убрано 11 линий вдоль швов и 274 км мостиков.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openlin_zone_lines_v3.py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drop_seam_lines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пяти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ещё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случайных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Случайный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рисунок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съёмках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разный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уступ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разделяем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съёмки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проходит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поиск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Получаются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независимых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набора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основного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лежит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шестидесяти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подтверждена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тридцати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процентов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меньшего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бывает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видна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кусками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Остальные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выбрасываются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помечаются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найденные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подтверждённые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3171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подтверждена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1861.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составляет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карту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готовятся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проходит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поиск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берутся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500 м.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Продления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концов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сшивки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сделано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намеренно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проверено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замером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пропускать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весь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тракт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набор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становится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богаче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совпасть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становится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легче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случайные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начинают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подтверждаться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заметно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чаще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настоящие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выигрывают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рядом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select2.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рисуются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равна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единице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проходит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строится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расстояний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листа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расстояние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ближайшей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проверяемой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берутся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карты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расстояний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считается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расстояние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60 м.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подтверждена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меньше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0.3.)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60 м и 30 %. 60 м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ячейки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столько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положение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отличаться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съёмками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из-за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шума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30 %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потому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вторая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листа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состоит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рвутся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требовать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совпадения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значило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терять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настоящие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цифры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снимке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подтверждение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проходят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58.7 %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1861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3171.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двойниках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2.8 %,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среднем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21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729. Это 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основание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говорить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настоящие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подтверждаются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двадцать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чаще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случайных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Шестой</a:t>
            </a:r>
            <a:r>
              <a:rPr dirty="0"/>
              <a:t> </a:t>
            </a:r>
            <a:r>
              <a:rPr dirty="0" err="1"/>
              <a:t>этап</a:t>
            </a:r>
            <a:r>
              <a:rPr dirty="0"/>
              <a:t>, </a:t>
            </a:r>
            <a:r>
              <a:rPr dirty="0" err="1"/>
              <a:t>главный</a:t>
            </a:r>
            <a:r>
              <a:rPr dirty="0"/>
              <a:t> </a:t>
            </a:r>
            <a:r>
              <a:rPr dirty="0" err="1"/>
              <a:t>фильтр</a:t>
            </a:r>
            <a:r>
              <a:rPr dirty="0"/>
              <a:t>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линии</a:t>
            </a:r>
            <a:r>
              <a:rPr dirty="0"/>
              <a:t> </a:t>
            </a:r>
            <a:r>
              <a:rPr dirty="0" err="1"/>
              <a:t>считается</a:t>
            </a:r>
            <a:r>
              <a:rPr dirty="0"/>
              <a:t> </a:t>
            </a:r>
            <a:r>
              <a:rPr dirty="0" err="1"/>
              <a:t>доля</a:t>
            </a:r>
            <a:r>
              <a:rPr dirty="0"/>
              <a:t> </a:t>
            </a:r>
            <a:r>
              <a:rPr dirty="0" err="1"/>
              <a:t>ячеек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дальше</a:t>
            </a:r>
            <a:r>
              <a:rPr dirty="0"/>
              <a:t> </a:t>
            </a:r>
            <a:r>
              <a:rPr dirty="0" err="1"/>
              <a:t>шестидесяти</a:t>
            </a:r>
            <a:r>
              <a:rPr dirty="0"/>
              <a:t> </a:t>
            </a:r>
            <a:r>
              <a:rPr dirty="0" err="1"/>
              <a:t>метров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линий</a:t>
            </a:r>
            <a:r>
              <a:rPr dirty="0"/>
              <a:t> </a:t>
            </a:r>
            <a:r>
              <a:rPr dirty="0" err="1"/>
              <a:t>каждой</a:t>
            </a:r>
            <a:r>
              <a:rPr dirty="0"/>
              <a:t> </a:t>
            </a:r>
            <a:r>
              <a:rPr dirty="0" err="1"/>
              <a:t>половины</a:t>
            </a:r>
            <a:r>
              <a:rPr dirty="0"/>
              <a:t>; </a:t>
            </a:r>
            <a:r>
              <a:rPr dirty="0" err="1"/>
              <a:t>обе</a:t>
            </a:r>
            <a:r>
              <a:rPr dirty="0"/>
              <a:t> </a:t>
            </a:r>
            <a:r>
              <a:rPr dirty="0" err="1"/>
              <a:t>доли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меньше</a:t>
            </a:r>
            <a:r>
              <a:rPr dirty="0"/>
              <a:t> </a:t>
            </a:r>
            <a:r>
              <a:rPr dirty="0" err="1"/>
              <a:t>трёх</a:t>
            </a:r>
            <a:r>
              <a:rPr dirty="0"/>
              <a:t> </a:t>
            </a:r>
            <a:r>
              <a:rPr dirty="0" err="1"/>
              <a:t>десятых</a:t>
            </a:r>
            <a:r>
              <a:rPr dirty="0"/>
              <a:t>.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снимке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проходят</a:t>
            </a:r>
            <a:r>
              <a:rPr dirty="0"/>
              <a:t> </a:t>
            </a:r>
            <a:r>
              <a:rPr dirty="0" err="1"/>
              <a:t>пятьдесят</a:t>
            </a:r>
            <a:r>
              <a:rPr dirty="0"/>
              <a:t> </a:t>
            </a:r>
            <a:r>
              <a:rPr dirty="0" err="1"/>
              <a:t>девять</a:t>
            </a:r>
            <a:r>
              <a:rPr dirty="0"/>
              <a:t> </a:t>
            </a:r>
            <a:r>
              <a:rPr dirty="0" err="1"/>
              <a:t>процентов</a:t>
            </a:r>
            <a:r>
              <a:rPr dirty="0"/>
              <a:t> </a:t>
            </a:r>
            <a:r>
              <a:rPr dirty="0" err="1"/>
              <a:t>линий</a:t>
            </a:r>
            <a:r>
              <a:rPr dirty="0"/>
              <a:t>,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суррогате</a:t>
            </a:r>
            <a:r>
              <a:rPr dirty="0"/>
              <a:t> — </a:t>
            </a:r>
            <a:r>
              <a:rPr dirty="0" err="1"/>
              <a:t>три</a:t>
            </a:r>
            <a:r>
              <a:rPr dirty="0"/>
              <a:t>.</a:t>
            </a:r>
            <a:endParaRPr lang="ru-RU" dirty="0"/>
          </a:p>
          <a:p>
            <a:endParaRPr lang="ru-RU" dirty="0"/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Доля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подтверждённой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длины</a:t>
            </a:r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это.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Какая доля длины линии лежит рядом с линиями каждой половины, и правило подтверждения.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Откуда берётся.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Каждая половина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проходит только детектор (шаг 2); берутся её линии с ℓ ≥ 500 м. Линии рисуются в маску, по маске строится карта расстояний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Выход — отметка подтверждения и вход для проверок шага 7.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обозначение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половина съёмки: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d_h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расстояние от ячейки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ближайшей ячейки линии половины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f_h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доля ячеек линии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лежащих не дальше 60 м от линий половины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∣L∣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ячеек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линии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читается.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каждой половины считается доля ячеек линии, лежащих в 60 м от её линий; линия подтверждена, если меньшая из двух долей не меньше 0.3.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так.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Нужны обе половины по отдельности. Допуск в 60 м — потому что положение одной и той же линии расходится между съёмками. Доля 0.3, а не вся длина — потому что во второй половине, собранной из меньшего числа сцен, линия часто видна кусками. Половины намеренно не проходят продление и сшивку: при более богатом эталоне подтверждение становится «дешевле» для любой линии, и у суррогата доля подтверждённых растёт быстрее, чем у снимка (мусор 52.5 % и 20.7 % против рабочих 5–8 %).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60 м = 3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Δ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Подтверждена 1861 линия из 3171 (58.7 %); на суррогатах — 21 из 729 (2.8 %). Неподтверждённые линии не выбрасываются, а помечаются. Код: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openlin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Коротко</a:t>
            </a:r>
            <a:r>
              <a:rPr dirty="0"/>
              <a:t>. </a:t>
            </a:r>
            <a:r>
              <a:rPr dirty="0" err="1"/>
              <a:t>Карта</a:t>
            </a:r>
            <a:r>
              <a:rPr dirty="0"/>
              <a:t> </a:t>
            </a:r>
            <a:r>
              <a:rPr dirty="0" err="1"/>
              <a:t>линеаментов</a:t>
            </a:r>
            <a:r>
              <a:rPr dirty="0"/>
              <a:t> </a:t>
            </a:r>
            <a:r>
              <a:rPr dirty="0" err="1"/>
              <a:t>листа</a:t>
            </a:r>
            <a:r>
              <a:rPr dirty="0"/>
              <a:t> </a:t>
            </a:r>
            <a:r>
              <a:rPr dirty="0" err="1"/>
              <a:t>построена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 и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дополнительных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 </a:t>
            </a:r>
            <a:r>
              <a:rPr dirty="0" err="1"/>
              <a:t>Каждая</a:t>
            </a:r>
            <a:r>
              <a:rPr dirty="0"/>
              <a:t> </a:t>
            </a:r>
            <a:r>
              <a:rPr dirty="0" err="1"/>
              <a:t>линия</a:t>
            </a:r>
            <a:r>
              <a:rPr dirty="0"/>
              <a:t> </a:t>
            </a:r>
            <a:r>
              <a:rPr dirty="0" err="1"/>
              <a:t>подтверждена</a:t>
            </a:r>
            <a:r>
              <a:rPr dirty="0"/>
              <a:t> </a:t>
            </a:r>
            <a:r>
              <a:rPr dirty="0" err="1"/>
              <a:t>второй</a:t>
            </a:r>
            <a:r>
              <a:rPr dirty="0"/>
              <a:t> </a:t>
            </a:r>
            <a:r>
              <a:rPr dirty="0" err="1"/>
              <a:t>съёмкой</a:t>
            </a:r>
            <a:r>
              <a:rPr dirty="0"/>
              <a:t>, а </a:t>
            </a:r>
            <a:r>
              <a:rPr dirty="0" err="1"/>
              <a:t>набор</a:t>
            </a:r>
            <a:r>
              <a:rPr dirty="0"/>
              <a:t> — </a:t>
            </a:r>
            <a:r>
              <a:rPr dirty="0" err="1"/>
              <a:t>проверками</a:t>
            </a:r>
            <a:r>
              <a:rPr dirty="0"/>
              <a:t> и </a:t>
            </a:r>
            <a:r>
              <a:rPr dirty="0" err="1"/>
              <a:t>просмотром</a:t>
            </a:r>
            <a:r>
              <a:rPr dirty="0"/>
              <a:t> </a:t>
            </a:r>
            <a:r>
              <a:rPr dirty="0" err="1"/>
              <a:t>геолога</a:t>
            </a:r>
            <a:r>
              <a:rPr dirty="0"/>
              <a:t>. </a:t>
            </a:r>
            <a:r>
              <a:rPr dirty="0" err="1"/>
              <a:t>Метод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достаёт</a:t>
            </a:r>
            <a:r>
              <a:rPr dirty="0"/>
              <a:t> </a:t>
            </a:r>
            <a:r>
              <a:rPr dirty="0" err="1"/>
              <a:t>слабые</a:t>
            </a:r>
            <a:r>
              <a:rPr dirty="0"/>
              <a:t> </a:t>
            </a:r>
            <a:r>
              <a:rPr dirty="0" err="1"/>
              <a:t>мягкие</a:t>
            </a:r>
            <a:r>
              <a:rPr dirty="0"/>
              <a:t> </a:t>
            </a:r>
            <a:r>
              <a:rPr dirty="0" err="1"/>
              <a:t>границы</a:t>
            </a:r>
            <a:r>
              <a:rPr dirty="0"/>
              <a:t>, и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точность</a:t>
            </a:r>
            <a:r>
              <a:rPr dirty="0"/>
              <a:t> в </a:t>
            </a:r>
            <a:r>
              <a:rPr dirty="0" err="1"/>
              <a:t>процентах</a:t>
            </a:r>
            <a:r>
              <a:rPr dirty="0"/>
              <a:t> </a:t>
            </a:r>
            <a:r>
              <a:rPr dirty="0" err="1"/>
              <a:t>пока</a:t>
            </a:r>
            <a:r>
              <a:rPr dirty="0"/>
              <a:t> </a:t>
            </a:r>
            <a:r>
              <a:rPr dirty="0" err="1"/>
              <a:t>неизвестна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0"/>
            <a:ext cx="11183112" cy="771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600" b="1" dirty="0" err="1">
                <a:solidFill>
                  <a:srgbClr val="1B2A32"/>
                </a:solidFill>
                <a:latin typeface="Cambria"/>
              </a:rPr>
              <a:t>Линеаменты</a:t>
            </a:r>
            <a:r>
              <a:rPr sz="4600" b="1" dirty="0">
                <a:solidFill>
                  <a:srgbClr val="1B2A32"/>
                </a:solidFill>
                <a:latin typeface="Cambria"/>
              </a:rPr>
              <a:t> </a:t>
            </a:r>
            <a:r>
              <a:rPr sz="4600" b="1" dirty="0" err="1">
                <a:solidFill>
                  <a:srgbClr val="1B2A32"/>
                </a:solidFill>
                <a:latin typeface="Cambria"/>
              </a:rPr>
              <a:t>по</a:t>
            </a:r>
            <a:r>
              <a:rPr lang="ru-RU" sz="4600" b="1" dirty="0">
                <a:solidFill>
                  <a:srgbClr val="1B2A32"/>
                </a:solidFill>
                <a:latin typeface="Cambria"/>
              </a:rPr>
              <a:t> </a:t>
            </a:r>
            <a:r>
              <a:rPr sz="4600" b="1" dirty="0" err="1">
                <a:solidFill>
                  <a:srgbClr val="1B2A32"/>
                </a:solidFill>
                <a:latin typeface="Cambria"/>
              </a:rPr>
              <a:t>космоснимку</a:t>
            </a:r>
            <a:endParaRPr sz="4600" b="1" dirty="0">
              <a:solidFill>
                <a:srgbClr val="1B2A32"/>
              </a:solidFill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3154680"/>
            <a:ext cx="111831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C15B33"/>
                </a:solidFill>
                <a:latin typeface="Cambria"/>
              </a:rPr>
              <a:t>Что сделано, почему сделано, что в итоге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06440"/>
            <a:ext cx="11183112" cy="5557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dirty="0">
                <a:solidFill>
                  <a:srgbClr val="6E7F88"/>
                </a:solidFill>
                <a:latin typeface="Calibri"/>
              </a:rPr>
              <a:t>ФГБУ «ВНИГНИ», </a:t>
            </a:r>
            <a:r>
              <a:rPr sz="1500" b="0" dirty="0" err="1">
                <a:solidFill>
                  <a:srgbClr val="6E7F88"/>
                </a:solidFill>
                <a:latin typeface="Calibri"/>
              </a:rPr>
              <a:t>Отделение</a:t>
            </a:r>
            <a:r>
              <a:rPr sz="1500" b="0" dirty="0">
                <a:solidFill>
                  <a:srgbClr val="6E7F88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6E7F88"/>
                </a:solidFill>
                <a:latin typeface="Calibri"/>
              </a:rPr>
              <a:t>геоинформатики</a:t>
            </a:r>
            <a:r>
              <a:rPr sz="1500" b="0" dirty="0">
                <a:solidFill>
                  <a:srgbClr val="6E7F88"/>
                </a:solidFill>
                <a:latin typeface="Calibri"/>
              </a:rPr>
              <a:t> (ГИС </a:t>
            </a:r>
            <a:r>
              <a:rPr sz="1500" b="0" dirty="0" err="1">
                <a:solidFill>
                  <a:srgbClr val="6E7F88"/>
                </a:solidFill>
                <a:latin typeface="Calibri"/>
              </a:rPr>
              <a:t>Интегро</a:t>
            </a:r>
            <a:r>
              <a:rPr sz="1500" b="0" dirty="0">
                <a:solidFill>
                  <a:srgbClr val="6E7F88"/>
                </a:solidFill>
                <a:latin typeface="Calibri"/>
              </a:rPr>
              <a:t>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dirty="0" err="1">
                <a:solidFill>
                  <a:srgbClr val="6E7F88"/>
                </a:solidFill>
                <a:latin typeface="Calibri"/>
              </a:rPr>
              <a:t>Лист</a:t>
            </a:r>
            <a:r>
              <a:rPr sz="1500" b="0" dirty="0">
                <a:solidFill>
                  <a:srgbClr val="6E7F88"/>
                </a:solidFill>
                <a:latin typeface="Calibri"/>
              </a:rPr>
              <a:t> R-48-XI,XII (</a:t>
            </a:r>
            <a:r>
              <a:rPr sz="1500" b="0" dirty="0" err="1">
                <a:solidFill>
                  <a:srgbClr val="6E7F88"/>
                </a:solidFill>
                <a:latin typeface="Calibri"/>
              </a:rPr>
              <a:t>Анабарский</a:t>
            </a:r>
            <a:r>
              <a:rPr sz="1500" b="0" dirty="0">
                <a:solidFill>
                  <a:srgbClr val="6E7F88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6E7F88"/>
                </a:solidFill>
                <a:latin typeface="Calibri"/>
              </a:rPr>
              <a:t>щит</a:t>
            </a:r>
            <a:r>
              <a:rPr sz="1500" b="0" dirty="0">
                <a:solidFill>
                  <a:srgbClr val="6E7F88"/>
                </a:solidFill>
                <a:latin typeface="Calibri"/>
              </a:rPr>
              <a:t>)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Почему зимний снимок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При низком солнце любой уступ бросает на ровный снег длинную узкую тень</a:t>
            </a:r>
          </a:p>
        </p:txBody>
      </p:sp>
      <p:pic>
        <p:nvPicPr>
          <p:cNvPr id="4" name="Picture 3" descr="_crop_map_optic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32526"/>
            <a:ext cx="4572000" cy="38159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40680" y="1783080"/>
            <a:ext cx="621792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— 12 зимних сцен Sentinel-2, шаг 20 м, солнце 7.7–9.6° над горизонтом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— Снег убирает пестроту растительности: остаётся рельеф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— Солнце на всех сценах с юга — тени складываются, а не гасят друг друга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— Цена: уступ, вытянутый вдоль лучей (±15° от меридиана), тени не даёт. Это слепая полоса метода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Слева — фрагмент снимка с найденными линиями (красным)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К чему пришли: карта линеаментов листа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Красным — линии, найденные по зимнему снимку</a:t>
            </a:r>
          </a:p>
        </p:txBody>
      </p:sp>
      <p:pic>
        <p:nvPicPr>
          <p:cNvPr id="4" name="Picture 3" descr="map_optic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13" y="1600200"/>
            <a:ext cx="5668092" cy="5074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92240" y="1691640"/>
            <a:ext cx="2459736" cy="17830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245973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4000" b="1">
                <a:solidFill>
                  <a:srgbClr val="C15B33"/>
                </a:solidFill>
                <a:latin typeface="Cambria"/>
              </a:rPr>
              <a:t>1861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606040"/>
            <a:ext cx="218541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линия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26296" y="1691640"/>
            <a:ext cx="2459736" cy="17830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26296" y="1828800"/>
            <a:ext cx="245973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4000" b="1">
                <a:solidFill>
                  <a:srgbClr val="C15B33"/>
                </a:solidFill>
                <a:latin typeface="Cambria"/>
              </a:rPr>
              <a:t>2381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63456" y="2606040"/>
            <a:ext cx="218541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км линий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749039"/>
            <a:ext cx="5193792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Каждая линия найдена на двух независимых съёмках одного и того же места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Случайных линий в наборе — около 1 из 100: на искусственном снимке без линеаментов тот же метод оставляет 21 линию против 1861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На входе только космоснимки: геологические карты и геофизика не используются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Процесс по этапам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Шесть этапов от набора сцен до карты линий; обучаемых моделей нет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3544824" cy="1920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965960"/>
            <a:ext cx="30327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100" b="1">
                <a:solidFill>
                  <a:srgbClr val="1B2A32"/>
                </a:solidFill>
                <a:latin typeface="Cambria"/>
              </a:rPr>
              <a:t>1. Снимок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1B2A32"/>
                </a:solidFill>
                <a:latin typeface="Calibri"/>
              </a:rPr>
              <a:t>12 зимних сцен сводятся в один снимок и в две независимые половины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064" y="1737360"/>
            <a:ext cx="3544824" cy="1920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8096" y="1965960"/>
            <a:ext cx="30327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100" b="1">
                <a:solidFill>
                  <a:srgbClr val="1B2A32"/>
                </a:solidFill>
                <a:latin typeface="Cambria"/>
              </a:rPr>
              <a:t>2. Поиск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1B2A32"/>
                </a:solidFill>
                <a:latin typeface="Calibri"/>
              </a:rPr>
              <a:t>Детектор находит узкие тени и превращает их в обрывки линий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1208" y="1737360"/>
            <a:ext cx="3544824" cy="1920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97240" y="1965960"/>
            <a:ext cx="30327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100" b="1">
                <a:solidFill>
                  <a:srgbClr val="1B2A32"/>
                </a:solidFill>
                <a:latin typeface="Cambria"/>
              </a:rPr>
              <a:t>3. Продление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1B2A32"/>
                </a:solidFill>
                <a:latin typeface="Calibri"/>
              </a:rPr>
              <a:t>Концы обрывков тянутся дальше, пока под ними есть отклик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86200"/>
            <a:ext cx="3544824" cy="1920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4114800"/>
            <a:ext cx="30327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100" b="1">
                <a:solidFill>
                  <a:srgbClr val="1B2A32"/>
                </a:solidFill>
                <a:latin typeface="Cambria"/>
              </a:rPr>
              <a:t>4. Сшивка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1B2A32"/>
                </a:solidFill>
                <a:latin typeface="Calibri"/>
              </a:rPr>
              <a:t>Обрывки одной линии соединяются, соседние линии — нет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064" y="3886200"/>
            <a:ext cx="3544824" cy="1920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8096" y="4114800"/>
            <a:ext cx="30327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100" b="1">
                <a:solidFill>
                  <a:srgbClr val="1B2A32"/>
                </a:solidFill>
                <a:latin typeface="Cambria"/>
              </a:rPr>
              <a:t>5. Отсев швов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1B2A32"/>
                </a:solidFill>
                <a:latin typeface="Calibri"/>
              </a:rPr>
              <a:t>Убираются линии вдоль границ сцен и дорисованные мостики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1208" y="3886200"/>
            <a:ext cx="3544824" cy="1920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7240" y="4114800"/>
            <a:ext cx="30327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100" b="1">
                <a:solidFill>
                  <a:srgbClr val="1B2A32"/>
                </a:solidFill>
                <a:latin typeface="Cambria"/>
              </a:rPr>
              <a:t>6. Подтверждение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1B2A32"/>
                </a:solidFill>
                <a:latin typeface="Calibri"/>
              </a:rPr>
              <a:t>Остаются линии, найденные в обеих половинах съёмки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На выходе первого этапа — снимок, второго — около 10 тысяч обрывков, шестого — 1861 линия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1. Снимок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Двенадцать зимних сцен сводятся в один снимок и в две независимые половины</a:t>
            </a:r>
          </a:p>
        </p:txBody>
      </p:sp>
      <p:pic>
        <p:nvPicPr>
          <p:cNvPr id="4" name="Picture 3" descr="_crop_stag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150" y="1691640"/>
            <a:ext cx="2721459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389120"/>
            <a:ext cx="3931920" cy="15544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4498848"/>
            <a:ext cx="352958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800" b="1">
                <a:solidFill>
                  <a:srgbClr val="C15B33"/>
                </a:solidFill>
                <a:latin typeface="Cambria"/>
              </a:rPr>
              <a:t>Зачем этот этап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Зимой солнце низко, и даже невысокий уступ бросает длинную тень — её и будем искать. Сцены сводятся вместе, чтобы убрать случайные помехи.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691640"/>
            <a:ext cx="6976872" cy="425196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1810512"/>
            <a:ext cx="651967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C15B33"/>
                </a:solidFill>
                <a:latin typeface="Cambria"/>
              </a:rPr>
              <a:t>Как работает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1. Отбор сцен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Берутся зимние сцены Sentinel-2 со снегом, снятые при солнце 7.7–9.6° над горизонтом: по три на каждую из четырёх плиток, покрывающих лист.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2. Сведение в один снимок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Сцены приводятся к общей шкале яркости, и в каждой ячейке 20 × 20 м берётся средняя по сценам (медиана): облако или помеха на одной сцене в результат не попадает.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3. Вычитание плавного фона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Убирается всё, что меняется медленнее 2 км, — общий наклон освещения, крупные светлые и тёмные области. Остаются мелкие детали: тени уступов.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4. Две половины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Сцены каждой плитки раздаются через одну в две группы; из каждой так же собирается свой снимок листа — для шестого этапа.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На выходе: снимок листа 77 × 86 км с шагом 20 м и две его половины, 8 и 4 сцены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1. Снимок — формулы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Робастная нормировка сцен, медиана по сценам, вычитание плавного фона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6309360" cy="86639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749917"/>
            <a:ext cx="5907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Нормировка сцены k</a:t>
            </a:r>
          </a:p>
        </p:txBody>
      </p:sp>
      <p:pic>
        <p:nvPicPr>
          <p:cNvPr id="6" name="Picture 5" descr="n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24749"/>
            <a:ext cx="1886244" cy="50507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2704334"/>
            <a:ext cx="6309360" cy="637166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762611"/>
            <a:ext cx="5907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Сведение сцен</a:t>
            </a:r>
          </a:p>
        </p:txBody>
      </p:sp>
      <p:pic>
        <p:nvPicPr>
          <p:cNvPr id="9" name="Picture 8" descr="co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37444"/>
            <a:ext cx="2606941" cy="27584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3487804"/>
            <a:ext cx="6309360" cy="870275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3546082"/>
            <a:ext cx="5907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Вычитание фона с учётом маски</a:t>
            </a:r>
          </a:p>
        </p:txBody>
      </p:sp>
      <p:pic>
        <p:nvPicPr>
          <p:cNvPr id="12" name="Picture 11" descr="det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20914"/>
            <a:ext cx="3687016" cy="508955"/>
          </a:xfrm>
          <a:prstGeom prst="rect">
            <a:avLst/>
          </a:prstGeom>
        </p:spPr>
      </p:pic>
      <p:pic>
        <p:nvPicPr>
          <p:cNvPr id="13" name="Picture 12" descr="geo_1_snim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660" y="4504384"/>
            <a:ext cx="4023879" cy="14392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32320" y="1737360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C15B33"/>
                </a:solidFill>
                <a:latin typeface="Calibri"/>
              </a:rPr>
              <a:t>Обозначения и числа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066543"/>
            <a:ext cx="4553712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med, IQR — медиана и межквартильный размах по годным ячейкам сцены; IQR / 1.349 — робастная оценка σ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n(x) — число сцен с данными в ячейке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M — маска годных ячеек; G — гауссиан, σ_d = 50 Δ = 1 км (масштаб 2 км)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Деление на G∗M — нормированная свёртка: края и пропуски не искажают фон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Половины: сцены плитки через одну; S_A — 8 сцен, S_B —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На выходе: S, S_A, S_B на сетке 20 м; окно 5 × 5 км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2. Поиск: на что откликается детектор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Для каждой ячейки считается, насколько место похоже на узкую вытянутую тень</a:t>
            </a:r>
          </a:p>
        </p:txBody>
      </p:sp>
      <p:pic>
        <p:nvPicPr>
          <p:cNvPr id="4" name="Picture 3" descr="_crop_stag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150" y="1691640"/>
            <a:ext cx="2721459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389120"/>
            <a:ext cx="3931920" cy="15544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4498848"/>
            <a:ext cx="352958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800" b="1">
                <a:solidFill>
                  <a:srgbClr val="C15B33"/>
                </a:solidFill>
                <a:latin typeface="Cambria"/>
              </a:rPr>
              <a:t>Зачем этот этап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Нужно отличить тень уступа от всего остального на снимке — пятен, склонов, отдельных точек. Тень узкая и вытянутая: по этому её и узнаём.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691640"/>
            <a:ext cx="6976872" cy="425196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1810512"/>
            <a:ext cx="651967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C15B33"/>
                </a:solidFill>
                <a:latin typeface="Cambria"/>
              </a:rPr>
              <a:t>Как работает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1. Два масштаба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Снимок просматривается через окна 20 и 40 м: одно ловит тонкие тени, другое — чуть более широкие. Берётся больший из двух откликов.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2. Изгиб яркости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В каждой ячейке меряется, как яркость изгибается в разных направлениях. У тени изгиб резкий поперёк и почти нулевой вдоль.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3. Отклик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Отклик — разница между самым сильным и самым слабым изгибом. У пятна или точки изгиб одинаков во все стороны, и отклик гаснет; у полосы он большой.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4. Сравнение с окрестностью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Отклик делится на свой обычный уровень в окне 2 км. Так слабая, но чёткая тень на ровном месте не теряется рядом с контрастным скальным участком.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На выходе: карта отклика: чем светлее, тем больше место похоже на тень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2. Поиск: от отклика к обрывкам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Размытая карта отклика превращается в тонкие линии с длиной и направлением</a:t>
            </a:r>
          </a:p>
        </p:txBody>
      </p:sp>
      <p:pic>
        <p:nvPicPr>
          <p:cNvPr id="4" name="Picture 3" descr="_crop_stag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720" y="1691640"/>
            <a:ext cx="2706318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389120"/>
            <a:ext cx="3931920" cy="15544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4498848"/>
            <a:ext cx="352958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800" b="1">
                <a:solidFill>
                  <a:srgbClr val="C15B33"/>
                </a:solidFill>
                <a:latin typeface="Cambria"/>
              </a:rPr>
              <a:t>Зачем этот этап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Карта отклика — ещё не линии, а размытые полосы. Чтобы работать дальше, нужны отдельные линии с длиной и направлением.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691640"/>
            <a:ext cx="6976872" cy="425196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1810512"/>
            <a:ext cx="651967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C15B33"/>
                </a:solidFill>
                <a:latin typeface="Cambria"/>
              </a:rPr>
              <a:t>Как работает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1. Утончение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Вокруг тени отклик — полоса в несколько ячеек. Остаются только ячейки, где он больше, чем у двух соседей поперёк полосы: получается гребень в одну ячейку.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2. Два порога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Линия начинается с ячейки из 3 % самых сильных и продолжается по ячейкам из 10 % самых сильных: слабое место посреди линии её не рвёт.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3. Чистка формы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Короткие боковые отростки срезаются. Соседние куски соединяются, если в промежутке между ними отклик нигде не падает ниже порога продолжения.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4. Описание обрывка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У каждого обрывка измеряются длина и направление. Кусочки короче 200 м линией не считаются.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На выходе: около 10 тысяч обрывков любой длины, у каждого — длина и направление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2. Поиск — отклик детектора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Собственные числа гессиана на двух масштабах; разность их модулей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6309360" cy="956054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783080"/>
            <a:ext cx="5907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Гессиан: свёртка со вторыми производными гауссиана</a:t>
            </a:r>
          </a:p>
        </p:txBody>
      </p:sp>
      <p:pic>
        <p:nvPicPr>
          <p:cNvPr id="6" name="Picture 5" descr="h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5852160" cy="38912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2793998"/>
            <a:ext cx="6309360" cy="1408176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885438"/>
            <a:ext cx="5907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Собственные числа</a:t>
            </a:r>
          </a:p>
        </p:txBody>
      </p:sp>
      <p:pic>
        <p:nvPicPr>
          <p:cNvPr id="9" name="Picture 8" descr="e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59758"/>
            <a:ext cx="5181600" cy="84124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348478"/>
            <a:ext cx="6309360" cy="1066799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4439918"/>
            <a:ext cx="5907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Отклик</a:t>
            </a:r>
          </a:p>
        </p:txBody>
      </p:sp>
      <p:pic>
        <p:nvPicPr>
          <p:cNvPr id="12" name="Picture 11" descr="res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714238"/>
            <a:ext cx="4029455" cy="4998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0" y="1737360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C15B33"/>
                </a:solidFill>
                <a:latin typeface="Calibri"/>
              </a:rPr>
              <a:t>Обозначения и числа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066543"/>
            <a:ext cx="4553712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Перед этим S приводится к шкале med = 0, IQR / 1.349 = 1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σ в ячейках: 20 и 40 м — под ширину тени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σ² — нормировка по масштабу: отклики на разных σ сравнимы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Разность модулей гасит изотропные пятна (|λ₁| ≈ |λ₂|) и оставляет полосы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Модули: тёмная и светлая полосы равноправны; направление не задаётся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2. Поиск — нормировка и пороги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Отклик в сигмах своей окрестности; два порога с 8-связностью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6309360" cy="11608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769726"/>
            <a:ext cx="5907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Локальная нормировка логарифма отклика</a:t>
            </a:r>
          </a:p>
        </p:txBody>
      </p:sp>
      <p:pic>
        <p:nvPicPr>
          <p:cNvPr id="6" name="Picture 5" descr="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03984"/>
            <a:ext cx="4758048" cy="6767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2998824"/>
            <a:ext cx="6309360" cy="817301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3076910"/>
            <a:ext cx="5907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Пороги гистерезиса — квантили z по всему листу</a:t>
            </a:r>
          </a:p>
        </p:txBody>
      </p:sp>
      <p:pic>
        <p:nvPicPr>
          <p:cNvPr id="9" name="Picture 8" descr="hy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11169"/>
            <a:ext cx="3427981" cy="333167"/>
          </a:xfrm>
          <a:prstGeom prst="rect">
            <a:avLst/>
          </a:prstGeom>
        </p:spPr>
      </p:pic>
      <p:pic>
        <p:nvPicPr>
          <p:cNvPr id="10" name="Picture 9" descr="geo_2_z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040" y="3962430"/>
            <a:ext cx="5539119" cy="19811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0" y="1737360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C15B33"/>
                </a:solidFill>
                <a:latin typeface="Calibri"/>
              </a:rPr>
              <a:t>Обозначения и числа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66543"/>
            <a:ext cx="4553712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ε = Q₀.₀₁(R) — защита логарифма от нуля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m_W, s_W — среднее и СКО ln(R + ε) в окне 100 × 100 ячеек, только по маске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Логарифм: у R тяжёлый хвост, без него m и s задавала бы пара сильнейших линий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Гребень остаётся, если его 8-связная компонента на уровне T_lo содержит ячейку выше T_hi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Пороги относительные: по силе z снимок от шума не отличается — доказывают проверки, а не пороги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Отклик z; фиолетовый — z ≥ T_lo, жёлтый — z ≥ T_hi; синие — обрывки; окно 5 × 5 км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2. Поиск — утончение и длина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Подавление немаксимумов поперёк гребня; длина — по главной оси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6309360" cy="882099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783080"/>
            <a:ext cx="5907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Гребень: локальный максимум поперёк линии</a:t>
            </a:r>
          </a:p>
        </p:txBody>
      </p:sp>
      <p:pic>
        <p:nvPicPr>
          <p:cNvPr id="6" name="Picture 5" descr="n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5852160" cy="31517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2720043"/>
            <a:ext cx="6309360" cy="1075944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811483"/>
            <a:ext cx="5907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Длина обрывка — размах проекций на главную ось</a:t>
            </a:r>
          </a:p>
        </p:txBody>
      </p:sp>
      <p:pic>
        <p:nvPicPr>
          <p:cNvPr id="9" name="Picture 8" descr="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85803"/>
            <a:ext cx="5410200" cy="509016"/>
          </a:xfrm>
          <a:prstGeom prst="rect">
            <a:avLst/>
          </a:prstGeom>
        </p:spPr>
      </p:pic>
      <p:pic>
        <p:nvPicPr>
          <p:cNvPr id="10" name="Picture 9" descr="_crop_stage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9884" y="3942291"/>
            <a:ext cx="2115430" cy="20013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0" y="1737360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C15B33"/>
                </a:solidFill>
                <a:latin typeface="Calibri"/>
              </a:rPr>
              <a:t>Обозначения и числа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66543"/>
            <a:ext cx="4553712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ẑ — z, сглаженный гауссианом σ = 1; H — его гессиан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v — собственный вектор λ_min: направление поперёк гребня; ẑ в точках x ± v/|v| — билинейной интерполяцией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Скелет; отростки ≤ 60 м срезаются; в узлах куски соединяются при повороте ≤ 35°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Разрывы ≤ 80 м закрываются, если все ячейки между концами выше T_lo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a — первый сингулярный вектор облака ячеек; ℓ ≥ 200 м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До 23.09 компоненты v были переставлены: линии вдоль осей растра терялись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3. Продление концов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Конец обрывка тянется дальше, пока под ним есть отклик детектора</a:t>
            </a:r>
          </a:p>
        </p:txBody>
      </p:sp>
      <p:pic>
        <p:nvPicPr>
          <p:cNvPr id="4" name="Picture 3" descr="_crop_stag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720" y="1691640"/>
            <a:ext cx="2706318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389120"/>
            <a:ext cx="3931920" cy="15544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4498848"/>
            <a:ext cx="352958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800" b="1">
                <a:solidFill>
                  <a:srgbClr val="C15B33"/>
                </a:solidFill>
                <a:latin typeface="Cambria"/>
              </a:rPr>
              <a:t>Зачем этот этап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Линия часто обрывается раньше, чем кончается уступ: на слабом участке отклик проваливается. Продление возвращает потерянные концы.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691640"/>
            <a:ext cx="6976872" cy="425196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1810512"/>
            <a:ext cx="651967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C15B33"/>
                </a:solidFill>
                <a:latin typeface="Cambria"/>
              </a:rPr>
              <a:t>Как работает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1. Какие обрывки продлеваются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Только те, что длиннее 500 м: у короткого кусочка направление определено ненадёжно, и продление было бы выдумкой.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2. Шаг вперёд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От конца обрывка делается шаг 200 м тем же направлением, каким шёл обрывок.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3. Отклик на шаге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Вдоль шага берётся отклик детектора — на самой оси и по одной ячейке вбок, чтобы линия могла слегка отклониться, — и усредняется.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4. Решение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Если средний отклик выше порога, по которому детектор продолжает линию, конец переносится вперёд и шаг повторяется.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5. Остановка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На первом же слабом шаге или через 900 м от исходного конца.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На выходе: продлено 2082 конца, линии стали длиннее на 535 км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3. Продление — формулы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Ход вдоль оси обрывка, пока скользящее среднее отклика выше нижнего порога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6309360" cy="1069257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759466"/>
            <a:ext cx="5907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Скользящее среднее отклика вдоль хода</a:t>
            </a:r>
          </a:p>
        </p:txBody>
      </p:sp>
      <p:pic>
        <p:nvPicPr>
          <p:cNvPr id="6" name="Picture 5" descr="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62945"/>
            <a:ext cx="4340886" cy="64873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2907201"/>
            <a:ext cx="6309360" cy="74246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975027"/>
            <a:ext cx="5907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Длина продления, ячеек</a:t>
            </a:r>
          </a:p>
        </p:txBody>
      </p:sp>
      <p:pic>
        <p:nvPicPr>
          <p:cNvPr id="9" name="Picture 8" descr="extr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78507"/>
            <a:ext cx="4340886" cy="321936"/>
          </a:xfrm>
          <a:prstGeom prst="rect">
            <a:avLst/>
          </a:prstGeom>
        </p:spPr>
      </p:pic>
      <p:pic>
        <p:nvPicPr>
          <p:cNvPr id="10" name="Picture 9" descr="geo_3_ex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9782" y="3795965"/>
            <a:ext cx="4195635" cy="21476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0" y="1737360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C15B33"/>
                </a:solidFill>
                <a:latin typeface="Calibri"/>
              </a:rPr>
              <a:t>Обозначения и числа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66543"/>
            <a:ext cx="4553712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e — конец обрывка; d — единичный вектор оси наружу; d⊥ — перпендикуляр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max по k: линия может уйти на ячейку в сторону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w = 10 ячеек = 200 м; предел 45 ячеек = 900 м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T_lo — тот же порог, по которому детектор продолжает линию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Продлеваются только обрывки ℓ ≥ 500 м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Итог: 2082 конца, +535 км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Синие — обрывки детектора, зелёные — продление; окно 3 × 3 км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4. Сшивка: какие обрывки можно соединять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Пара обрывков соединяется, только если выполнены все пять условий</a:t>
            </a:r>
          </a:p>
        </p:txBody>
      </p:sp>
      <p:pic>
        <p:nvPicPr>
          <p:cNvPr id="4" name="Picture 3" descr="link_sch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3931920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389120"/>
            <a:ext cx="3931920" cy="15544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4498848"/>
            <a:ext cx="352958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800" b="1">
                <a:solidFill>
                  <a:srgbClr val="C15B33"/>
                </a:solidFill>
                <a:latin typeface="Cambria"/>
              </a:rPr>
              <a:t>Зачем этот этап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Один уступ детектор часто видит кусками. Но рядом лежат и чужие обрывки — условия нужны, чтобы не соединить соседние линии.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691640"/>
            <a:ext cx="6976872" cy="425196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1810512"/>
            <a:ext cx="651967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C15B33"/>
                </a:solidFill>
                <a:latin typeface="Cambria"/>
              </a:rPr>
              <a:t>Как работает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1. Одно направление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Направления двух обрывков расходятся не больше чем на 20°.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2. Небольшой разрыв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Между концами вдоль общего направления не больше 1.2 км.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3. Малый сдвиг вбок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Концы смещены поперёк направления не больше чем на 127 м. Это главное условие: оно отличает один разорванный объект от двух соседних линий.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4. Друг за другом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Обрывки идут один за другим, а не бок о бок: их проекции на общее направление не перекрываются.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5. Отклик в промежутке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Вдоль отрезка между концами средний отклик детектора должен быть выше, чем у 95 % таких же отрезков, перенесённых в случайные места снимка.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На выходе: список пар, которые разрешено соединить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4. Сшивка: как собирается линия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Разрешённые пары соединяются по очереди, и цепочка обрывков становится одной линией</a:t>
            </a:r>
          </a:p>
        </p:txBody>
      </p:sp>
      <p:pic>
        <p:nvPicPr>
          <p:cNvPr id="4" name="Picture 3" descr="_crop_pai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393" y="1691640"/>
            <a:ext cx="2668973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389120"/>
            <a:ext cx="3931920" cy="15544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4498848"/>
            <a:ext cx="352958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800" b="1">
                <a:solidFill>
                  <a:srgbClr val="C15B33"/>
                </a:solidFill>
                <a:latin typeface="Cambria"/>
              </a:rPr>
              <a:t>Зачем этот этап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Без правил сборки линия могла бы ветвиться или собраться зигзагом из случайных кусков. Порядок даёт простую цепочку.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691640"/>
            <a:ext cx="6976872" cy="425196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1810512"/>
            <a:ext cx="651967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C15B33"/>
                </a:solidFill>
                <a:latin typeface="Cambria"/>
              </a:rPr>
              <a:t>Как работает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1. От ближних к дальним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Сначала соединяются пары с самым коротким разрывом, потом — всё более далёкие.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2. Один конец — один стык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Каждый конец обрывка участвует только в одном соединении: линия не может разветвиться.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3. Сдвиг в одну сторону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Внутри одной цепочки боковые сдвиги идут в одну сторону — «лесенкой». Зигзаг, при котором линия прыгает то вправо, то влево, запрещён.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4. Цепочка — одна линия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Длина линии считается от первого конца цепочки до последнего. Дальше идут только линии от 500 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На выходе: 1320 стыков; линий от 500 м — 3171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4. Сшивка — геометрия пары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Разрыв вдоль и сдвиг поперёк общего направления двух обрывков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6309360" cy="1246632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783080"/>
            <a:ext cx="5907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Общее направление — среднее по удвоенным углам</a:t>
            </a:r>
          </a:p>
        </p:txBody>
      </p:sp>
      <p:pic>
        <p:nvPicPr>
          <p:cNvPr id="6" name="Picture 5" descr="d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5711952" cy="6797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3084575"/>
            <a:ext cx="6309360" cy="966216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3176016"/>
            <a:ext cx="5907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Разрыв вдоль и сдвиг поперёк</a:t>
            </a:r>
          </a:p>
        </p:txBody>
      </p:sp>
      <p:pic>
        <p:nvPicPr>
          <p:cNvPr id="9" name="Picture 8" descr="g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50335"/>
            <a:ext cx="4005072" cy="39928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197096"/>
            <a:ext cx="6309360" cy="882934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4288536"/>
            <a:ext cx="5907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Геометрические условия пары</a:t>
            </a:r>
          </a:p>
        </p:txBody>
      </p:sp>
      <p:pic>
        <p:nvPicPr>
          <p:cNvPr id="12" name="Picture 11" descr="co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562856"/>
            <a:ext cx="5852160" cy="31600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0" y="1737360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C15B33"/>
                </a:solidFill>
                <a:latin typeface="Calibri"/>
              </a:rPr>
              <a:t>Обозначения и числа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066543"/>
            <a:ext cx="4553712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θ — азимут оси, 0–180°; удвоение углов снимает разрыв 0° / 180°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u вдоль θ̄, n поперёк; v — вектор между концами; o₁₂ — перекрытие проекций на u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1192 м и 20° — из геометрии пар на листе; 127 м — следующий слайд</a:t>
            </a:r>
          </a:p>
        </p:txBody>
      </p:sp>
      <p:pic>
        <p:nvPicPr>
          <p:cNvPr id="15" name="Picture 14" descr="link_sche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3854" y="3657600"/>
            <a:ext cx="3510642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4. Сшивка — опора и предел сдвига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Порог отклика — из сдвигового нуля; предел сдвига — из пар с известным ответом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6309360" cy="1101338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766054"/>
            <a:ext cx="5907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Опора мостика: средний z вдоль отрезка против нуля</a:t>
            </a:r>
          </a:p>
        </p:txBody>
      </p:sp>
      <p:pic>
        <p:nvPicPr>
          <p:cNvPr id="6" name="Picture 5" descr="b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89299"/>
            <a:ext cx="4058086" cy="63996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2939282"/>
            <a:ext cx="6309360" cy="791277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3013697"/>
            <a:ext cx="5907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Предел бокового сдвига — максимум разности долей</a:t>
            </a:r>
          </a:p>
        </p:txBody>
      </p:sp>
      <p:pic>
        <p:nvPicPr>
          <p:cNvPr id="9" name="Picture 8" descr="youd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36942"/>
            <a:ext cx="4325980" cy="329905"/>
          </a:xfrm>
          <a:prstGeom prst="rect">
            <a:avLst/>
          </a:prstGeom>
        </p:spPr>
      </p:pic>
      <p:pic>
        <p:nvPicPr>
          <p:cNvPr id="10" name="Picture 9" descr="geo_4_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9356" y="3876864"/>
            <a:ext cx="3856486" cy="20667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0" y="1737360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C15B33"/>
                </a:solidFill>
                <a:latin typeface="Calibri"/>
              </a:rPr>
              <a:t>Обозначения и числа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66543"/>
            <a:ext cx="4553712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P — ячейки отрезка между концами без двух у каждого конца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s_m — пять случайных торических сдвигов тех же отрезков по тому же снимку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Пары с ответом: обрывки одной половины съёмки, ответ — по другой; 973 разрыва одной линии и 1009 пар соседних линий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Медиана g⊥: 55 м у разрывов, 199 м у соседей; плато максимума 112–137 м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При 127 м: TPR 73 %, FPR 18 %; при прежних 600 м: 84 % и 59 %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Пары соединяются от ближних к дальним; конец — один раз; сдвиги в цепочке одного знака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Синие — обрывки; мостики: зелёные — прямые, оранжевые — со сдвигом ≥ 60 м. Итог: 1320 стыков, 3171 линия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5. Отсев швов и мостиков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Убирается то, что создали съёмка и сам метод, а не рельеф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3931920" cy="251460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4747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C15B33"/>
                </a:solidFill>
                <a:latin typeface="Cambria"/>
              </a:rPr>
              <a:t>Зачем этот этап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Граница двух сцен выглядит как идеально прямая линия, но это след съёмки, а не рельеф. А мостик между сдвинутыми кусками — догадка, а не находка: на карте должно остаться только то, что действительно найдено.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89120"/>
            <a:ext cx="3931920" cy="15544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526280"/>
            <a:ext cx="347472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C15B33"/>
                </a:solidFill>
                <a:latin typeface="Cambria"/>
              </a:rPr>
              <a:t>Что на выходе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Убрано 11 линий вдоль швов и 274 км мостиков; на карте остаётся только найденное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691640"/>
            <a:ext cx="6976872" cy="425196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0" y="1810512"/>
            <a:ext cx="651967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C15B33"/>
                </a:solidFill>
                <a:latin typeface="Cambria"/>
              </a:rPr>
              <a:t>Как работает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1. Карта швов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Отмечаются места, где меняется число сцен, покрывающих ячейку, — границы сцен — и край данных. Там яркость снимка меняется ступенькой, и детектор принимает ступеньку за линию.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2. Сколько линии идёт вдоль шва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Для каждой линии считается, какая часть её длины лежит ближе 100 м ко шву.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3. Решение по шву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Если больше половины — линия убирается. Линия, которая шов просто пересекает, остаётся.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4. Мостики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Когда сшивка соединяет обрывки, сдвинутые вбок на 60 м и больше, отрезок между ними — не найденный объект, а догадка. Такие отрезки с карты снимаются; цепочка при этом остаётся одной линией.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5. Отсев швов — формула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Убирается то, что создали съёмка и сам метод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6309360" cy="1324742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783080"/>
            <a:ext cx="5907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Линия убирается, если идёт вдоль шва</a:t>
            </a:r>
          </a:p>
        </p:txBody>
      </p:sp>
      <p:pic>
        <p:nvPicPr>
          <p:cNvPr id="6" name="Picture 5" descr="s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5852160" cy="757814"/>
          </a:xfrm>
          <a:prstGeom prst="rect">
            <a:avLst/>
          </a:prstGeom>
        </p:spPr>
      </p:pic>
      <p:pic>
        <p:nvPicPr>
          <p:cNvPr id="7" name="Picture 6" descr="geo_5_s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036" y="3162686"/>
            <a:ext cx="5189127" cy="27809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0" y="1737360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C15B33"/>
                </a:solidFill>
                <a:latin typeface="Calibri"/>
              </a:rPr>
              <a:t>Обозначения и числа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066543"/>
            <a:ext cx="4553712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Шов — ячейки, у соседа которых другое число сцен n(x), и край данных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d_s — расстояние до шва; θ_s — направление шва у середины линии (SVD ячеек шва)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Линия, пересекающая шов, остаётся: условие по направлению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Мостик сшивки при g⊥ ≥ 60 м снимается с карты и из подтверждения; цепочка остаётся одной линией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Итог: убрано 11 линий и 274 км мостиков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Жёлтый — шов съёмки, красная — убранная линия, синие — оставшиеся; окно 5 × 5 км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6. Подтверждение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Линия остаётся, только если её видят обе независимые половины съёмки</a:t>
            </a:r>
          </a:p>
        </p:txBody>
      </p:sp>
      <p:pic>
        <p:nvPicPr>
          <p:cNvPr id="4" name="Picture 3" descr="_crop_stag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720" y="1691640"/>
            <a:ext cx="2706318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389120"/>
            <a:ext cx="3931920" cy="15544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4498848"/>
            <a:ext cx="352958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800" b="1">
                <a:solidFill>
                  <a:srgbClr val="C15B33"/>
                </a:solidFill>
                <a:latin typeface="Cambria"/>
              </a:rPr>
              <a:t>Зачем этот этап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После пяти этапов среди линий ещё много случайных. Случайный рисунок в двух съёмках разный, а уступ один — на этом их и разделяем.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691640"/>
            <a:ext cx="6976872" cy="425196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1810512"/>
            <a:ext cx="651967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C15B33"/>
                </a:solidFill>
                <a:latin typeface="Cambria"/>
              </a:rPr>
              <a:t>Как работает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1. Половины проходят детектор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Каждая из двух половин съёмки отдельно проходит тот же поиск. Получаются два независимых набора линий.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2. Сверка с каждой половиной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Для каждой линии основного снимка считается, какая часть её длины лежит не дальше 60 м от линий первой половины, и отдельно — от линий второй.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3. Решение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Линия подтверждена, если в обеих половинах эта часть не меньше 30 %: в половине из меньшего числа сцен линия бывает видна кусками.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B2A32"/>
                </a:solidFill>
                <a:latin typeface="Calibri"/>
              </a:rPr>
              <a:t>4. Что с остальными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Остальные линии не выбрасываются, а помечаются как найденные, но не подтверждённые.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На выходе: из 3171 линии подтверждена 1861 — она и составляет карту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6. Подтверждение — формула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Линия остаётся, если значительная часть её длины лежит рядом с линиями обеих половин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6309360" cy="1277276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783080"/>
            <a:ext cx="5907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Доля длины линии в допуске от линий половины h</a:t>
            </a:r>
          </a:p>
        </p:txBody>
      </p:sp>
      <p:pic>
        <p:nvPicPr>
          <p:cNvPr id="6" name="Picture 5" descr="con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5852160" cy="710348"/>
          </a:xfrm>
          <a:prstGeom prst="rect">
            <a:avLst/>
          </a:prstGeom>
        </p:spPr>
      </p:pic>
      <p:pic>
        <p:nvPicPr>
          <p:cNvPr id="7" name="Picture 6" descr="geo_6_con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01079"/>
            <a:ext cx="6309360" cy="22566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0" y="1737360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C15B33"/>
                </a:solidFill>
                <a:latin typeface="Calibri"/>
              </a:rPr>
              <a:t>Обозначения и числа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066543"/>
            <a:ext cx="4553712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d_h — карта расстояний до линий половины h ∈ {A, B}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Половины проходят только детектор (ℓ ≥ 500 м), без продления и сшивки: богатый эталон удешевляет подтверждение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60 м = 3 Δ; 0.3 — во второй половине линия часто видна кусками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Снимок: 1861 из 3171 (58.7 %); суррогат: 21 из 729 (2.8 %)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Итог: красные — подтверждены обеими половинами, оранжевые — нет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Что получено, чем подтверждено и чего метод пока не умеет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3544824" cy="320040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2996184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Что получено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Карта линеаментов листа 77 × 86 км: 1861 линия, 2381 км, по зимнему снимку. Построена автоматически, только по космоснимкам.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064" y="1828800"/>
            <a:ext cx="3544824" cy="320040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6384" y="2103120"/>
            <a:ext cx="2996184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Чем подтверждено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Каждая линия найдена на двух независимых съёмках. Набор прошёл заранее объявленные проверки и просмотр геолога по окнам.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1208" y="1828800"/>
            <a:ext cx="3544824" cy="320040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5528" y="2103120"/>
            <a:ext cx="2996184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Чего метод не умеет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Не достаёт слабые мягкие границы и линии вдоль солнечных лучей. Точность и полнота в процентах пока не измерены.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Линии у воды — не артефакт: около 40 % линий идут вдоль русел, и русла там заметно прямее обычного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12563</Words>
  <Application>Microsoft Office PowerPoint</Application>
  <PresentationFormat>Широкоэкранный</PresentationFormat>
  <Paragraphs>700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Artur</cp:lastModifiedBy>
  <cp:revision>3</cp:revision>
  <dcterms:created xsi:type="dcterms:W3CDTF">2013-01-27T09:14:16Z</dcterms:created>
  <dcterms:modified xsi:type="dcterms:W3CDTF">2026-10-14T10:07:12Z</dcterms:modified>
  <cp:category/>
</cp:coreProperties>
</file>